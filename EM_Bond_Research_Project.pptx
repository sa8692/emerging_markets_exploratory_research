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embeddedFontLst>
    <p:embeddedFont>
      <p:font typeface="Georgia" panose="02040502050405020303" pitchFamily="18" charset="0"/>
      <p:regular r:id="rId33"/>
      <p:bold r:id="rId34"/>
      <p:italic r:id="rId35"/>
      <p:boldItalic r:id="rId36"/>
    </p:embeddedFont>
    <p:embeddedFont>
      <p:font typeface="Josefin Sans"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dq3HjwfvUJWOgPmPqTlNB/9fmH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ami Ali"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3B9169-A877-4DBC-8345-1FAB3B18362B}">
  <a:tblStyle styleId="{3E3B9169-A877-4DBC-8345-1FAB3B18362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 name="Google Shape;1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0" name="Google Shape;2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39789fe7b62_1_1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 name="Google Shape;41;g39789fe7b62_1_1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42" name="Google Shape;42;g39789fe7b62_1_18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9789fe7b62_1_13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g39789fe7b62_1_1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58" name="Google Shape;58;g39789fe7b62_1_13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9789fe7b62_1_23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g39789fe7b62_1_2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90" name="Google Shape;90;g39789fe7b62_1_2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9789fe7b62_1_38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g39789fe7b62_1_38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97" name="Google Shape;97;g39789fe7b62_1_38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100" dirty="0">
              <a:solidFill>
                <a:schemeClr val="dk1"/>
              </a:solidFill>
            </a:endParaRPr>
          </a:p>
        </p:txBody>
      </p:sp>
      <p:sp>
        <p:nvSpPr>
          <p:cNvPr id="108" name="Google Shape;108;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d86e330eee_36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g3d86e330eee_36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28" name="Google Shape;128;g3d86e330eee_36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9789fe7b62_1_25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 name="Google Shape;153;g39789fe7b62_1_25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54" name="Google Shape;154;g39789fe7b62_1_25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d86e330eee_137_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d86e330eee_137_0: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9789fe7b62_1_26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 name="Google Shape;177;g39789fe7b62_1_26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78" name="Google Shape;178;g39789fe7b62_1_26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d86e330eee_36_3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g3d86e330eee_36_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195" name="Google Shape;195;g3d86e330eee_36_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86e330eee_36_7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g3d86e330eee_36_7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26" name="Google Shape;226;g3d86e330eee_36_7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1" name="Google Shape;241;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42" name="Google Shape;242;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4" name="Google Shape;26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65" name="Google Shape;26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293" name="Google Shape;293;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d86e330eee_36_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g3d86e330eee_36_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324" name="Google Shape;324;g3d86e330eee_36_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0" name="Google Shape;330;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331" name="Google Shape;331;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d86e330eee_36_15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g3d86e330eee_36_150: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3" name="Google Shape;383;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384" name="Google Shape;384;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1" name="Google Shape;411;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412" name="Google Shape;412;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0" name="Google Shape;440;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441" name="Google Shape;441;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2" name="Google Shape;47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473" name="Google Shape;47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3" name="Google Shape;503;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504" name="Google Shape;504;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9" name="Google Shape;539;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540" name="Google Shape;540;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9" name="Google Shape;569;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570" name="Google Shape;570;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9" name="Google Shape;649;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dirty="0"/>
          </a:p>
        </p:txBody>
      </p:sp>
      <p:sp>
        <p:nvSpPr>
          <p:cNvPr id="650" name="Google Shape;650;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8" name="Google Shape;68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689" name="Google Shape;689;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5" name="Google Shape;71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716" name="Google Shape;716;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2" name="Google Shape;742;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Calibri"/>
              <a:ea typeface="Calibri"/>
              <a:cs typeface="Calibri"/>
              <a:sym typeface="Calibri"/>
            </a:endParaRPr>
          </a:p>
        </p:txBody>
      </p:sp>
      <p:sp>
        <p:nvSpPr>
          <p:cNvPr id="743" name="Google Shape;743;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
        <p:cNvGrpSpPr/>
        <p:nvPr/>
      </p:nvGrpSpPr>
      <p:grpSpPr>
        <a:xfrm>
          <a:off x="0" y="0"/>
          <a:ext cx="0" cy="0"/>
          <a:chOff x="0" y="0"/>
          <a:chExt cx="0" cy="0"/>
        </a:xfrm>
      </p:grpSpPr>
      <p:sp>
        <p:nvSpPr>
          <p:cNvPr id="12" name="Google Shape;12;p1"/>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0" y="4572000"/>
            <a:ext cx="9144000" cy="571500"/>
          </a:xfrm>
          <a:prstGeom prst="rect">
            <a:avLst/>
          </a:prstGeom>
          <a:solidFill>
            <a:srgbClr val="1A3F7A"/>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1"/>
          <p:cNvSpPr/>
          <p:nvPr/>
        </p:nvSpPr>
        <p:spPr>
          <a:xfrm>
            <a:off x="457200" y="1047750"/>
            <a:ext cx="8229600" cy="9525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Emerging Market Bond</a:t>
            </a:r>
            <a:endParaRPr sz="5200" b="1" i="0" u="none" strike="noStrike" cap="none">
              <a:solidFill>
                <a:srgbClr val="FFFFFF"/>
              </a:solidFill>
              <a:latin typeface="Georgia"/>
              <a:ea typeface="Georgia"/>
              <a:cs typeface="Georgia"/>
              <a:sym typeface="Georgia"/>
            </a:endParaRPr>
          </a:p>
        </p:txBody>
      </p:sp>
      <p:sp>
        <p:nvSpPr>
          <p:cNvPr id="15" name="Google Shape;15;p1"/>
          <p:cNvSpPr/>
          <p:nvPr/>
        </p:nvSpPr>
        <p:spPr>
          <a:xfrm>
            <a:off x="457200" y="2000250"/>
            <a:ext cx="8229600" cy="762000"/>
          </a:xfrm>
          <a:prstGeom prst="rect">
            <a:avLst/>
          </a:prstGeom>
          <a:solidFill>
            <a:srgbClr val="000000">
              <a:alpha val="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US" sz="4400" b="0" i="1" u="none" strike="noStrike" cap="none">
                <a:solidFill>
                  <a:srgbClr val="E8A020"/>
                </a:solidFill>
                <a:latin typeface="Georgia"/>
                <a:ea typeface="Georgia"/>
                <a:cs typeface="Georgia"/>
                <a:sym typeface="Georgia"/>
              </a:rPr>
              <a:t>VIX-Driven Trading Strategy</a:t>
            </a:r>
            <a:endParaRPr sz="4400" b="0" i="1" u="none" strike="noStrike" cap="none">
              <a:solidFill>
                <a:srgbClr val="E8A020"/>
              </a:solidFill>
              <a:latin typeface="Georgia"/>
              <a:ea typeface="Georgia"/>
              <a:cs typeface="Georgia"/>
              <a:sym typeface="Georgia"/>
            </a:endParaRPr>
          </a:p>
        </p:txBody>
      </p:sp>
      <p:sp>
        <p:nvSpPr>
          <p:cNvPr id="16" name="Google Shape;16;p1"/>
          <p:cNvSpPr/>
          <p:nvPr/>
        </p:nvSpPr>
        <p:spPr>
          <a:xfrm>
            <a:off x="312620" y="2665318"/>
            <a:ext cx="5715000" cy="952500"/>
          </a:xfrm>
          <a:prstGeom prst="rect">
            <a:avLst/>
          </a:prstGeom>
          <a:solidFill>
            <a:srgbClr val="000000">
              <a:alpha val="0"/>
            </a:srgbClr>
          </a:solidFill>
          <a:ln>
            <a:noFill/>
          </a:ln>
        </p:spPr>
        <p:txBody>
          <a:bodyPr spcFirstLastPara="1" wrap="square" lIns="190500" tIns="0" rIns="0" bIns="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BFD7ED"/>
                </a:solidFill>
                <a:latin typeface="Georgia"/>
                <a:ea typeface="Georgia"/>
                <a:cs typeface="Georgia"/>
                <a:sym typeface="Georgia"/>
              </a:rPr>
              <a:t>Can fear signals be a reliable predictor for EM bond price movements?</a:t>
            </a:r>
            <a:endParaRPr sz="2000" b="0" i="0" u="none" strike="noStrike" cap="none">
              <a:solidFill>
                <a:srgbClr val="BFD7ED"/>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
        <p:cNvGrpSpPr/>
        <p:nvPr/>
      </p:nvGrpSpPr>
      <p:grpSpPr>
        <a:xfrm>
          <a:off x="0" y="0"/>
          <a:ext cx="0" cy="0"/>
          <a:chOff x="0" y="0"/>
          <a:chExt cx="0" cy="0"/>
        </a:xfrm>
      </p:grpSpPr>
      <p:sp>
        <p:nvSpPr>
          <p:cNvPr id="22" name="Google Shape;22;p2"/>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OVERVIEW</a:t>
            </a:r>
            <a:endParaRPr sz="1050" b="0" i="0" u="none" strike="noStrike" cap="none">
              <a:solidFill>
                <a:schemeClr val="dk1"/>
              </a:solidFill>
              <a:latin typeface="Calibri"/>
              <a:ea typeface="Calibri"/>
              <a:cs typeface="Calibri"/>
              <a:sym typeface="Calibri"/>
            </a:endParaRPr>
          </a:p>
        </p:txBody>
      </p:sp>
      <p:sp>
        <p:nvSpPr>
          <p:cNvPr id="24" name="Google Shape;24;p2"/>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400"/>
              <a:buFont typeface="Georgia"/>
              <a:buNone/>
            </a:pPr>
            <a:r>
              <a:rPr lang="en-US" sz="3400" b="1" i="0" u="none" strike="noStrike" cap="none">
                <a:solidFill>
                  <a:srgbClr val="0C1A35"/>
                </a:solidFill>
                <a:latin typeface="Georgia"/>
                <a:ea typeface="Georgia"/>
                <a:cs typeface="Georgia"/>
                <a:sym typeface="Georgia"/>
              </a:rPr>
              <a:t>What Are Emerging Market Bonds </a:t>
            </a:r>
            <a:endParaRPr sz="3400" b="0" i="0" u="none" strike="noStrike" cap="none">
              <a:solidFill>
                <a:schemeClr val="dk1"/>
              </a:solidFill>
              <a:latin typeface="Calibri"/>
              <a:ea typeface="Calibri"/>
              <a:cs typeface="Calibri"/>
              <a:sym typeface="Calibri"/>
            </a:endParaRPr>
          </a:p>
        </p:txBody>
      </p:sp>
      <p:sp>
        <p:nvSpPr>
          <p:cNvPr id="25" name="Google Shape;25;p2"/>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
          <p:cNvSpPr/>
          <p:nvPr/>
        </p:nvSpPr>
        <p:spPr>
          <a:xfrm>
            <a:off x="457200" y="1371600"/>
            <a:ext cx="40521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
          <p:cNvSpPr/>
          <p:nvPr/>
        </p:nvSpPr>
        <p:spPr>
          <a:xfrm>
            <a:off x="457200" y="1371600"/>
            <a:ext cx="91500" cy="10515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
          <p:cNvSpPr/>
          <p:nvPr/>
        </p:nvSpPr>
        <p:spPr>
          <a:xfrm>
            <a:off x="631701" y="1433997"/>
            <a:ext cx="594300" cy="89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3F7A"/>
              </a:buClr>
              <a:buSzPts val="2400"/>
              <a:buFont typeface="Georgia"/>
              <a:buNone/>
            </a:pPr>
            <a:r>
              <a:rPr lang="en-US" sz="2400" b="1" i="0" u="none" strike="noStrike" cap="none">
                <a:solidFill>
                  <a:srgbClr val="1A3F7A"/>
                </a:solidFill>
                <a:latin typeface="Josefin Sans"/>
                <a:ea typeface="Josefin Sans"/>
                <a:cs typeface="Josefin Sans"/>
                <a:sym typeface="Josefin Sans"/>
              </a:rPr>
              <a:t>01</a:t>
            </a:r>
            <a:endParaRPr sz="2400" b="0" i="0" u="none" strike="noStrike" cap="none">
              <a:solidFill>
                <a:schemeClr val="dk1"/>
              </a:solidFill>
              <a:latin typeface="Josefin Sans"/>
              <a:ea typeface="Josefin Sans"/>
              <a:cs typeface="Josefin Sans"/>
              <a:sym typeface="Josefin Sans"/>
            </a:endParaRPr>
          </a:p>
        </p:txBody>
      </p:sp>
      <p:sp>
        <p:nvSpPr>
          <p:cNvPr id="29" name="Google Shape;29;p2"/>
          <p:cNvSpPr/>
          <p:nvPr/>
        </p:nvSpPr>
        <p:spPr>
          <a:xfrm>
            <a:off x="1309050" y="1674975"/>
            <a:ext cx="3129300" cy="43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Bonds issued by less stable but developing countries like Turkey, Brazil, and Indonesia</a:t>
            </a:r>
            <a:endParaRPr sz="1250" b="1" i="0" u="none" strike="noStrike" cap="none">
              <a:solidFill>
                <a:srgbClr val="1E293B"/>
              </a:solidFill>
              <a:latin typeface="Calibri"/>
              <a:ea typeface="Calibri"/>
              <a:cs typeface="Calibri"/>
              <a:sym typeface="Calibri"/>
            </a:endParaRPr>
          </a:p>
        </p:txBody>
      </p:sp>
      <p:sp>
        <p:nvSpPr>
          <p:cNvPr id="30" name="Google Shape;30;p2"/>
          <p:cNvSpPr/>
          <p:nvPr/>
        </p:nvSpPr>
        <p:spPr>
          <a:xfrm>
            <a:off x="457200" y="2560323"/>
            <a:ext cx="40521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
          <p:cNvSpPr/>
          <p:nvPr/>
        </p:nvSpPr>
        <p:spPr>
          <a:xfrm>
            <a:off x="457200" y="2560320"/>
            <a:ext cx="91500" cy="10515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
          <p:cNvSpPr/>
          <p:nvPr/>
        </p:nvSpPr>
        <p:spPr>
          <a:xfrm>
            <a:off x="640080" y="2633472"/>
            <a:ext cx="594300" cy="89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2400"/>
              <a:buFont typeface="Georgia"/>
              <a:buNone/>
            </a:pPr>
            <a:r>
              <a:rPr lang="en-US" sz="2400" b="1" i="0" u="none" strike="noStrike" cap="none">
                <a:solidFill>
                  <a:srgbClr val="0F766E"/>
                </a:solidFill>
                <a:latin typeface="Josefin Sans"/>
                <a:ea typeface="Josefin Sans"/>
                <a:cs typeface="Josefin Sans"/>
                <a:sym typeface="Josefin Sans"/>
              </a:rPr>
              <a:t>02</a:t>
            </a:r>
            <a:endParaRPr sz="2400" b="0" i="0" u="none" strike="noStrike" cap="none">
              <a:solidFill>
                <a:schemeClr val="dk1"/>
              </a:solidFill>
              <a:latin typeface="Josefin Sans"/>
              <a:ea typeface="Josefin Sans"/>
              <a:cs typeface="Josefin Sans"/>
              <a:sym typeface="Josefin Sans"/>
            </a:endParaRPr>
          </a:p>
        </p:txBody>
      </p:sp>
      <p:sp>
        <p:nvSpPr>
          <p:cNvPr id="33" name="Google Shape;33;p2"/>
          <p:cNvSpPr/>
          <p:nvPr/>
        </p:nvSpPr>
        <p:spPr>
          <a:xfrm>
            <a:off x="457200" y="3749050"/>
            <a:ext cx="40521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2"/>
          <p:cNvSpPr/>
          <p:nvPr/>
        </p:nvSpPr>
        <p:spPr>
          <a:xfrm>
            <a:off x="457200" y="3749040"/>
            <a:ext cx="91500" cy="10515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2"/>
          <p:cNvSpPr/>
          <p:nvPr/>
        </p:nvSpPr>
        <p:spPr>
          <a:xfrm>
            <a:off x="640080" y="3822192"/>
            <a:ext cx="594300" cy="896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2400"/>
              <a:buFont typeface="Georgia"/>
              <a:buNone/>
            </a:pPr>
            <a:r>
              <a:rPr lang="en-US" sz="2400" b="1" i="0" u="none" strike="noStrike" cap="none">
                <a:solidFill>
                  <a:srgbClr val="2B6CB0"/>
                </a:solidFill>
                <a:latin typeface="Josefin Sans"/>
                <a:ea typeface="Josefin Sans"/>
                <a:cs typeface="Josefin Sans"/>
                <a:sym typeface="Josefin Sans"/>
              </a:rPr>
              <a:t>03</a:t>
            </a:r>
            <a:endParaRPr sz="2400" b="0" i="0" u="none" strike="noStrike" cap="none">
              <a:solidFill>
                <a:srgbClr val="2B6CB0"/>
              </a:solidFill>
              <a:latin typeface="Josefin Sans"/>
              <a:ea typeface="Josefin Sans"/>
              <a:cs typeface="Josefin Sans"/>
              <a:sym typeface="Josefin Sans"/>
            </a:endParaRPr>
          </a:p>
        </p:txBody>
      </p:sp>
      <p:sp>
        <p:nvSpPr>
          <p:cNvPr id="36" name="Google Shape;36;p2"/>
          <p:cNvSpPr/>
          <p:nvPr/>
        </p:nvSpPr>
        <p:spPr>
          <a:xfrm>
            <a:off x="1309051" y="2866650"/>
            <a:ext cx="2994900" cy="43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Riskier than US Treasury bonds due to a variety of factors (political/economic/social)</a:t>
            </a:r>
            <a:endParaRPr sz="1250" b="1" i="0" u="none" strike="noStrike" cap="none">
              <a:solidFill>
                <a:srgbClr val="1E293B"/>
              </a:solidFill>
              <a:latin typeface="Calibri"/>
              <a:ea typeface="Calibri"/>
              <a:cs typeface="Calibri"/>
              <a:sym typeface="Calibri"/>
            </a:endParaRPr>
          </a:p>
        </p:txBody>
      </p:sp>
      <p:pic>
        <p:nvPicPr>
          <p:cNvPr id="37" name="Google Shape;37;p2"/>
          <p:cNvPicPr preferRelativeResize="0"/>
          <p:nvPr/>
        </p:nvPicPr>
        <p:blipFill rotWithShape="1">
          <a:blip r:embed="rId3">
            <a:alphaModFix/>
          </a:blip>
          <a:srcRect/>
          <a:stretch/>
        </p:blipFill>
        <p:spPr>
          <a:xfrm>
            <a:off x="4711075" y="1961388"/>
            <a:ext cx="3975726" cy="2240275"/>
          </a:xfrm>
          <a:prstGeom prst="rect">
            <a:avLst/>
          </a:prstGeom>
          <a:noFill/>
          <a:ln w="19050" cap="flat" cmpd="sng">
            <a:solidFill>
              <a:srgbClr val="E0E5EB"/>
            </a:solidFill>
            <a:prstDash val="solid"/>
            <a:round/>
            <a:headEnd type="none" w="sm" len="sm"/>
            <a:tailEnd type="none" w="sm" len="sm"/>
          </a:ln>
        </p:spPr>
      </p:pic>
      <p:sp>
        <p:nvSpPr>
          <p:cNvPr id="38" name="Google Shape;38;p2"/>
          <p:cNvSpPr/>
          <p:nvPr/>
        </p:nvSpPr>
        <p:spPr>
          <a:xfrm>
            <a:off x="1309048" y="3945575"/>
            <a:ext cx="31293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We study the JP Morgan EMB Index: a fund that tracks a basket of EM bonds</a:t>
            </a:r>
            <a:endParaRPr sz="1250" b="1" i="0" u="none" strike="noStrike" cap="none">
              <a:solidFill>
                <a:srgbClr val="1E293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
        <p:cNvGrpSpPr/>
        <p:nvPr/>
      </p:nvGrpSpPr>
      <p:grpSpPr>
        <a:xfrm>
          <a:off x="0" y="0"/>
          <a:ext cx="0" cy="0"/>
          <a:chOff x="0" y="0"/>
          <a:chExt cx="0" cy="0"/>
        </a:xfrm>
      </p:grpSpPr>
      <p:sp>
        <p:nvSpPr>
          <p:cNvPr id="44" name="Google Shape;44;g39789fe7b62_1_186"/>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g39789fe7b62_1_186"/>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OVERVIEW</a:t>
            </a:r>
            <a:endParaRPr sz="1050" b="0" i="0" u="none" strike="noStrike" cap="none">
              <a:solidFill>
                <a:schemeClr val="dk1"/>
              </a:solidFill>
              <a:latin typeface="Calibri"/>
              <a:ea typeface="Calibri"/>
              <a:cs typeface="Calibri"/>
              <a:sym typeface="Calibri"/>
            </a:endParaRPr>
          </a:p>
        </p:txBody>
      </p:sp>
      <p:pic>
        <p:nvPicPr>
          <p:cNvPr id="46" name="Google Shape;46;g39789fe7b62_1_186"/>
          <p:cNvPicPr preferRelativeResize="0"/>
          <p:nvPr/>
        </p:nvPicPr>
        <p:blipFill rotWithShape="1">
          <a:blip r:embed="rId3">
            <a:alphaModFix/>
          </a:blip>
          <a:srcRect t="7227"/>
          <a:stretch/>
        </p:blipFill>
        <p:spPr>
          <a:xfrm>
            <a:off x="3741151" y="1393075"/>
            <a:ext cx="4945650" cy="3131326"/>
          </a:xfrm>
          <a:prstGeom prst="rect">
            <a:avLst/>
          </a:prstGeom>
          <a:solidFill>
            <a:srgbClr val="FFFFFF"/>
          </a:solidFill>
          <a:ln w="9525" cap="flat" cmpd="sng">
            <a:solidFill>
              <a:srgbClr val="E2E8F0"/>
            </a:solidFill>
            <a:prstDash val="solid"/>
            <a:round/>
            <a:headEnd type="none" w="sm" len="sm"/>
            <a:tailEnd type="none" w="sm" len="sm"/>
          </a:ln>
        </p:spPr>
      </p:pic>
      <p:sp>
        <p:nvSpPr>
          <p:cNvPr id="47" name="Google Shape;47;g39789fe7b62_1_186"/>
          <p:cNvSpPr/>
          <p:nvPr/>
        </p:nvSpPr>
        <p:spPr>
          <a:xfrm>
            <a:off x="545100" y="1851575"/>
            <a:ext cx="30957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39789fe7b62_1_186"/>
          <p:cNvSpPr/>
          <p:nvPr/>
        </p:nvSpPr>
        <p:spPr>
          <a:xfrm>
            <a:off x="629400" y="1911754"/>
            <a:ext cx="2927100" cy="93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The index provides exposure to liquid, US dollar-denominated emerging market sovereign debt.</a:t>
            </a:r>
            <a:endParaRPr sz="1250" b="1" i="0" u="none" strike="noStrike" cap="none">
              <a:solidFill>
                <a:srgbClr val="1E293B"/>
              </a:solidFill>
              <a:latin typeface="Calibri"/>
              <a:ea typeface="Calibri"/>
              <a:cs typeface="Calibri"/>
              <a:sym typeface="Calibri"/>
            </a:endParaRPr>
          </a:p>
        </p:txBody>
      </p:sp>
      <p:sp>
        <p:nvSpPr>
          <p:cNvPr id="49" name="Google Shape;49;g39789fe7b62_1_186"/>
          <p:cNvSpPr/>
          <p:nvPr/>
        </p:nvSpPr>
        <p:spPr>
          <a:xfrm>
            <a:off x="457200" y="1855200"/>
            <a:ext cx="87900" cy="10515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g39789fe7b62_1_186"/>
          <p:cNvSpPr/>
          <p:nvPr/>
        </p:nvSpPr>
        <p:spPr>
          <a:xfrm>
            <a:off x="545100" y="3010775"/>
            <a:ext cx="30957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g39789fe7b62_1_186"/>
          <p:cNvSpPr/>
          <p:nvPr/>
        </p:nvSpPr>
        <p:spPr>
          <a:xfrm>
            <a:off x="629400" y="3070954"/>
            <a:ext cx="2927100" cy="93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The following graph shows some, but not all of the countries’ bonds that make up its portfolio.</a:t>
            </a:r>
            <a:endParaRPr sz="1250" b="1" i="0" u="none" strike="noStrike" cap="none">
              <a:solidFill>
                <a:srgbClr val="1E293B"/>
              </a:solidFill>
              <a:latin typeface="Calibri"/>
              <a:ea typeface="Calibri"/>
              <a:cs typeface="Calibri"/>
              <a:sym typeface="Calibri"/>
            </a:endParaRPr>
          </a:p>
        </p:txBody>
      </p:sp>
      <p:sp>
        <p:nvSpPr>
          <p:cNvPr id="52" name="Google Shape;52;g39789fe7b62_1_186"/>
          <p:cNvSpPr/>
          <p:nvPr/>
        </p:nvSpPr>
        <p:spPr>
          <a:xfrm>
            <a:off x="457200" y="3014400"/>
            <a:ext cx="87900" cy="1051500"/>
          </a:xfrm>
          <a:prstGeom prst="rect">
            <a:avLst/>
          </a:prstGeom>
          <a:solidFill>
            <a:schemeClr val="accent1"/>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g39789fe7b62_1_186"/>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en-US" sz="3100" b="1" i="0" u="none" strike="noStrike" cap="none">
                <a:solidFill>
                  <a:schemeClr val="dk1"/>
                </a:solidFill>
                <a:latin typeface="Georgia"/>
                <a:ea typeface="Georgia"/>
                <a:cs typeface="Georgia"/>
                <a:sym typeface="Georgia"/>
              </a:rPr>
              <a:t>Composition: JPMorgan EMBI GD Index</a:t>
            </a:r>
            <a:endParaRPr sz="3400" b="0" i="0" u="none" strike="noStrike" cap="none">
              <a:solidFill>
                <a:schemeClr val="dk1"/>
              </a:solidFill>
              <a:latin typeface="Calibri"/>
              <a:ea typeface="Calibri"/>
              <a:cs typeface="Calibri"/>
              <a:sym typeface="Calibri"/>
            </a:endParaRPr>
          </a:p>
        </p:txBody>
      </p:sp>
      <p:sp>
        <p:nvSpPr>
          <p:cNvPr id="54" name="Google Shape;54;g39789fe7b62_1_186"/>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
        <p:cNvGrpSpPr/>
        <p:nvPr/>
      </p:nvGrpSpPr>
      <p:grpSpPr>
        <a:xfrm>
          <a:off x="0" y="0"/>
          <a:ext cx="0" cy="0"/>
          <a:chOff x="0" y="0"/>
          <a:chExt cx="0" cy="0"/>
        </a:xfrm>
      </p:grpSpPr>
      <p:sp>
        <p:nvSpPr>
          <p:cNvPr id="60" name="Google Shape;60;g39789fe7b62_1_137"/>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39789fe7b62_1_137"/>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OUR PITCH</a:t>
            </a:r>
            <a:endParaRPr sz="1050" b="0" i="0" u="none" strike="noStrike" cap="none">
              <a:solidFill>
                <a:schemeClr val="dk1"/>
              </a:solidFill>
              <a:latin typeface="Calibri"/>
              <a:ea typeface="Calibri"/>
              <a:cs typeface="Calibri"/>
              <a:sym typeface="Calibri"/>
            </a:endParaRPr>
          </a:p>
        </p:txBody>
      </p:sp>
      <p:sp>
        <p:nvSpPr>
          <p:cNvPr id="62" name="Google Shape;62;g39789fe7b62_1_137"/>
          <p:cNvSpPr/>
          <p:nvPr/>
        </p:nvSpPr>
        <p:spPr>
          <a:xfrm>
            <a:off x="457200" y="1116017"/>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g39789fe7b62_1_137"/>
          <p:cNvSpPr/>
          <p:nvPr/>
        </p:nvSpPr>
        <p:spPr>
          <a:xfrm>
            <a:off x="457200" y="1218520"/>
            <a:ext cx="8229600" cy="3699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g39789fe7b62_1_137"/>
          <p:cNvSpPr txBox="1"/>
          <p:nvPr/>
        </p:nvSpPr>
        <p:spPr>
          <a:xfrm>
            <a:off x="399900" y="1197370"/>
            <a:ext cx="8344200" cy="412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0" i="0" u="none" strike="noStrike" cap="none">
                <a:solidFill>
                  <a:schemeClr val="dk1"/>
                </a:solidFill>
                <a:latin typeface="Calibri"/>
                <a:ea typeface="Calibri"/>
                <a:cs typeface="Calibri"/>
                <a:sym typeface="Calibri"/>
              </a:rPr>
              <a:t>Can we </a:t>
            </a:r>
            <a:r>
              <a:rPr lang="en-US" sz="1500" b="0" i="0" u="none" strike="noStrike" cap="none">
                <a:solidFill>
                  <a:srgbClr val="1E293B"/>
                </a:solidFill>
                <a:latin typeface="Calibri"/>
                <a:ea typeface="Calibri"/>
                <a:cs typeface="Calibri"/>
                <a:sym typeface="Calibri"/>
              </a:rPr>
              <a:t>predict</a:t>
            </a:r>
            <a:r>
              <a:rPr lang="en-US" sz="1500" b="0" i="0" u="none" strike="noStrike" cap="none">
                <a:solidFill>
                  <a:schemeClr val="dk1"/>
                </a:solidFill>
                <a:latin typeface="Calibri"/>
                <a:ea typeface="Calibri"/>
                <a:cs typeface="Calibri"/>
                <a:sym typeface="Calibri"/>
              </a:rPr>
              <a:t> when EM bonds recover after a flight-to-safety panic, and how can we profit from it?</a:t>
            </a:r>
            <a:endParaRPr sz="1800" b="0" i="0" u="none" strike="noStrike" cap="none">
              <a:solidFill>
                <a:srgbClr val="000000"/>
              </a:solidFill>
              <a:latin typeface="Calibri"/>
              <a:ea typeface="Calibri"/>
              <a:cs typeface="Calibri"/>
              <a:sym typeface="Calibri"/>
            </a:endParaRPr>
          </a:p>
        </p:txBody>
      </p:sp>
      <p:sp>
        <p:nvSpPr>
          <p:cNvPr id="65" name="Google Shape;65;g39789fe7b62_1_137"/>
          <p:cNvSpPr/>
          <p:nvPr/>
        </p:nvSpPr>
        <p:spPr>
          <a:xfrm rot="5400000">
            <a:off x="124050" y="2370978"/>
            <a:ext cx="1069800" cy="403500"/>
          </a:xfrm>
          <a:prstGeom prst="chevron">
            <a:avLst>
              <a:gd name="adj"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g39789fe7b62_1_137"/>
          <p:cNvSpPr/>
          <p:nvPr/>
        </p:nvSpPr>
        <p:spPr>
          <a:xfrm rot="5400000">
            <a:off x="124050" y="3353531"/>
            <a:ext cx="1069800" cy="403500"/>
          </a:xfrm>
          <a:prstGeom prst="chevron">
            <a:avLst>
              <a:gd name="adj"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g39789fe7b62_1_137"/>
          <p:cNvSpPr/>
          <p:nvPr/>
        </p:nvSpPr>
        <p:spPr>
          <a:xfrm rot="5400000">
            <a:off x="124050" y="4343576"/>
            <a:ext cx="1069800" cy="403500"/>
          </a:xfrm>
          <a:prstGeom prst="chevron">
            <a:avLst>
              <a:gd name="adj" fmla="val 50000"/>
            </a:avLst>
          </a:prstGeom>
          <a:solidFill>
            <a:srgbClr val="0F766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g39789fe7b62_1_137"/>
          <p:cNvSpPr/>
          <p:nvPr/>
        </p:nvSpPr>
        <p:spPr>
          <a:xfrm>
            <a:off x="975975" y="2046978"/>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g39789fe7b62_1_137"/>
          <p:cNvSpPr/>
          <p:nvPr/>
        </p:nvSpPr>
        <p:spPr>
          <a:xfrm>
            <a:off x="1010944" y="2093638"/>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Delta (Change in) VIX </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Cboe Volatility Index tracks forward expectations of volatility in the US market</a:t>
            </a:r>
            <a:endParaRPr sz="1100" b="1" i="0" u="none" strike="noStrike" cap="none">
              <a:solidFill>
                <a:srgbClr val="1E293B"/>
              </a:solidFill>
              <a:latin typeface="Calibri"/>
              <a:ea typeface="Calibri"/>
              <a:cs typeface="Calibri"/>
              <a:sym typeface="Calibri"/>
            </a:endParaRPr>
          </a:p>
        </p:txBody>
      </p:sp>
      <p:sp>
        <p:nvSpPr>
          <p:cNvPr id="70" name="Google Shape;70;g39789fe7b62_1_137"/>
          <p:cNvSpPr/>
          <p:nvPr/>
        </p:nvSpPr>
        <p:spPr>
          <a:xfrm>
            <a:off x="975975" y="3020378"/>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g39789fe7b62_1_137"/>
          <p:cNvSpPr/>
          <p:nvPr/>
        </p:nvSpPr>
        <p:spPr>
          <a:xfrm>
            <a:off x="1010944" y="3067038"/>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Delta Credit Spreads</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The credit spread index we used tracks the difference between US treasuries and BBB investment-grade US credit</a:t>
            </a:r>
            <a:endParaRPr sz="1100" b="1" i="0" u="none" strike="noStrike" cap="none">
              <a:solidFill>
                <a:srgbClr val="1E293B"/>
              </a:solidFill>
              <a:latin typeface="Calibri"/>
              <a:ea typeface="Calibri"/>
              <a:cs typeface="Calibri"/>
              <a:sym typeface="Calibri"/>
            </a:endParaRPr>
          </a:p>
        </p:txBody>
      </p:sp>
      <p:grpSp>
        <p:nvGrpSpPr>
          <p:cNvPr id="72" name="Google Shape;72;g39789fe7b62_1_137"/>
          <p:cNvGrpSpPr/>
          <p:nvPr/>
        </p:nvGrpSpPr>
        <p:grpSpPr>
          <a:xfrm>
            <a:off x="976000" y="4023419"/>
            <a:ext cx="3591900" cy="846300"/>
            <a:chOff x="976000" y="3827816"/>
            <a:chExt cx="3591900" cy="846300"/>
          </a:xfrm>
        </p:grpSpPr>
        <p:sp>
          <p:nvSpPr>
            <p:cNvPr id="73" name="Google Shape;73;g39789fe7b62_1_137"/>
            <p:cNvSpPr/>
            <p:nvPr/>
          </p:nvSpPr>
          <p:spPr>
            <a:xfrm>
              <a:off x="976000" y="3827816"/>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g39789fe7b62_1_137"/>
            <p:cNvSpPr/>
            <p:nvPr/>
          </p:nvSpPr>
          <p:spPr>
            <a:xfrm>
              <a:off x="1010969" y="3847000"/>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Oil Prices</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Crude oil futures track the price of oil</a:t>
              </a:r>
              <a:endParaRPr sz="1100" b="1" i="0" u="none" strike="noStrike" cap="none">
                <a:solidFill>
                  <a:srgbClr val="1E293B"/>
                </a:solidFill>
                <a:latin typeface="Calibri"/>
                <a:ea typeface="Calibri"/>
                <a:cs typeface="Calibri"/>
                <a:sym typeface="Calibri"/>
              </a:endParaRPr>
            </a:p>
          </p:txBody>
        </p:sp>
      </p:grpSp>
      <p:cxnSp>
        <p:nvCxnSpPr>
          <p:cNvPr id="75" name="Google Shape;75;g39789fe7b62_1_137"/>
          <p:cNvCxnSpPr/>
          <p:nvPr/>
        </p:nvCxnSpPr>
        <p:spPr>
          <a:xfrm>
            <a:off x="4828749" y="2046110"/>
            <a:ext cx="0" cy="2837400"/>
          </a:xfrm>
          <a:prstGeom prst="straightConnector1">
            <a:avLst/>
          </a:prstGeom>
          <a:noFill/>
          <a:ln w="19050" cap="flat" cmpd="sng">
            <a:solidFill>
              <a:srgbClr val="94A3B8"/>
            </a:solidFill>
            <a:prstDash val="solid"/>
            <a:round/>
            <a:headEnd type="none" w="sm" len="sm"/>
            <a:tailEnd type="none" w="sm" len="sm"/>
          </a:ln>
        </p:spPr>
      </p:cxnSp>
      <p:sp>
        <p:nvSpPr>
          <p:cNvPr id="76" name="Google Shape;76;g39789fe7b62_1_137"/>
          <p:cNvSpPr/>
          <p:nvPr/>
        </p:nvSpPr>
        <p:spPr>
          <a:xfrm>
            <a:off x="5089623" y="2051116"/>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39789fe7b62_1_137"/>
          <p:cNvSpPr/>
          <p:nvPr/>
        </p:nvSpPr>
        <p:spPr>
          <a:xfrm>
            <a:off x="5124567" y="2093638"/>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First Model - Delta VIX Only</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We used a one-factor model with only continuous changes in VIX to predict EMB returns</a:t>
            </a:r>
            <a:endParaRPr sz="1100" b="1" i="0" u="none" strike="noStrike" cap="none">
              <a:solidFill>
                <a:srgbClr val="1E293B"/>
              </a:solidFill>
              <a:latin typeface="Calibri"/>
              <a:ea typeface="Calibri"/>
              <a:cs typeface="Calibri"/>
              <a:sym typeface="Calibri"/>
            </a:endParaRPr>
          </a:p>
        </p:txBody>
      </p:sp>
      <p:grpSp>
        <p:nvGrpSpPr>
          <p:cNvPr id="78" name="Google Shape;78;g39789fe7b62_1_137"/>
          <p:cNvGrpSpPr/>
          <p:nvPr/>
        </p:nvGrpSpPr>
        <p:grpSpPr>
          <a:xfrm>
            <a:off x="5089623" y="3037267"/>
            <a:ext cx="3591900" cy="846300"/>
            <a:chOff x="4819300" y="3453450"/>
            <a:chExt cx="3591900" cy="846300"/>
          </a:xfrm>
        </p:grpSpPr>
        <p:sp>
          <p:nvSpPr>
            <p:cNvPr id="79" name="Google Shape;79;g39789fe7b62_1_137"/>
            <p:cNvSpPr/>
            <p:nvPr/>
          </p:nvSpPr>
          <p:spPr>
            <a:xfrm>
              <a:off x="4819300" y="3453450"/>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g39789fe7b62_1_137"/>
            <p:cNvSpPr/>
            <p:nvPr/>
          </p:nvSpPr>
          <p:spPr>
            <a:xfrm>
              <a:off x="4854269" y="3500110"/>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Second Model - All 3 Signals</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We used a three-factor model continuously trading on changes in oil prices, VIX, and credit spreads</a:t>
              </a:r>
              <a:endParaRPr sz="1100" b="1" i="0" u="none" strike="noStrike" cap="none">
                <a:solidFill>
                  <a:srgbClr val="1E293B"/>
                </a:solidFill>
                <a:latin typeface="Calibri"/>
                <a:ea typeface="Calibri"/>
                <a:cs typeface="Calibri"/>
                <a:sym typeface="Calibri"/>
              </a:endParaRPr>
            </a:p>
          </p:txBody>
        </p:sp>
      </p:grpSp>
      <p:grpSp>
        <p:nvGrpSpPr>
          <p:cNvPr id="81" name="Google Shape;81;g39789fe7b62_1_137"/>
          <p:cNvGrpSpPr/>
          <p:nvPr/>
        </p:nvGrpSpPr>
        <p:grpSpPr>
          <a:xfrm>
            <a:off x="5089623" y="4023419"/>
            <a:ext cx="3591900" cy="846300"/>
            <a:chOff x="4819325" y="4456491"/>
            <a:chExt cx="3591900" cy="846300"/>
          </a:xfrm>
        </p:grpSpPr>
        <p:sp>
          <p:nvSpPr>
            <p:cNvPr id="82" name="Google Shape;82;g39789fe7b62_1_137"/>
            <p:cNvSpPr/>
            <p:nvPr/>
          </p:nvSpPr>
          <p:spPr>
            <a:xfrm>
              <a:off x="4819325" y="4456491"/>
              <a:ext cx="3591900" cy="84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g39789fe7b62_1_137"/>
            <p:cNvSpPr/>
            <p:nvPr/>
          </p:nvSpPr>
          <p:spPr>
            <a:xfrm>
              <a:off x="4854294" y="4503151"/>
              <a:ext cx="3522000" cy="75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50"/>
                <a:buFont typeface="Calibri"/>
                <a:buNone/>
              </a:pPr>
              <a:r>
                <a:rPr lang="en-US" sz="1500" b="1" i="0" u="sng" strike="noStrike" cap="none">
                  <a:solidFill>
                    <a:srgbClr val="1E293B"/>
                  </a:solidFill>
                  <a:latin typeface="Calibri"/>
                  <a:ea typeface="Calibri"/>
                  <a:cs typeface="Calibri"/>
                  <a:sym typeface="Calibri"/>
                </a:rPr>
                <a:t>Third Model - VIX Threshold</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1E293B"/>
                </a:buClr>
                <a:buSzPts val="1250"/>
                <a:buFont typeface="Calibri"/>
                <a:buNone/>
              </a:pPr>
              <a:r>
                <a:rPr lang="en-US" sz="1100" b="1" i="0" u="none" strike="noStrike" cap="none">
                  <a:solidFill>
                    <a:srgbClr val="1E293B"/>
                  </a:solidFill>
                  <a:latin typeface="Calibri"/>
                  <a:ea typeface="Calibri"/>
                  <a:cs typeface="Calibri"/>
                  <a:sym typeface="Calibri"/>
                </a:rPr>
                <a:t>Our last model only traded in discrete windows when the VIX spiked above certain level in order to filter for high-impact shocks</a:t>
              </a:r>
              <a:endParaRPr sz="1100" b="1" i="0" u="none" strike="noStrike" cap="none">
                <a:solidFill>
                  <a:srgbClr val="1E293B"/>
                </a:solidFill>
                <a:latin typeface="Calibri"/>
                <a:ea typeface="Calibri"/>
                <a:cs typeface="Calibri"/>
                <a:sym typeface="Calibri"/>
              </a:endParaRPr>
            </a:p>
          </p:txBody>
        </p:sp>
      </p:grpSp>
      <p:sp>
        <p:nvSpPr>
          <p:cNvPr id="84" name="Google Shape;84;g39789fe7b62_1_137"/>
          <p:cNvSpPr txBox="1"/>
          <p:nvPr/>
        </p:nvSpPr>
        <p:spPr>
          <a:xfrm>
            <a:off x="5089625" y="1604413"/>
            <a:ext cx="3591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a:solidFill>
                  <a:srgbClr val="000000"/>
                </a:solidFill>
                <a:latin typeface="Calibri"/>
                <a:ea typeface="Calibri"/>
                <a:cs typeface="Calibri"/>
                <a:sym typeface="Calibri"/>
              </a:rPr>
              <a:t>We Tested 3 Model</a:t>
            </a:r>
            <a:r>
              <a:rPr lang="en-US" sz="1600" b="1" i="0" u="sng" strike="noStrike" cap="none">
                <a:solidFill>
                  <a:schemeClr val="dk1"/>
                </a:solidFill>
                <a:latin typeface="Calibri"/>
                <a:ea typeface="Calibri"/>
                <a:cs typeface="Calibri"/>
                <a:sym typeface="Calibri"/>
              </a:rPr>
              <a:t>s</a:t>
            </a:r>
            <a:endParaRPr sz="1600" b="1" i="0" u="sng" strike="noStrike" cap="none">
              <a:solidFill>
                <a:srgbClr val="000000"/>
              </a:solidFill>
              <a:latin typeface="Calibri"/>
              <a:ea typeface="Calibri"/>
              <a:cs typeface="Calibri"/>
              <a:sym typeface="Calibri"/>
            </a:endParaRPr>
          </a:p>
        </p:txBody>
      </p:sp>
      <p:sp>
        <p:nvSpPr>
          <p:cNvPr id="85" name="Google Shape;85;g39789fe7b62_1_137"/>
          <p:cNvSpPr txBox="1"/>
          <p:nvPr/>
        </p:nvSpPr>
        <p:spPr>
          <a:xfrm>
            <a:off x="975975" y="1589401"/>
            <a:ext cx="3591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a:solidFill>
                  <a:srgbClr val="000000"/>
                </a:solidFill>
                <a:latin typeface="Calibri"/>
                <a:ea typeface="Calibri"/>
                <a:cs typeface="Calibri"/>
                <a:sym typeface="Calibri"/>
              </a:rPr>
              <a:t>We Tested 3 Fear Signals</a:t>
            </a:r>
            <a:endParaRPr sz="1600" b="1" i="0" u="sng" strike="noStrike" cap="none">
              <a:solidFill>
                <a:srgbClr val="000000"/>
              </a:solidFill>
              <a:latin typeface="Calibri"/>
              <a:ea typeface="Calibri"/>
              <a:cs typeface="Calibri"/>
              <a:sym typeface="Calibri"/>
            </a:endParaRPr>
          </a:p>
        </p:txBody>
      </p:sp>
      <p:sp>
        <p:nvSpPr>
          <p:cNvPr id="86" name="Google Shape;86;g39789fe7b62_1_137"/>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400"/>
              <a:buFont typeface="Georgia"/>
              <a:buNone/>
            </a:pPr>
            <a:r>
              <a:rPr lang="en-US" sz="3400" b="1" i="0" u="none" strike="noStrike" cap="none">
                <a:solidFill>
                  <a:srgbClr val="0C1A35"/>
                </a:solidFill>
                <a:latin typeface="Georgia"/>
                <a:ea typeface="Georgia"/>
                <a:cs typeface="Georgia"/>
                <a:sym typeface="Georgia"/>
              </a:rPr>
              <a:t>Our Research Question</a:t>
            </a:r>
            <a:endParaRPr sz="34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1"/>
        <p:cNvGrpSpPr/>
        <p:nvPr/>
      </p:nvGrpSpPr>
      <p:grpSpPr>
        <a:xfrm>
          <a:off x="0" y="0"/>
          <a:ext cx="0" cy="0"/>
          <a:chOff x="0" y="0"/>
          <a:chExt cx="0" cy="0"/>
        </a:xfrm>
      </p:grpSpPr>
      <p:sp>
        <p:nvSpPr>
          <p:cNvPr id="92" name="Google Shape;92;g39789fe7b62_1_239"/>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g39789fe7b62_1_239"/>
          <p:cNvSpPr/>
          <p:nvPr/>
        </p:nvSpPr>
        <p:spPr>
          <a:xfrm>
            <a:off x="973050" y="1750350"/>
            <a:ext cx="7197900" cy="16428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Model 1 </a:t>
            </a:r>
            <a:endParaRPr sz="52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Single Factor OLS</a:t>
            </a:r>
            <a:endParaRPr sz="5200" b="1" i="0" u="none" strike="noStrike" cap="none">
              <a:solidFill>
                <a:srgbClr val="FFFFFF"/>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sp>
        <p:nvSpPr>
          <p:cNvPr id="99" name="Google Shape;99;g39789fe7b62_1_388"/>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g39789fe7b62_1_388"/>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1 - INTRO</a:t>
            </a:r>
            <a:endParaRPr sz="1050" b="0" i="0" u="none" strike="noStrike" cap="none">
              <a:solidFill>
                <a:schemeClr val="dk1"/>
              </a:solidFill>
              <a:latin typeface="Calibri"/>
              <a:ea typeface="Calibri"/>
              <a:cs typeface="Calibri"/>
              <a:sym typeface="Calibri"/>
            </a:endParaRPr>
          </a:p>
        </p:txBody>
      </p:sp>
      <p:sp>
        <p:nvSpPr>
          <p:cNvPr id="101" name="Google Shape;101;g39789fe7b62_1_388"/>
          <p:cNvSpPr/>
          <p:nvPr/>
        </p:nvSpPr>
        <p:spPr>
          <a:xfrm>
            <a:off x="457200" y="481525"/>
            <a:ext cx="8229600" cy="66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400"/>
              <a:buFont typeface="Georgia"/>
              <a:buNone/>
            </a:pPr>
            <a:r>
              <a:rPr lang="en-US" sz="2900" b="1" i="0" u="none" strike="noStrike" cap="none">
                <a:solidFill>
                  <a:srgbClr val="0C1A35"/>
                </a:solidFill>
                <a:latin typeface="Georgia"/>
                <a:ea typeface="Georgia"/>
                <a:cs typeface="Georgia"/>
                <a:sym typeface="Georgia"/>
              </a:rPr>
              <a:t>Why Use VIX As Our Independent Variable</a:t>
            </a:r>
            <a:endParaRPr sz="2900" b="0" i="0" u="none" strike="noStrike" cap="none">
              <a:solidFill>
                <a:schemeClr val="dk1"/>
              </a:solidFill>
              <a:latin typeface="Calibri"/>
              <a:ea typeface="Calibri"/>
              <a:cs typeface="Calibri"/>
              <a:sym typeface="Calibri"/>
            </a:endParaRPr>
          </a:p>
        </p:txBody>
      </p:sp>
      <p:pic>
        <p:nvPicPr>
          <p:cNvPr id="102" name="Google Shape;102;g39789fe7b62_1_388"/>
          <p:cNvPicPr preferRelativeResize="0"/>
          <p:nvPr/>
        </p:nvPicPr>
        <p:blipFill rotWithShape="1">
          <a:blip r:embed="rId3">
            <a:alphaModFix/>
          </a:blip>
          <a:srcRect/>
          <a:stretch/>
        </p:blipFill>
        <p:spPr>
          <a:xfrm>
            <a:off x="4898525" y="1531650"/>
            <a:ext cx="3545525" cy="2598000"/>
          </a:xfrm>
          <a:prstGeom prst="rect">
            <a:avLst/>
          </a:prstGeom>
          <a:noFill/>
          <a:ln>
            <a:noFill/>
          </a:ln>
        </p:spPr>
      </p:pic>
      <p:pic>
        <p:nvPicPr>
          <p:cNvPr id="103" name="Google Shape;103;g39789fe7b62_1_388"/>
          <p:cNvPicPr preferRelativeResize="0"/>
          <p:nvPr/>
        </p:nvPicPr>
        <p:blipFill rotWithShape="1">
          <a:blip r:embed="rId4">
            <a:alphaModFix/>
          </a:blip>
          <a:srcRect/>
          <a:stretch/>
        </p:blipFill>
        <p:spPr>
          <a:xfrm>
            <a:off x="504679" y="1514602"/>
            <a:ext cx="4018650" cy="2632098"/>
          </a:xfrm>
          <a:prstGeom prst="rect">
            <a:avLst/>
          </a:prstGeom>
          <a:noFill/>
          <a:ln>
            <a:noFill/>
          </a:ln>
        </p:spPr>
      </p:pic>
      <p:sp>
        <p:nvSpPr>
          <p:cNvPr id="104" name="Google Shape;104;g39789fe7b62_1_388"/>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
        <p:cNvGrpSpPr/>
        <p:nvPr/>
      </p:nvGrpSpPr>
      <p:grpSpPr>
        <a:xfrm>
          <a:off x="0" y="0"/>
          <a:ext cx="0" cy="0"/>
          <a:chOff x="0" y="0"/>
          <a:chExt cx="0" cy="0"/>
        </a:xfrm>
      </p:grpSpPr>
      <p:sp>
        <p:nvSpPr>
          <p:cNvPr id="110" name="Google Shape;110;p6"/>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6"/>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1 - INTRO</a:t>
            </a:r>
            <a:endParaRPr sz="1050" b="0" i="0" u="none" strike="noStrike" cap="none">
              <a:solidFill>
                <a:schemeClr val="dk1"/>
              </a:solidFill>
              <a:latin typeface="Calibri"/>
              <a:ea typeface="Calibri"/>
              <a:cs typeface="Calibri"/>
              <a:sym typeface="Calibri"/>
            </a:endParaRPr>
          </a:p>
        </p:txBody>
      </p:sp>
      <p:sp>
        <p:nvSpPr>
          <p:cNvPr id="112" name="Google Shape;112;p6"/>
          <p:cNvSpPr/>
          <p:nvPr/>
        </p:nvSpPr>
        <p:spPr>
          <a:xfrm>
            <a:off x="457200" y="502925"/>
            <a:ext cx="75294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Model 1: Setup &amp; Results</a:t>
            </a:r>
            <a:endParaRPr sz="3000" b="0" i="0" u="none" strike="noStrike" cap="none">
              <a:solidFill>
                <a:schemeClr val="dk1"/>
              </a:solidFill>
              <a:latin typeface="Calibri"/>
              <a:ea typeface="Calibri"/>
              <a:cs typeface="Calibri"/>
              <a:sym typeface="Calibri"/>
            </a:endParaRPr>
          </a:p>
        </p:txBody>
      </p:sp>
      <p:sp>
        <p:nvSpPr>
          <p:cNvPr id="113" name="Google Shape;113;p6"/>
          <p:cNvSpPr/>
          <p:nvPr/>
        </p:nvSpPr>
        <p:spPr>
          <a:xfrm>
            <a:off x="365760" y="1353312"/>
            <a:ext cx="8412480" cy="658368"/>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6"/>
          <p:cNvSpPr/>
          <p:nvPr/>
        </p:nvSpPr>
        <p:spPr>
          <a:xfrm>
            <a:off x="502920" y="1389888"/>
            <a:ext cx="8138160" cy="58521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600"/>
              <a:buFont typeface="Courier New"/>
              <a:buNone/>
            </a:pPr>
            <a:r>
              <a:rPr lang="en-US" sz="1600" b="0" i="0" u="none" strike="noStrike" cap="none">
                <a:solidFill>
                  <a:schemeClr val="accent2"/>
                </a:solidFill>
                <a:latin typeface="Courier New"/>
                <a:ea typeface="Courier New"/>
                <a:cs typeface="Courier New"/>
                <a:sym typeface="Courier New"/>
              </a:rPr>
              <a:t>ŷ </a:t>
            </a:r>
            <a:r>
              <a:rPr lang="en-US" sz="1600" b="1" i="0" u="none" strike="noStrike" cap="none">
                <a:solidFill>
                  <a:schemeClr val="accent2"/>
                </a:solidFill>
                <a:latin typeface="Courier New"/>
                <a:ea typeface="Courier New"/>
                <a:cs typeface="Courier New"/>
                <a:sym typeface="Courier New"/>
              </a:rPr>
              <a:t>= -0.0001 + 0.0003 · ΔVIX(t) + ε(t)</a:t>
            </a:r>
            <a:endParaRPr sz="1600" b="1" i="0" u="none" strike="noStrike" cap="none">
              <a:solidFill>
                <a:schemeClr val="accent2"/>
              </a:solidFill>
              <a:latin typeface="Calibri"/>
              <a:ea typeface="Calibri"/>
              <a:cs typeface="Calibri"/>
              <a:sym typeface="Calibri"/>
            </a:endParaRPr>
          </a:p>
        </p:txBody>
      </p:sp>
      <p:sp>
        <p:nvSpPr>
          <p:cNvPr id="115" name="Google Shape;115;p6"/>
          <p:cNvSpPr/>
          <p:nvPr/>
        </p:nvSpPr>
        <p:spPr>
          <a:xfrm>
            <a:off x="365700" y="2163044"/>
            <a:ext cx="3977700" cy="2546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6"/>
          <p:cNvSpPr/>
          <p:nvPr/>
        </p:nvSpPr>
        <p:spPr>
          <a:xfrm>
            <a:off x="365698" y="2163044"/>
            <a:ext cx="91500" cy="2546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p6"/>
          <p:cNvGrpSpPr/>
          <p:nvPr/>
        </p:nvGrpSpPr>
        <p:grpSpPr>
          <a:xfrm>
            <a:off x="548590" y="2236186"/>
            <a:ext cx="3749100" cy="2372185"/>
            <a:chOff x="548640" y="2163161"/>
            <a:chExt cx="3749100" cy="2372185"/>
          </a:xfrm>
        </p:grpSpPr>
        <p:sp>
          <p:nvSpPr>
            <p:cNvPr id="118" name="Google Shape;118;p6"/>
            <p:cNvSpPr/>
            <p:nvPr/>
          </p:nvSpPr>
          <p:spPr>
            <a:xfrm>
              <a:off x="548640" y="2163161"/>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250" b="1" i="0" u="none" strike="noStrike" cap="none">
                  <a:solidFill>
                    <a:srgbClr val="1A3F7A"/>
                  </a:solidFill>
                  <a:latin typeface="Calibri"/>
                  <a:ea typeface="Calibri"/>
                  <a:cs typeface="Calibri"/>
                  <a:sym typeface="Calibri"/>
                </a:rPr>
                <a:t>Methodology</a:t>
              </a:r>
              <a:endParaRPr sz="1250" b="0" i="0" u="none" strike="noStrike" cap="none">
                <a:solidFill>
                  <a:schemeClr val="dk1"/>
                </a:solidFill>
                <a:latin typeface="Calibri"/>
                <a:ea typeface="Calibri"/>
                <a:cs typeface="Calibri"/>
                <a:sym typeface="Calibri"/>
              </a:endParaRPr>
            </a:p>
          </p:txBody>
        </p:sp>
        <p:sp>
          <p:nvSpPr>
            <p:cNvPr id="119" name="Google Shape;119;p6"/>
            <p:cNvSpPr/>
            <p:nvPr/>
          </p:nvSpPr>
          <p:spPr>
            <a:xfrm>
              <a:off x="548640" y="2434620"/>
              <a:ext cx="3749100" cy="12345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Bivariate OLS regression: Δ VIX (today) → EMB return (tomorrow)</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70% train / 30% test on daily data 2016–2026</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Predicts t+1 returns — eliminates look-ahead bias</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Strongest single predictor: ΔVIX (corr = −0.47 same day)</a:t>
              </a:r>
              <a:endParaRPr sz="1100" b="0" i="0" u="none" strike="noStrike" cap="none">
                <a:solidFill>
                  <a:srgbClr val="1E293B"/>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On the right, we tested this strategy versus a traditional buy-and-hold</a:t>
              </a:r>
              <a:endParaRPr sz="1100" b="0" i="0" u="none" strike="noStrike" cap="none">
                <a:solidFill>
                  <a:srgbClr val="1E293B"/>
                </a:solidFill>
                <a:latin typeface="Calibri"/>
                <a:ea typeface="Calibri"/>
                <a:cs typeface="Calibri"/>
                <a:sym typeface="Calibri"/>
              </a:endParaRPr>
            </a:p>
          </p:txBody>
        </p:sp>
        <p:sp>
          <p:nvSpPr>
            <p:cNvPr id="120" name="Google Shape;120;p6"/>
            <p:cNvSpPr/>
            <p:nvPr/>
          </p:nvSpPr>
          <p:spPr>
            <a:xfrm>
              <a:off x="548640" y="3664101"/>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200" b="1" i="0" u="none" strike="noStrike" cap="none">
                  <a:solidFill>
                    <a:srgbClr val="B91C1C"/>
                  </a:solidFill>
                  <a:latin typeface="Calibri"/>
                  <a:ea typeface="Calibri"/>
                  <a:cs typeface="Calibri"/>
                  <a:sym typeface="Calibri"/>
                </a:rPr>
                <a:t>Key Insight — Sign Reversal</a:t>
              </a:r>
              <a:endParaRPr sz="1200" b="0" i="0" u="none" strike="noStrike" cap="none">
                <a:solidFill>
                  <a:schemeClr val="dk1"/>
                </a:solidFill>
                <a:latin typeface="Calibri"/>
                <a:ea typeface="Calibri"/>
                <a:cs typeface="Calibri"/>
                <a:sym typeface="Calibri"/>
              </a:endParaRPr>
            </a:p>
          </p:txBody>
        </p:sp>
        <p:sp>
          <p:nvSpPr>
            <p:cNvPr id="121" name="Google Shape;121;p6"/>
            <p:cNvSpPr/>
            <p:nvPr/>
          </p:nvSpPr>
          <p:spPr>
            <a:xfrm>
              <a:off x="548640" y="3986646"/>
              <a:ext cx="37491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Correlation is negative (−0.47) but regression coefficient is positive (+0.0003). Why? Correlation is same-day panic. Regression predicts next day — when fear subsides, prices bounce back.</a:t>
              </a:r>
              <a:endParaRPr sz="1050" b="0" i="0" u="none" strike="noStrike" cap="none">
                <a:solidFill>
                  <a:schemeClr val="dk1"/>
                </a:solidFill>
                <a:latin typeface="Calibri"/>
                <a:ea typeface="Calibri"/>
                <a:cs typeface="Calibri"/>
                <a:sym typeface="Calibri"/>
              </a:endParaRPr>
            </a:p>
          </p:txBody>
        </p:sp>
      </p:grpSp>
      <p:cxnSp>
        <p:nvCxnSpPr>
          <p:cNvPr id="122" name="Google Shape;122;p6"/>
          <p:cNvCxnSpPr/>
          <p:nvPr/>
        </p:nvCxnSpPr>
        <p:spPr>
          <a:xfrm>
            <a:off x="4590675" y="2166270"/>
            <a:ext cx="8400" cy="2560200"/>
          </a:xfrm>
          <a:prstGeom prst="straightConnector1">
            <a:avLst/>
          </a:prstGeom>
          <a:noFill/>
          <a:ln w="19050" cap="flat" cmpd="sng">
            <a:solidFill>
              <a:schemeClr val="accent3"/>
            </a:solidFill>
            <a:prstDash val="solid"/>
            <a:round/>
            <a:headEnd type="none" w="sm" len="sm"/>
            <a:tailEnd type="none" w="sm" len="sm"/>
          </a:ln>
        </p:spPr>
      </p:cxnSp>
      <p:pic>
        <p:nvPicPr>
          <p:cNvPr id="123" name="Google Shape;123;p6"/>
          <p:cNvPicPr preferRelativeResize="0"/>
          <p:nvPr/>
        </p:nvPicPr>
        <p:blipFill rotWithShape="1">
          <a:blip r:embed="rId3">
            <a:alphaModFix/>
          </a:blip>
          <a:srcRect t="2363"/>
          <a:stretch/>
        </p:blipFill>
        <p:spPr>
          <a:xfrm>
            <a:off x="4544700" y="2192075"/>
            <a:ext cx="4233601" cy="2546400"/>
          </a:xfrm>
          <a:prstGeom prst="rect">
            <a:avLst/>
          </a:prstGeom>
          <a:noFill/>
          <a:ln>
            <a:noFill/>
          </a:ln>
        </p:spPr>
      </p:pic>
      <p:sp>
        <p:nvSpPr>
          <p:cNvPr id="124" name="Google Shape;124;p6"/>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g3d86e330eee_36_0"/>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3d86e330eee_36_0"/>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850"/>
              <a:buFont typeface="Calibri"/>
              <a:buNone/>
            </a:pPr>
            <a:r>
              <a:rPr lang="en-US" sz="1050" b="1" i="0" u="none" strike="noStrike" cap="none">
                <a:solidFill>
                  <a:schemeClr val="lt1"/>
                </a:solidFill>
                <a:latin typeface="Calibri"/>
                <a:ea typeface="Calibri"/>
                <a:cs typeface="Calibri"/>
                <a:sym typeface="Calibri"/>
              </a:rPr>
              <a:t>MODEL 1 - RESULTS</a:t>
            </a:r>
            <a:endParaRPr sz="1050" b="0" i="0" u="none" strike="noStrike" cap="none">
              <a:solidFill>
                <a:schemeClr val="dk1"/>
              </a:solidFill>
              <a:latin typeface="Calibri"/>
              <a:ea typeface="Calibri"/>
              <a:cs typeface="Calibri"/>
              <a:sym typeface="Calibri"/>
            </a:endParaRPr>
          </a:p>
        </p:txBody>
      </p:sp>
      <p:sp>
        <p:nvSpPr>
          <p:cNvPr id="132" name="Google Shape;132;g3d86e330eee_36_0"/>
          <p:cNvSpPr/>
          <p:nvPr/>
        </p:nvSpPr>
        <p:spPr>
          <a:xfrm>
            <a:off x="457200" y="502925"/>
            <a:ext cx="73680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Model 1 (continued)</a:t>
            </a:r>
            <a:endParaRPr sz="3000" b="0" i="0" u="none" strike="noStrike" cap="none">
              <a:solidFill>
                <a:schemeClr val="dk1"/>
              </a:solidFill>
              <a:latin typeface="Calibri"/>
              <a:ea typeface="Calibri"/>
              <a:cs typeface="Calibri"/>
              <a:sym typeface="Calibri"/>
            </a:endParaRPr>
          </a:p>
        </p:txBody>
      </p:sp>
      <p:pic>
        <p:nvPicPr>
          <p:cNvPr id="133" name="Google Shape;133;g3d86e330eee_36_0"/>
          <p:cNvPicPr preferRelativeResize="0"/>
          <p:nvPr/>
        </p:nvPicPr>
        <p:blipFill rotWithShape="1">
          <a:blip r:embed="rId3">
            <a:alphaModFix/>
          </a:blip>
          <a:srcRect t="1205" r="3082"/>
          <a:stretch/>
        </p:blipFill>
        <p:spPr>
          <a:xfrm>
            <a:off x="4690750" y="1231550"/>
            <a:ext cx="4161425" cy="3128550"/>
          </a:xfrm>
          <a:prstGeom prst="rect">
            <a:avLst/>
          </a:prstGeom>
          <a:noFill/>
          <a:ln>
            <a:noFill/>
          </a:ln>
        </p:spPr>
      </p:pic>
      <p:sp>
        <p:nvSpPr>
          <p:cNvPr id="134" name="Google Shape;134;g3d86e330eee_36_0"/>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3d86e330eee_36_0"/>
          <p:cNvGrpSpPr/>
          <p:nvPr/>
        </p:nvGrpSpPr>
        <p:grpSpPr>
          <a:xfrm>
            <a:off x="457188" y="1585091"/>
            <a:ext cx="3931869" cy="2546402"/>
            <a:chOff x="457138" y="1710947"/>
            <a:chExt cx="3931869" cy="2546402"/>
          </a:xfrm>
        </p:grpSpPr>
        <p:sp>
          <p:nvSpPr>
            <p:cNvPr id="136" name="Google Shape;136;g3d86e330eee_36_0"/>
            <p:cNvSpPr/>
            <p:nvPr/>
          </p:nvSpPr>
          <p:spPr>
            <a:xfrm>
              <a:off x="457145" y="1710947"/>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7" name="Google Shape;137;g3d86e330eee_36_0"/>
            <p:cNvGrpSpPr/>
            <p:nvPr/>
          </p:nvGrpSpPr>
          <p:grpSpPr>
            <a:xfrm>
              <a:off x="457138" y="1934169"/>
              <a:ext cx="1874400" cy="680829"/>
              <a:chOff x="4617725" y="2329900"/>
              <a:chExt cx="1874400" cy="680829"/>
            </a:xfrm>
          </p:grpSpPr>
          <p:sp>
            <p:nvSpPr>
              <p:cNvPr id="138" name="Google Shape;138;g3d86e330eee_36_0"/>
              <p:cNvSpPr/>
              <p:nvPr/>
            </p:nvSpPr>
            <p:spPr>
              <a:xfrm>
                <a:off x="4617725" y="2329900"/>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Josefin Sans"/>
                    <a:ea typeface="Josefin Sans"/>
                    <a:cs typeface="Josefin Sans"/>
                    <a:sym typeface="Josefin Sans"/>
                  </a:rPr>
                  <a:t>+0.0003</a:t>
                </a:r>
                <a:endParaRPr sz="2800" b="0" i="0" u="none" strike="noStrike" cap="none">
                  <a:solidFill>
                    <a:schemeClr val="dk1"/>
                  </a:solidFill>
                  <a:latin typeface="Josefin Sans"/>
                  <a:ea typeface="Josefin Sans"/>
                  <a:cs typeface="Josefin Sans"/>
                  <a:sym typeface="Josefin Sans"/>
                </a:endParaRPr>
              </a:p>
            </p:txBody>
          </p:sp>
          <p:sp>
            <p:nvSpPr>
              <p:cNvPr id="139" name="Google Shape;139;g3d86e330eee_36_0"/>
              <p:cNvSpPr/>
              <p:nvPr/>
            </p:nvSpPr>
            <p:spPr>
              <a:xfrm>
                <a:off x="4617725" y="2796229"/>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Δ VIX Coefficient</a:t>
                </a:r>
                <a:endParaRPr sz="1000" b="0" i="0" u="none" strike="noStrike" cap="none">
                  <a:solidFill>
                    <a:schemeClr val="dk1"/>
                  </a:solidFill>
                  <a:latin typeface="Calibri"/>
                  <a:ea typeface="Calibri"/>
                  <a:cs typeface="Calibri"/>
                  <a:sym typeface="Calibri"/>
                </a:endParaRPr>
              </a:p>
            </p:txBody>
          </p:sp>
        </p:grpSp>
        <p:sp>
          <p:nvSpPr>
            <p:cNvPr id="140" name="Google Shape;140;g3d86e330eee_36_0"/>
            <p:cNvSpPr/>
            <p:nvPr/>
          </p:nvSpPr>
          <p:spPr>
            <a:xfrm>
              <a:off x="2514545" y="1710947"/>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g3d86e330eee_36_0"/>
            <p:cNvSpPr/>
            <p:nvPr/>
          </p:nvSpPr>
          <p:spPr>
            <a:xfrm>
              <a:off x="2514550" y="1934171"/>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Josefin Sans"/>
                  <a:ea typeface="Josefin Sans"/>
                  <a:cs typeface="Josefin Sans"/>
                  <a:sym typeface="Josefin Sans"/>
                </a:rPr>
                <a:t>0.01</a:t>
              </a:r>
              <a:endParaRPr sz="2800" b="0" i="0" u="none" strike="noStrike" cap="none">
                <a:solidFill>
                  <a:schemeClr val="dk1"/>
                </a:solidFill>
                <a:latin typeface="Josefin Sans"/>
                <a:ea typeface="Josefin Sans"/>
                <a:cs typeface="Josefin Sans"/>
                <a:sym typeface="Josefin Sans"/>
              </a:endParaRPr>
            </a:p>
          </p:txBody>
        </p:sp>
        <p:sp>
          <p:nvSpPr>
            <p:cNvPr id="142" name="Google Shape;142;g3d86e330eee_36_0"/>
            <p:cNvSpPr/>
            <p:nvPr/>
          </p:nvSpPr>
          <p:spPr>
            <a:xfrm>
              <a:off x="2514550" y="2400499"/>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P</a:t>
              </a:r>
              <a:r>
                <a:rPr lang="en-US" sz="1000" b="0" i="0" u="none" strike="noStrike" cap="none">
                  <a:solidFill>
                    <a:srgbClr val="475569"/>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8"/>
                    </a:ext>
                  </a:extLst>
                </a:rPr>
                <a:t>-Value </a:t>
              </a:r>
              <a:endParaRPr sz="1000" b="0" i="0" u="none" strike="noStrike" cap="none">
                <a:solidFill>
                  <a:schemeClr val="dk1"/>
                </a:solidFill>
                <a:latin typeface="Calibri"/>
                <a:ea typeface="Calibri"/>
                <a:cs typeface="Calibri"/>
                <a:sym typeface="Calibri"/>
              </a:endParaRPr>
            </a:p>
          </p:txBody>
        </p:sp>
        <p:sp>
          <p:nvSpPr>
            <p:cNvPr id="143" name="Google Shape;143;g3d86e330eee_36_0"/>
            <p:cNvSpPr/>
            <p:nvPr/>
          </p:nvSpPr>
          <p:spPr>
            <a:xfrm>
              <a:off x="457145" y="3095149"/>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g3d86e330eee_36_0"/>
            <p:cNvSpPr/>
            <p:nvPr/>
          </p:nvSpPr>
          <p:spPr>
            <a:xfrm>
              <a:off x="457145" y="3201432"/>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475569"/>
                </a:buClr>
                <a:buSzPts val="2800"/>
                <a:buFont typeface="Georgia"/>
                <a:buNone/>
              </a:pPr>
              <a:r>
                <a:rPr lang="en-US" sz="2800" b="1" i="0" u="none" strike="noStrike" cap="none">
                  <a:solidFill>
                    <a:srgbClr val="475569"/>
                  </a:solidFill>
                  <a:latin typeface="Josefin Sans"/>
                  <a:ea typeface="Josefin Sans"/>
                  <a:cs typeface="Josefin Sans"/>
                  <a:sym typeface="Josefin Sans"/>
                </a:rPr>
                <a:t>-1.01%</a:t>
              </a:r>
              <a:endParaRPr sz="2800" b="0" i="0" u="none" strike="noStrike" cap="none">
                <a:solidFill>
                  <a:schemeClr val="dk1"/>
                </a:solidFill>
                <a:latin typeface="Josefin Sans"/>
                <a:ea typeface="Josefin Sans"/>
                <a:cs typeface="Josefin Sans"/>
                <a:sym typeface="Josefin Sans"/>
              </a:endParaRPr>
            </a:p>
          </p:txBody>
        </p:sp>
        <p:sp>
          <p:nvSpPr>
            <p:cNvPr id="145" name="Google Shape;145;g3d86e330eee_36_0"/>
            <p:cNvSpPr/>
            <p:nvPr/>
          </p:nvSpPr>
          <p:spPr>
            <a:xfrm>
              <a:off x="457145" y="3825769"/>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Test R-Squared</a:t>
              </a:r>
              <a:endParaRPr sz="1000" b="0" i="0" u="none" strike="noStrike" cap="none">
                <a:solidFill>
                  <a:schemeClr val="dk1"/>
                </a:solidFill>
                <a:latin typeface="Calibri"/>
                <a:ea typeface="Calibri"/>
                <a:cs typeface="Calibri"/>
                <a:sym typeface="Calibri"/>
              </a:endParaRPr>
            </a:p>
          </p:txBody>
        </p:sp>
        <p:sp>
          <p:nvSpPr>
            <p:cNvPr id="146" name="Google Shape;146;g3d86e330eee_36_0"/>
            <p:cNvSpPr/>
            <p:nvPr/>
          </p:nvSpPr>
          <p:spPr>
            <a:xfrm>
              <a:off x="2514545" y="3095149"/>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g3d86e330eee_36_0"/>
            <p:cNvSpPr/>
            <p:nvPr/>
          </p:nvSpPr>
          <p:spPr>
            <a:xfrm>
              <a:off x="2514607" y="3201432"/>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a:solidFill>
                    <a:srgbClr val="2B6CB0"/>
                  </a:solidFill>
                  <a:latin typeface="Josefin Sans"/>
                  <a:ea typeface="Josefin Sans"/>
                  <a:cs typeface="Josefin Sans"/>
                  <a:sym typeface="Josefin Sans"/>
                </a:rPr>
                <a:t>0.013</a:t>
              </a:r>
              <a:endParaRPr sz="2800" b="0" i="0" u="none" strike="noStrike" cap="none">
                <a:solidFill>
                  <a:schemeClr val="dk1"/>
                </a:solidFill>
                <a:latin typeface="Josefin Sans"/>
                <a:ea typeface="Josefin Sans"/>
                <a:cs typeface="Josefin Sans"/>
                <a:sym typeface="Josefin Sans"/>
              </a:endParaRPr>
            </a:p>
          </p:txBody>
        </p:sp>
        <p:sp>
          <p:nvSpPr>
            <p:cNvPr id="148" name="Google Shape;148;g3d86e330eee_36_0"/>
            <p:cNvSpPr/>
            <p:nvPr/>
          </p:nvSpPr>
          <p:spPr>
            <a:xfrm>
              <a:off x="2514545" y="3825769"/>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Sharpe Ratio</a:t>
              </a:r>
              <a:endParaRPr sz="1000" b="0" i="0" u="none" strike="noStrike" cap="none">
                <a:solidFill>
                  <a:schemeClr val="dk1"/>
                </a:solidFill>
                <a:latin typeface="Calibri"/>
                <a:ea typeface="Calibri"/>
                <a:cs typeface="Calibri"/>
                <a:sym typeface="Calibri"/>
              </a:endParaRPr>
            </a:p>
          </p:txBody>
        </p:sp>
      </p:grpSp>
      <p:sp>
        <p:nvSpPr>
          <p:cNvPr id="149" name="Google Shape;149;g3d86e330eee_36_0"/>
          <p:cNvSpPr/>
          <p:nvPr/>
        </p:nvSpPr>
        <p:spPr>
          <a:xfrm>
            <a:off x="365700" y="4507175"/>
            <a:ext cx="8412600" cy="38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g3d86e330eee_36_0"/>
          <p:cNvSpPr/>
          <p:nvPr/>
        </p:nvSpPr>
        <p:spPr>
          <a:xfrm>
            <a:off x="457153" y="4555165"/>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Negative Test R² (-1.01%) is standard in financial return prediction because of high noise in daily EMB returns. The key finding is that Δ VIX is statistically significant and directionally correct for short-term reversals.</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5"/>
        <p:cNvGrpSpPr/>
        <p:nvPr/>
      </p:nvGrpSpPr>
      <p:grpSpPr>
        <a:xfrm>
          <a:off x="0" y="0"/>
          <a:ext cx="0" cy="0"/>
          <a:chOff x="0" y="0"/>
          <a:chExt cx="0" cy="0"/>
        </a:xfrm>
      </p:grpSpPr>
      <p:sp>
        <p:nvSpPr>
          <p:cNvPr id="156" name="Google Shape;156;g39789fe7b62_1_251"/>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g39789fe7b62_1_251"/>
          <p:cNvSpPr/>
          <p:nvPr/>
        </p:nvSpPr>
        <p:spPr>
          <a:xfrm>
            <a:off x="973050" y="1750350"/>
            <a:ext cx="7197900" cy="16428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Model 2 </a:t>
            </a:r>
            <a:endParaRPr sz="52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All Three Signals</a:t>
            </a:r>
            <a:endParaRPr sz="5200" b="1" i="0" u="none" strike="noStrike" cap="none">
              <a:solidFill>
                <a:srgbClr val="FFFFFF"/>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1"/>
        <p:cNvGrpSpPr/>
        <p:nvPr/>
      </p:nvGrpSpPr>
      <p:grpSpPr>
        <a:xfrm>
          <a:off x="0" y="0"/>
          <a:ext cx="0" cy="0"/>
          <a:chOff x="0" y="0"/>
          <a:chExt cx="0" cy="0"/>
        </a:xfrm>
      </p:grpSpPr>
      <p:sp>
        <p:nvSpPr>
          <p:cNvPr id="162" name="Google Shape;162;g3d86e330eee_137_0"/>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g3d86e330eee_137_0"/>
          <p:cNvSpPr/>
          <p:nvPr/>
        </p:nvSpPr>
        <p:spPr>
          <a:xfrm>
            <a:off x="457200" y="146304"/>
            <a:ext cx="2194500" cy="2742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FFFFF"/>
                </a:solidFill>
                <a:latin typeface="Calibri"/>
                <a:ea typeface="Calibri"/>
                <a:cs typeface="Calibri"/>
                <a:sym typeface="Calibri"/>
              </a:rPr>
              <a:t>MODEL 2 - SELECTION</a:t>
            </a:r>
            <a:endParaRPr sz="1050" b="1" i="0" u="none" strike="noStrike" cap="none">
              <a:solidFill>
                <a:srgbClr val="FFFFFF"/>
              </a:solidFill>
              <a:latin typeface="Calibri"/>
              <a:ea typeface="Calibri"/>
              <a:cs typeface="Calibri"/>
              <a:sym typeface="Calibri"/>
            </a:endParaRPr>
          </a:p>
        </p:txBody>
      </p:sp>
      <p:sp>
        <p:nvSpPr>
          <p:cNvPr id="164" name="Google Shape;164;g3d86e330eee_137_0"/>
          <p:cNvSpPr/>
          <p:nvPr/>
        </p:nvSpPr>
        <p:spPr>
          <a:xfrm>
            <a:off x="457200" y="502925"/>
            <a:ext cx="7741200" cy="6585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C1A35"/>
                </a:solidFill>
                <a:latin typeface="Georgia"/>
                <a:ea typeface="Georgia"/>
                <a:cs typeface="Georgia"/>
                <a:sym typeface="Georgia"/>
              </a:rPr>
              <a:t>Why Also Use Oil or Δ Credit Spreads?</a:t>
            </a:r>
            <a:endParaRPr sz="3000" b="1" i="0" u="none" strike="noStrike" cap="none">
              <a:solidFill>
                <a:srgbClr val="0C1A35"/>
              </a:solidFill>
              <a:latin typeface="Georgia"/>
              <a:ea typeface="Georgia"/>
              <a:cs typeface="Georgia"/>
              <a:sym typeface="Georgia"/>
            </a:endParaRPr>
          </a:p>
        </p:txBody>
      </p:sp>
      <p:grpSp>
        <p:nvGrpSpPr>
          <p:cNvPr id="165" name="Google Shape;165;g3d86e330eee_137_0"/>
          <p:cNvGrpSpPr/>
          <p:nvPr/>
        </p:nvGrpSpPr>
        <p:grpSpPr>
          <a:xfrm>
            <a:off x="530925" y="1637075"/>
            <a:ext cx="3972000" cy="2525475"/>
            <a:chOff x="457200" y="2286000"/>
            <a:chExt cx="3972000" cy="2525475"/>
          </a:xfrm>
        </p:grpSpPr>
        <p:sp>
          <p:nvSpPr>
            <p:cNvPr id="166" name="Google Shape;166;g3d86e330eee_137_0"/>
            <p:cNvSpPr/>
            <p:nvPr/>
          </p:nvSpPr>
          <p:spPr>
            <a:xfrm>
              <a:off x="457200" y="2286000"/>
              <a:ext cx="3972000" cy="2190900"/>
            </a:xfrm>
            <a:prstGeom prst="roundRect">
              <a:avLst>
                <a:gd name="adj" fmla="val 3478"/>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g3d86e330eee_137_0"/>
            <p:cNvSpPr/>
            <p:nvPr/>
          </p:nvSpPr>
          <p:spPr>
            <a:xfrm>
              <a:off x="457200" y="2286000"/>
              <a:ext cx="3972000" cy="76200"/>
            </a:xfrm>
            <a:prstGeom prst="roundRect">
              <a:avLst>
                <a:gd name="adj" fmla="val 50000"/>
              </a:avLst>
            </a:prstGeom>
            <a:solidFill>
              <a:srgbClr val="1A3F7A"/>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g3d86e330eee_137_0"/>
            <p:cNvSpPr txBox="1"/>
            <p:nvPr/>
          </p:nvSpPr>
          <p:spPr>
            <a:xfrm>
              <a:off x="457200" y="2428875"/>
              <a:ext cx="3972000" cy="2382600"/>
            </a:xfrm>
            <a:prstGeom prst="rect">
              <a:avLst/>
            </a:prstGeom>
            <a:noFill/>
            <a:ln>
              <a:noFill/>
            </a:ln>
          </p:spPr>
          <p:txBody>
            <a:bodyPr spcFirstLastPara="1" wrap="square" lIns="190500" tIns="190500" rIns="190500" bIns="1905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1A3F7A"/>
                  </a:solidFill>
                  <a:latin typeface="Calibri"/>
                  <a:ea typeface="Calibri"/>
                  <a:cs typeface="Calibri"/>
                  <a:sym typeface="Calibri"/>
                </a:rPr>
                <a:t>Δ Credit Spreads</a:t>
              </a:r>
              <a:endParaRPr sz="1800" b="1" i="0" u="none" strike="noStrike" cap="none">
                <a:solidFill>
                  <a:srgbClr val="1A3F7A"/>
                </a:solidFill>
                <a:latin typeface="Calibri"/>
                <a:ea typeface="Calibri"/>
                <a:cs typeface="Calibri"/>
                <a:sym typeface="Calibri"/>
              </a:endParaRPr>
            </a:p>
            <a:p>
              <a:pPr marL="0" marR="0" lvl="0" indent="0" algn="l" rtl="0">
                <a:lnSpc>
                  <a:spcPct val="100000"/>
                </a:lnSpc>
                <a:spcBef>
                  <a:spcPts val="750"/>
                </a:spcBef>
                <a:spcAft>
                  <a:spcPts val="0"/>
                </a:spcAft>
                <a:buClr>
                  <a:srgbClr val="000000"/>
                </a:buClr>
                <a:buSzPts val="1200"/>
                <a:buFont typeface="Arial"/>
                <a:buNone/>
              </a:pPr>
              <a:r>
                <a:rPr lang="en-US" sz="1200" b="0" i="0" u="none" strike="noStrike" cap="none">
                  <a:solidFill>
                    <a:srgbClr val="334155"/>
                  </a:solidFill>
                  <a:latin typeface="Calibri"/>
                  <a:ea typeface="Calibri"/>
                  <a:cs typeface="Calibri"/>
                  <a:sym typeface="Calibri"/>
                </a:rPr>
                <a:t>Measures default probability and US investment climate.</a:t>
              </a:r>
              <a:endParaRPr sz="1200" b="0" i="0" u="none" strike="noStrike" cap="none">
                <a:solidFill>
                  <a:srgbClr val="334155"/>
                </a:solidFill>
                <a:latin typeface="Calibri"/>
                <a:ea typeface="Calibri"/>
                <a:cs typeface="Calibri"/>
                <a:sym typeface="Calibri"/>
              </a:endParaRPr>
            </a:p>
            <a:p>
              <a:pPr marL="457200" marR="0" lvl="0" indent="-301625" algn="l" rtl="0">
                <a:lnSpc>
                  <a:spcPct val="100000"/>
                </a:lnSpc>
                <a:spcBef>
                  <a:spcPts val="750"/>
                </a:spcBef>
                <a:spcAft>
                  <a:spcPts val="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Widening Spreads:</a:t>
              </a:r>
              <a:r>
                <a:rPr lang="en-US" sz="1150" b="0" i="0" u="none" strike="noStrike" cap="none">
                  <a:solidFill>
                    <a:srgbClr val="1E293B"/>
                  </a:solidFill>
                  <a:latin typeface="Calibri"/>
                  <a:ea typeface="Calibri"/>
                  <a:cs typeface="Calibri"/>
                  <a:sym typeface="Calibri"/>
                </a:rPr>
                <a:t> Indicates increasing risk and worsening financial conditions.</a:t>
              </a:r>
              <a:endParaRPr sz="1150" b="0" i="0" u="none" strike="noStrike" cap="none">
                <a:solidFill>
                  <a:srgbClr val="1E293B"/>
                </a:solidFill>
                <a:latin typeface="Calibri"/>
                <a:ea typeface="Calibri"/>
                <a:cs typeface="Calibri"/>
                <a:sym typeface="Calibri"/>
              </a:endParaRPr>
            </a:p>
            <a:p>
              <a:pPr marL="457200" marR="0" lvl="0" indent="-301625" algn="l" rtl="0">
                <a:lnSpc>
                  <a:spcPct val="100000"/>
                </a:lnSpc>
                <a:spcBef>
                  <a:spcPts val="600"/>
                </a:spcBef>
                <a:spcAft>
                  <a:spcPts val="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Return Impact:</a:t>
              </a:r>
              <a:r>
                <a:rPr lang="en-US" sz="1150" b="0" i="0" u="none" strike="noStrike" cap="none">
                  <a:solidFill>
                    <a:srgbClr val="1E293B"/>
                  </a:solidFill>
                  <a:latin typeface="Calibri"/>
                  <a:ea typeface="Calibri"/>
                  <a:cs typeface="Calibri"/>
                  <a:sym typeface="Calibri"/>
                </a:rPr>
                <a:t> Clear link between positive change in spreads (widening) and a </a:t>
              </a:r>
              <a:r>
                <a:rPr lang="en-US" sz="1150" b="1" i="0" u="none" strike="noStrike" cap="none">
                  <a:solidFill>
                    <a:srgbClr val="1E293B"/>
                  </a:solidFill>
                  <a:latin typeface="Calibri"/>
                  <a:ea typeface="Calibri"/>
                  <a:cs typeface="Calibri"/>
                  <a:sym typeface="Calibri"/>
                </a:rPr>
                <a:t>reduction in EMB returns</a:t>
              </a:r>
              <a:r>
                <a:rPr lang="en-US" sz="1150" b="0" i="0" u="none" strike="noStrike" cap="none">
                  <a:solidFill>
                    <a:srgbClr val="1E293B"/>
                  </a:solidFill>
                  <a:latin typeface="Calibri"/>
                  <a:ea typeface="Calibri"/>
                  <a:cs typeface="Calibri"/>
                  <a:sym typeface="Calibri"/>
                </a:rPr>
                <a:t>.</a:t>
              </a:r>
              <a:endParaRPr sz="1150" b="0" i="0" u="none" strike="noStrike" cap="none">
                <a:solidFill>
                  <a:srgbClr val="1E293B"/>
                </a:solidFill>
                <a:latin typeface="Calibri"/>
                <a:ea typeface="Calibri"/>
                <a:cs typeface="Calibri"/>
                <a:sym typeface="Calibri"/>
              </a:endParaRPr>
            </a:p>
          </p:txBody>
        </p:sp>
      </p:grpSp>
      <p:grpSp>
        <p:nvGrpSpPr>
          <p:cNvPr id="169" name="Google Shape;169;g3d86e330eee_137_0"/>
          <p:cNvGrpSpPr/>
          <p:nvPr/>
        </p:nvGrpSpPr>
        <p:grpSpPr>
          <a:xfrm>
            <a:off x="4714800" y="1637075"/>
            <a:ext cx="3972000" cy="2190900"/>
            <a:chOff x="4714875" y="2286000"/>
            <a:chExt cx="3972000" cy="2190900"/>
          </a:xfrm>
        </p:grpSpPr>
        <p:sp>
          <p:nvSpPr>
            <p:cNvPr id="170" name="Google Shape;170;g3d86e330eee_137_0"/>
            <p:cNvSpPr/>
            <p:nvPr/>
          </p:nvSpPr>
          <p:spPr>
            <a:xfrm>
              <a:off x="4714875" y="2286000"/>
              <a:ext cx="3972000" cy="2190900"/>
            </a:xfrm>
            <a:prstGeom prst="roundRect">
              <a:avLst>
                <a:gd name="adj" fmla="val 3478"/>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g3d86e330eee_137_0"/>
            <p:cNvSpPr/>
            <p:nvPr/>
          </p:nvSpPr>
          <p:spPr>
            <a:xfrm>
              <a:off x="4714875" y="2286000"/>
              <a:ext cx="3972000" cy="76200"/>
            </a:xfrm>
            <a:prstGeom prst="roundRect">
              <a:avLst>
                <a:gd name="adj" fmla="val 50000"/>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g3d86e330eee_137_0"/>
            <p:cNvSpPr txBox="1"/>
            <p:nvPr/>
          </p:nvSpPr>
          <p:spPr>
            <a:xfrm>
              <a:off x="4714875" y="2428875"/>
              <a:ext cx="3972000" cy="2047800"/>
            </a:xfrm>
            <a:prstGeom prst="rect">
              <a:avLst/>
            </a:prstGeom>
            <a:noFill/>
            <a:ln>
              <a:noFill/>
            </a:ln>
          </p:spPr>
          <p:txBody>
            <a:bodyPr spcFirstLastPara="1" wrap="square" lIns="190500" tIns="190500" rIns="190500" bIns="1905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C4A03"/>
                  </a:solidFill>
                  <a:latin typeface="Calibri"/>
                  <a:ea typeface="Calibri"/>
                  <a:cs typeface="Calibri"/>
                  <a:sym typeface="Calibri"/>
                </a:rPr>
                <a:t>Oil Returns</a:t>
              </a:r>
              <a:endParaRPr sz="1800" b="1" i="0" u="none" strike="noStrike" cap="none">
                <a:solidFill>
                  <a:srgbClr val="7C4A03"/>
                </a:solidFill>
                <a:latin typeface="Calibri"/>
                <a:ea typeface="Calibri"/>
                <a:cs typeface="Calibri"/>
                <a:sym typeface="Calibri"/>
              </a:endParaRPr>
            </a:p>
            <a:p>
              <a:pPr marL="0" marR="0" lvl="0" indent="0" algn="l" rtl="0">
                <a:lnSpc>
                  <a:spcPct val="100000"/>
                </a:lnSpc>
                <a:spcBef>
                  <a:spcPts val="750"/>
                </a:spcBef>
                <a:spcAft>
                  <a:spcPts val="0"/>
                </a:spcAft>
                <a:buClr>
                  <a:srgbClr val="000000"/>
                </a:buClr>
                <a:buSzPts val="1200"/>
                <a:buFont typeface="Arial"/>
                <a:buNone/>
              </a:pPr>
              <a:r>
                <a:rPr lang="en-US" sz="1200" b="0" i="0" u="none" strike="noStrike" cap="none">
                  <a:solidFill>
                    <a:srgbClr val="334155"/>
                  </a:solidFill>
                  <a:latin typeface="Calibri"/>
                  <a:ea typeface="Calibri"/>
                  <a:cs typeface="Calibri"/>
                  <a:sym typeface="Calibri"/>
                </a:rPr>
                <a:t>Major commodity export for EMB nations.</a:t>
              </a:r>
              <a:endParaRPr sz="1150" b="0" i="0" u="none" strike="noStrike" cap="none">
                <a:solidFill>
                  <a:srgbClr val="1E293B"/>
                </a:solidFill>
                <a:latin typeface="Calibri"/>
                <a:ea typeface="Calibri"/>
                <a:cs typeface="Calibri"/>
                <a:sym typeface="Calibri"/>
              </a:endParaRPr>
            </a:p>
            <a:p>
              <a:pPr marL="457200" marR="0" lvl="0" indent="-301625" algn="l" rtl="0">
                <a:lnSpc>
                  <a:spcPct val="100000"/>
                </a:lnSpc>
                <a:spcBef>
                  <a:spcPts val="750"/>
                </a:spcBef>
                <a:spcAft>
                  <a:spcPts val="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Return Impact:</a:t>
              </a:r>
              <a:r>
                <a:rPr lang="en-US" sz="1150" b="0" i="0" u="none" strike="noStrike" cap="none">
                  <a:solidFill>
                    <a:srgbClr val="1E293B"/>
                  </a:solidFill>
                  <a:latin typeface="Calibri"/>
                  <a:ea typeface="Calibri"/>
                  <a:cs typeface="Calibri"/>
                  <a:sym typeface="Calibri"/>
                </a:rPr>
                <a:t> Sudden spikes in oil may signify massive </a:t>
              </a:r>
              <a:r>
                <a:rPr lang="en-US" sz="1150" b="1" i="0" u="none" strike="noStrike" cap="none">
                  <a:solidFill>
                    <a:srgbClr val="1E293B"/>
                  </a:solidFill>
                  <a:latin typeface="Calibri"/>
                  <a:ea typeface="Calibri"/>
                  <a:cs typeface="Calibri"/>
                  <a:sym typeface="Calibri"/>
                </a:rPr>
                <a:t>geopolitical volatility</a:t>
              </a:r>
              <a:r>
                <a:rPr lang="en-US" sz="1150" b="0" i="0" u="none" strike="noStrike" cap="none">
                  <a:solidFill>
                    <a:srgbClr val="1E293B"/>
                  </a:solidFill>
                  <a:latin typeface="Calibri"/>
                  <a:ea typeface="Calibri"/>
                  <a:cs typeface="Calibri"/>
                  <a:sym typeface="Calibri"/>
                </a:rPr>
                <a:t>.</a:t>
              </a:r>
              <a:endParaRPr sz="1150" b="0" i="0" u="none" strike="noStrike" cap="none">
                <a:solidFill>
                  <a:srgbClr val="1E293B"/>
                </a:solidFill>
                <a:latin typeface="Calibri"/>
                <a:ea typeface="Calibri"/>
                <a:cs typeface="Calibri"/>
                <a:sym typeface="Calibri"/>
              </a:endParaRPr>
            </a:p>
            <a:p>
              <a:pPr marL="457200" marR="0" lvl="0" indent="-301625" algn="l" rtl="0">
                <a:lnSpc>
                  <a:spcPct val="100000"/>
                </a:lnSpc>
                <a:spcBef>
                  <a:spcPts val="0"/>
                </a:spcBef>
                <a:spcAft>
                  <a:spcPts val="600"/>
                </a:spcAft>
                <a:buClr>
                  <a:srgbClr val="1E293B"/>
                </a:buClr>
                <a:buSzPts val="1150"/>
                <a:buFont typeface="Calibri"/>
                <a:buChar char="●"/>
              </a:pPr>
              <a:r>
                <a:rPr lang="en-US" sz="1150" b="1" i="0" u="none" strike="noStrike" cap="none">
                  <a:solidFill>
                    <a:srgbClr val="1E293B"/>
                  </a:solidFill>
                  <a:latin typeface="Calibri"/>
                  <a:ea typeface="Calibri"/>
                  <a:cs typeface="Calibri"/>
                  <a:sym typeface="Calibri"/>
                </a:rPr>
                <a:t>One Complication:</a:t>
              </a:r>
              <a:r>
                <a:rPr lang="en-US" sz="1150" b="0" i="0" u="none" strike="noStrike" cap="none">
                  <a:solidFill>
                    <a:srgbClr val="1E293B"/>
                  </a:solidFill>
                  <a:latin typeface="Calibri"/>
                  <a:ea typeface="Calibri"/>
                  <a:cs typeface="Calibri"/>
                  <a:sym typeface="Calibri"/>
                </a:rPr>
                <a:t> Slow longer-term rises in the price may signify a stronger economy and currency for exporting countries.</a:t>
              </a:r>
              <a:endParaRPr sz="1150" b="0" i="0" u="none" strike="noStrike" cap="none">
                <a:solidFill>
                  <a:srgbClr val="1E293B"/>
                </a:solidFill>
                <a:latin typeface="Calibri"/>
                <a:ea typeface="Calibri"/>
                <a:cs typeface="Calibri"/>
                <a:sym typeface="Calibri"/>
              </a:endParaRPr>
            </a:p>
          </p:txBody>
        </p:sp>
      </p:grpSp>
      <p:sp>
        <p:nvSpPr>
          <p:cNvPr id="173" name="Google Shape;173;g3d86e330eee_137_0"/>
          <p:cNvSpPr txBox="1"/>
          <p:nvPr/>
        </p:nvSpPr>
        <p:spPr>
          <a:xfrm>
            <a:off x="457200" y="4162550"/>
            <a:ext cx="82296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1" u="none" strike="noStrike" cap="none">
                <a:solidFill>
                  <a:srgbClr val="475569"/>
                </a:solidFill>
                <a:latin typeface="Calibri"/>
                <a:ea typeface="Calibri"/>
                <a:cs typeface="Calibri"/>
                <a:sym typeface="Calibri"/>
              </a:rPr>
              <a:t>By focusing on the delta (change) of these variables, we capture the momentum and shock factors essential for predicting short-term emerging market bond performance.</a:t>
            </a:r>
            <a:endParaRPr sz="1000" b="0" i="1" u="none" strike="noStrike" cap="none">
              <a:solidFill>
                <a:srgbClr val="475569"/>
              </a:solidFill>
              <a:latin typeface="Calibri"/>
              <a:ea typeface="Calibri"/>
              <a:cs typeface="Calibri"/>
              <a:sym typeface="Calibri"/>
            </a:endParaRPr>
          </a:p>
        </p:txBody>
      </p:sp>
      <p:sp>
        <p:nvSpPr>
          <p:cNvPr id="174" name="Google Shape;174;g3d86e330eee_137_0"/>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sp>
        <p:nvSpPr>
          <p:cNvPr id="180" name="Google Shape;180;g39789fe7b62_1_268"/>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g39789fe7b62_1_268"/>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2 - INTRO</a:t>
            </a:r>
            <a:endParaRPr sz="1050" b="0" i="0" u="none" strike="noStrike" cap="none">
              <a:solidFill>
                <a:schemeClr val="dk1"/>
              </a:solidFill>
              <a:latin typeface="Calibri"/>
              <a:ea typeface="Calibri"/>
              <a:cs typeface="Calibri"/>
              <a:sym typeface="Calibri"/>
            </a:endParaRPr>
          </a:p>
        </p:txBody>
      </p:sp>
      <p:sp>
        <p:nvSpPr>
          <p:cNvPr id="182" name="Google Shape;182;g39789fe7b62_1_268"/>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Model 2: Setup &amp; Results</a:t>
            </a:r>
            <a:endParaRPr sz="3000" b="0" i="0" u="none" strike="noStrike" cap="none">
              <a:solidFill>
                <a:schemeClr val="dk1"/>
              </a:solidFill>
              <a:latin typeface="Calibri"/>
              <a:ea typeface="Calibri"/>
              <a:cs typeface="Calibri"/>
              <a:sym typeface="Calibri"/>
            </a:endParaRPr>
          </a:p>
        </p:txBody>
      </p:sp>
      <p:sp>
        <p:nvSpPr>
          <p:cNvPr id="183" name="Google Shape;183;g39789fe7b62_1_268"/>
          <p:cNvSpPr/>
          <p:nvPr/>
        </p:nvSpPr>
        <p:spPr>
          <a:xfrm>
            <a:off x="280705" y="1486219"/>
            <a:ext cx="3977700" cy="2546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g39789fe7b62_1_268"/>
          <p:cNvSpPr/>
          <p:nvPr/>
        </p:nvSpPr>
        <p:spPr>
          <a:xfrm>
            <a:off x="280703" y="1486219"/>
            <a:ext cx="91500" cy="2546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5" name="Google Shape;185;g39789fe7b62_1_268"/>
          <p:cNvGrpSpPr/>
          <p:nvPr/>
        </p:nvGrpSpPr>
        <p:grpSpPr>
          <a:xfrm>
            <a:off x="463595" y="1559361"/>
            <a:ext cx="3749110" cy="2430291"/>
            <a:chOff x="548640" y="2163161"/>
            <a:chExt cx="3749110" cy="2430291"/>
          </a:xfrm>
        </p:grpSpPr>
        <p:sp>
          <p:nvSpPr>
            <p:cNvPr id="186" name="Google Shape;186;g39789fe7b62_1_268"/>
            <p:cNvSpPr/>
            <p:nvPr/>
          </p:nvSpPr>
          <p:spPr>
            <a:xfrm>
              <a:off x="548640" y="2163161"/>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250" b="1" i="0" u="none" strike="noStrike" cap="none">
                  <a:solidFill>
                    <a:srgbClr val="1A3F7A"/>
                  </a:solidFill>
                  <a:latin typeface="Calibri"/>
                  <a:ea typeface="Calibri"/>
                  <a:cs typeface="Calibri"/>
                  <a:sym typeface="Calibri"/>
                </a:rPr>
                <a:t>Methodology</a:t>
              </a:r>
              <a:endParaRPr sz="1250" b="0" i="0" u="none" strike="noStrike" cap="none">
                <a:solidFill>
                  <a:schemeClr val="dk1"/>
                </a:solidFill>
                <a:latin typeface="Calibri"/>
                <a:ea typeface="Calibri"/>
                <a:cs typeface="Calibri"/>
                <a:sym typeface="Calibri"/>
              </a:endParaRPr>
            </a:p>
          </p:txBody>
        </p:sp>
        <p:sp>
          <p:nvSpPr>
            <p:cNvPr id="187" name="Google Shape;187;g39789fe7b62_1_268"/>
            <p:cNvSpPr/>
            <p:nvPr/>
          </p:nvSpPr>
          <p:spPr>
            <a:xfrm>
              <a:off x="548650" y="2485652"/>
              <a:ext cx="3749100" cy="21078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Using 3 factors to predict EMB Returns, and we have 2 choices: long (only invest today if predicting EMB return tomorrow is positive) or stay out (do nothing)</a:t>
              </a:r>
              <a:endParaRPr sz="1100" b="0" i="0" u="none" strike="noStrike" cap="none">
                <a:solidFill>
                  <a:srgbClr val="1E293B"/>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Corrected for heteroskedasticity by using HC3 (Heteroskedacity-Consistent standard errors type 3) - helps provide more reliable p-values by ensuring outliers don't make your p-values look smaller </a:t>
              </a:r>
              <a:endParaRPr sz="1100" b="0" i="0" u="none" strike="noStrike" cap="none">
                <a:solidFill>
                  <a:srgbClr val="1E293B"/>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chemeClr val="dk1"/>
                  </a:solidFill>
                  <a:latin typeface="Calibri"/>
                  <a:ea typeface="Calibri"/>
                  <a:cs typeface="Calibri"/>
                  <a:sym typeface="Calibri"/>
                </a:rPr>
                <a:t>The test R-Squared decreased from -0.0101 (for delta_vix only) to -0.0149 → this means the multivariate model became less accurate in predicting EMB returns</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chemeClr val="dk1"/>
                  </a:solidFill>
                  <a:latin typeface="Calibri"/>
                  <a:ea typeface="Calibri"/>
                  <a:cs typeface="Calibri"/>
                  <a:sym typeface="Calibri"/>
                </a:rPr>
                <a:t>We plotted the cumulative returns of our strategy and compared it to a buy and hold strategy </a:t>
              </a:r>
              <a:endParaRPr sz="1100" b="0" i="0" u="none" strike="noStrike" cap="none">
                <a:solidFill>
                  <a:schemeClr val="dk1"/>
                </a:solidFill>
                <a:latin typeface="Calibri"/>
                <a:ea typeface="Calibri"/>
                <a:cs typeface="Calibri"/>
                <a:sym typeface="Calibri"/>
              </a:endParaRPr>
            </a:p>
          </p:txBody>
        </p:sp>
      </p:grpSp>
      <p:sp>
        <p:nvSpPr>
          <p:cNvPr id="188" name="Google Shape;188;g39789fe7b62_1_268"/>
          <p:cNvSpPr/>
          <p:nvPr/>
        </p:nvSpPr>
        <p:spPr>
          <a:xfrm>
            <a:off x="365700" y="4168725"/>
            <a:ext cx="8412600" cy="38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g39789fe7b62_1_268"/>
          <p:cNvSpPr/>
          <p:nvPr/>
        </p:nvSpPr>
        <p:spPr>
          <a:xfrm>
            <a:off x="457153" y="4216715"/>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Negative Test R² (-1.01%) is standard in financial return prediction because of high noise in daily EMB returns. The key finding is that Δ VIX is statistically significant and directionally correct for short-term reversals.</a:t>
            </a:r>
            <a:endParaRPr sz="1000" b="0" i="0" u="none" strike="noStrike" cap="none">
              <a:solidFill>
                <a:schemeClr val="dk1"/>
              </a:solidFill>
              <a:latin typeface="Calibri"/>
              <a:ea typeface="Calibri"/>
              <a:cs typeface="Calibri"/>
              <a:sym typeface="Calibri"/>
            </a:endParaRPr>
          </a:p>
        </p:txBody>
      </p:sp>
      <p:pic>
        <p:nvPicPr>
          <p:cNvPr id="190" name="Google Shape;190;g39789fe7b62_1_268"/>
          <p:cNvPicPr preferRelativeResize="0"/>
          <p:nvPr/>
        </p:nvPicPr>
        <p:blipFill rotWithShape="1">
          <a:blip r:embed="rId3">
            <a:alphaModFix/>
          </a:blip>
          <a:srcRect/>
          <a:stretch/>
        </p:blipFill>
        <p:spPr>
          <a:xfrm>
            <a:off x="4351280" y="1648708"/>
            <a:ext cx="4495749" cy="2251590"/>
          </a:xfrm>
          <a:prstGeom prst="rect">
            <a:avLst/>
          </a:prstGeom>
          <a:noFill/>
          <a:ln>
            <a:noFill/>
          </a:ln>
        </p:spPr>
      </p:pic>
      <p:sp>
        <p:nvSpPr>
          <p:cNvPr id="191" name="Google Shape;191;g39789fe7b62_1_268"/>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sp>
        <p:nvSpPr>
          <p:cNvPr id="197" name="Google Shape;197;g3d86e330eee_36_39"/>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g3d86e330eee_36_39"/>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2 - 3 FACTOR MODEL</a:t>
            </a:r>
            <a:endParaRPr sz="1050" b="0" i="0" u="none" strike="noStrike" cap="none">
              <a:solidFill>
                <a:schemeClr val="dk1"/>
              </a:solidFill>
              <a:latin typeface="Calibri"/>
              <a:ea typeface="Calibri"/>
              <a:cs typeface="Calibri"/>
              <a:sym typeface="Calibri"/>
            </a:endParaRPr>
          </a:p>
        </p:txBody>
      </p:sp>
      <p:sp>
        <p:nvSpPr>
          <p:cNvPr id="199" name="Google Shape;199;g3d86e330eee_36_39"/>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Model 2: 3 Factor Model (Ridge) </a:t>
            </a:r>
            <a:endParaRPr sz="3000" b="1" i="0" u="none" strike="noStrike" cap="none">
              <a:solidFill>
                <a:srgbClr val="0C1A35"/>
              </a:solidFill>
              <a:latin typeface="Georgia"/>
              <a:ea typeface="Georgia"/>
              <a:cs typeface="Georgia"/>
              <a:sym typeface="Georgia"/>
            </a:endParaRPr>
          </a:p>
        </p:txBody>
      </p:sp>
      <p:sp>
        <p:nvSpPr>
          <p:cNvPr id="200" name="Google Shape;200;g3d86e330eee_36_39"/>
          <p:cNvSpPr/>
          <p:nvPr/>
        </p:nvSpPr>
        <p:spPr>
          <a:xfrm>
            <a:off x="365750" y="1333128"/>
            <a:ext cx="3977700" cy="2534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01" name="Google Shape;201;g3d86e330eee_36_39"/>
          <p:cNvSpPr/>
          <p:nvPr/>
        </p:nvSpPr>
        <p:spPr>
          <a:xfrm>
            <a:off x="365750" y="1341773"/>
            <a:ext cx="91500" cy="2534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grpSp>
        <p:nvGrpSpPr>
          <p:cNvPr id="202" name="Google Shape;202;g3d86e330eee_36_39"/>
          <p:cNvGrpSpPr/>
          <p:nvPr/>
        </p:nvGrpSpPr>
        <p:grpSpPr>
          <a:xfrm>
            <a:off x="718888" y="1528425"/>
            <a:ext cx="3587426" cy="2374154"/>
            <a:chOff x="718885" y="2192080"/>
            <a:chExt cx="3587426" cy="1242622"/>
          </a:xfrm>
        </p:grpSpPr>
        <p:sp>
          <p:nvSpPr>
            <p:cNvPr id="203" name="Google Shape;203;g3d86e330eee_36_39"/>
            <p:cNvSpPr/>
            <p:nvPr/>
          </p:nvSpPr>
          <p:spPr>
            <a:xfrm>
              <a:off x="718885" y="2192080"/>
              <a:ext cx="3492000" cy="42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450" b="1" i="0" u="none" strike="noStrike" cap="none">
                  <a:solidFill>
                    <a:srgbClr val="1A3F7A"/>
                  </a:solidFill>
                  <a:latin typeface="Calibri"/>
                  <a:ea typeface="Calibri"/>
                  <a:cs typeface="Calibri"/>
                  <a:sym typeface="Calibri"/>
                </a:rPr>
                <a:t>3 Factor Model (Ridge) - Delta Vix, Delta Credit Spreads, &amp; Oil Returns </a:t>
              </a:r>
              <a:endParaRPr sz="1450" b="1" i="0" u="none" strike="noStrike" cap="none">
                <a:solidFill>
                  <a:srgbClr val="1A3F7A"/>
                </a:solidFill>
                <a:latin typeface="Calibri"/>
                <a:ea typeface="Calibri"/>
                <a:cs typeface="Calibri"/>
                <a:sym typeface="Calibri"/>
              </a:endParaRPr>
            </a:p>
            <a:p>
              <a:pPr marL="0" marR="0" lvl="0" indent="0" algn="l" rtl="0">
                <a:lnSpc>
                  <a:spcPct val="100000"/>
                </a:lnSpc>
                <a:spcBef>
                  <a:spcPts val="0"/>
                </a:spcBef>
                <a:spcAft>
                  <a:spcPts val="0"/>
                </a:spcAft>
                <a:buClr>
                  <a:srgbClr val="1A3F7A"/>
                </a:buClr>
                <a:buSzPts val="1250"/>
                <a:buFont typeface="Calibri"/>
                <a:buNone/>
              </a:pPr>
              <a:endParaRPr sz="1450" b="1" i="0" u="none" strike="noStrike" cap="none">
                <a:solidFill>
                  <a:srgbClr val="1A3F7A"/>
                </a:solidFill>
                <a:latin typeface="Calibri"/>
                <a:ea typeface="Calibri"/>
                <a:cs typeface="Calibri"/>
                <a:sym typeface="Calibri"/>
              </a:endParaRPr>
            </a:p>
          </p:txBody>
        </p:sp>
        <p:sp>
          <p:nvSpPr>
            <p:cNvPr id="204" name="Google Shape;204;g3d86e330eee_36_39"/>
            <p:cNvSpPr/>
            <p:nvPr/>
          </p:nvSpPr>
          <p:spPr>
            <a:xfrm>
              <a:off x="727011" y="2608202"/>
              <a:ext cx="3579300" cy="8265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5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Test R-Squared = -0.0149</a:t>
              </a:r>
              <a:endParaRPr sz="1300" b="0" i="0" u="none" strike="noStrike" cap="none">
                <a:solidFill>
                  <a:srgbClr val="1E293B"/>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Train R-Squared = 0.00749</a:t>
              </a:r>
              <a:endParaRPr sz="1300" b="0" i="0" u="none" strike="noStrike" cap="none">
                <a:solidFill>
                  <a:srgbClr val="1E293B"/>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Sharpe Ratio = 0.0562</a:t>
              </a:r>
              <a:endParaRPr sz="1300" b="0" i="0" u="none" strike="noStrike" cap="none">
                <a:solidFill>
                  <a:srgbClr val="1E293B"/>
                </a:solidFill>
                <a:latin typeface="Calibri"/>
                <a:ea typeface="Calibri"/>
                <a:cs typeface="Calibri"/>
                <a:sym typeface="Calibri"/>
              </a:endParaRPr>
            </a:p>
          </p:txBody>
        </p:sp>
      </p:grpSp>
      <p:sp>
        <p:nvSpPr>
          <p:cNvPr id="205" name="Google Shape;205;g3d86e330eee_36_39"/>
          <p:cNvSpPr/>
          <p:nvPr/>
        </p:nvSpPr>
        <p:spPr>
          <a:xfrm>
            <a:off x="4846395" y="1333124"/>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6" name="Google Shape;206;g3d86e330eee_36_39"/>
          <p:cNvGrpSpPr/>
          <p:nvPr/>
        </p:nvGrpSpPr>
        <p:grpSpPr>
          <a:xfrm>
            <a:off x="4846388" y="1556347"/>
            <a:ext cx="1874400" cy="680829"/>
            <a:chOff x="4617725" y="2329900"/>
            <a:chExt cx="1874400" cy="680829"/>
          </a:xfrm>
        </p:grpSpPr>
        <p:sp>
          <p:nvSpPr>
            <p:cNvPr id="207" name="Google Shape;207;g3d86e330eee_36_39"/>
            <p:cNvSpPr/>
            <p:nvPr/>
          </p:nvSpPr>
          <p:spPr>
            <a:xfrm>
              <a:off x="4617725" y="2329900"/>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Josefin Sans"/>
                  <a:ea typeface="Josefin Sans"/>
                  <a:cs typeface="Josefin Sans"/>
                  <a:sym typeface="Josefin Sans"/>
                </a:rPr>
                <a:t>0.000245</a:t>
              </a:r>
              <a:endParaRPr sz="2800" b="0" i="0" u="none" strike="noStrike" cap="none">
                <a:solidFill>
                  <a:schemeClr val="dk1"/>
                </a:solidFill>
                <a:latin typeface="Josefin Sans"/>
                <a:ea typeface="Josefin Sans"/>
                <a:cs typeface="Josefin Sans"/>
                <a:sym typeface="Josefin Sans"/>
              </a:endParaRPr>
            </a:p>
          </p:txBody>
        </p:sp>
        <p:sp>
          <p:nvSpPr>
            <p:cNvPr id="208" name="Google Shape;208;g3d86e330eee_36_39"/>
            <p:cNvSpPr/>
            <p:nvPr/>
          </p:nvSpPr>
          <p:spPr>
            <a:xfrm>
              <a:off x="4617725" y="2796229"/>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Oil Return Coefficient</a:t>
              </a:r>
              <a:endParaRPr sz="1000" b="0" i="0" u="none" strike="noStrike" cap="none">
                <a:solidFill>
                  <a:schemeClr val="dk1"/>
                </a:solidFill>
                <a:latin typeface="Calibri"/>
                <a:ea typeface="Calibri"/>
                <a:cs typeface="Calibri"/>
                <a:sym typeface="Calibri"/>
              </a:endParaRPr>
            </a:p>
          </p:txBody>
        </p:sp>
      </p:grpSp>
      <p:sp>
        <p:nvSpPr>
          <p:cNvPr id="209" name="Google Shape;209;g3d86e330eee_36_39"/>
          <p:cNvSpPr/>
          <p:nvPr/>
        </p:nvSpPr>
        <p:spPr>
          <a:xfrm>
            <a:off x="6903795" y="1333124"/>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g3d86e330eee_36_39"/>
          <p:cNvSpPr/>
          <p:nvPr/>
        </p:nvSpPr>
        <p:spPr>
          <a:xfrm>
            <a:off x="6903800" y="1556348"/>
            <a:ext cx="1874400" cy="48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Josefin Sans"/>
                <a:ea typeface="Josefin Sans"/>
                <a:cs typeface="Josefin Sans"/>
                <a:sym typeface="Josefin Sans"/>
              </a:rPr>
              <a:t>0.000512</a:t>
            </a:r>
            <a:endParaRPr sz="2800" b="1" i="0" u="none" strike="noStrike" cap="none">
              <a:solidFill>
                <a:srgbClr val="166534"/>
              </a:solidFill>
              <a:latin typeface="Josefin Sans"/>
              <a:ea typeface="Josefin Sans"/>
              <a:cs typeface="Josefin Sans"/>
              <a:sym typeface="Josefin Sans"/>
            </a:endParaRPr>
          </a:p>
        </p:txBody>
      </p:sp>
      <p:sp>
        <p:nvSpPr>
          <p:cNvPr id="211" name="Google Shape;211;g3d86e330eee_36_39"/>
          <p:cNvSpPr/>
          <p:nvPr/>
        </p:nvSpPr>
        <p:spPr>
          <a:xfrm>
            <a:off x="6903800" y="2022676"/>
            <a:ext cx="1874400" cy="2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Delta VIX</a:t>
            </a:r>
            <a:endParaRPr sz="1000" b="0" i="0" u="none" strike="noStrike" cap="none">
              <a:solidFill>
                <a:schemeClr val="dk1"/>
              </a:solidFill>
              <a:latin typeface="Calibri"/>
              <a:ea typeface="Calibri"/>
              <a:cs typeface="Calibri"/>
              <a:sym typeface="Calibri"/>
            </a:endParaRPr>
          </a:p>
        </p:txBody>
      </p:sp>
      <p:sp>
        <p:nvSpPr>
          <p:cNvPr id="212" name="Google Shape;212;g3d86e330eee_36_39"/>
          <p:cNvSpPr/>
          <p:nvPr/>
        </p:nvSpPr>
        <p:spPr>
          <a:xfrm>
            <a:off x="4846395" y="2717326"/>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g3d86e330eee_36_39"/>
          <p:cNvSpPr/>
          <p:nvPr/>
        </p:nvSpPr>
        <p:spPr>
          <a:xfrm>
            <a:off x="4846395" y="2823609"/>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475569"/>
              </a:buClr>
              <a:buSzPts val="2800"/>
              <a:buFont typeface="Georgia"/>
              <a:buNone/>
            </a:pPr>
            <a:r>
              <a:rPr lang="en-US" sz="2800" b="1" i="0" u="none" strike="noStrike" cap="none">
                <a:solidFill>
                  <a:srgbClr val="475569"/>
                </a:solidFill>
                <a:latin typeface="Josefin Sans"/>
                <a:ea typeface="Josefin Sans"/>
                <a:cs typeface="Josefin Sans"/>
                <a:sym typeface="Josefin Sans"/>
              </a:rPr>
              <a:t>0.000160</a:t>
            </a:r>
            <a:endParaRPr sz="2800" b="1" i="0" u="none" strike="noStrike" cap="none">
              <a:solidFill>
                <a:srgbClr val="475569"/>
              </a:solidFill>
              <a:latin typeface="Josefin Sans"/>
              <a:ea typeface="Josefin Sans"/>
              <a:cs typeface="Josefin Sans"/>
              <a:sym typeface="Josefin Sans"/>
            </a:endParaRPr>
          </a:p>
        </p:txBody>
      </p:sp>
      <p:sp>
        <p:nvSpPr>
          <p:cNvPr id="214" name="Google Shape;214;g3d86e330eee_36_39"/>
          <p:cNvSpPr/>
          <p:nvPr/>
        </p:nvSpPr>
        <p:spPr>
          <a:xfrm>
            <a:off x="4846395" y="3447946"/>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Delta Spread</a:t>
            </a:r>
            <a:endParaRPr sz="1000" b="0" i="0" u="none" strike="noStrike" cap="none">
              <a:solidFill>
                <a:schemeClr val="dk1"/>
              </a:solidFill>
              <a:latin typeface="Calibri"/>
              <a:ea typeface="Calibri"/>
              <a:cs typeface="Calibri"/>
              <a:sym typeface="Calibri"/>
            </a:endParaRPr>
          </a:p>
        </p:txBody>
      </p:sp>
      <p:sp>
        <p:nvSpPr>
          <p:cNvPr id="215" name="Google Shape;215;g3d86e330eee_36_39"/>
          <p:cNvSpPr/>
          <p:nvPr/>
        </p:nvSpPr>
        <p:spPr>
          <a:xfrm>
            <a:off x="6903795" y="2717326"/>
            <a:ext cx="1874400" cy="1162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g3d86e330eee_36_39"/>
          <p:cNvSpPr/>
          <p:nvPr/>
        </p:nvSpPr>
        <p:spPr>
          <a:xfrm>
            <a:off x="6903858" y="2823609"/>
            <a:ext cx="18744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a:solidFill>
                  <a:srgbClr val="2B6CB0"/>
                </a:solidFill>
                <a:latin typeface="Josefin Sans"/>
                <a:ea typeface="Josefin Sans"/>
                <a:cs typeface="Josefin Sans"/>
                <a:sym typeface="Josefin Sans"/>
              </a:rPr>
              <a:t>-0.000141</a:t>
            </a:r>
            <a:endParaRPr sz="2800" b="1" i="0" u="none" strike="noStrike" cap="none">
              <a:solidFill>
                <a:srgbClr val="2B6CB0"/>
              </a:solidFill>
              <a:latin typeface="Josefin Sans"/>
              <a:ea typeface="Josefin Sans"/>
              <a:cs typeface="Josefin Sans"/>
              <a:sym typeface="Josefin Sans"/>
            </a:endParaRPr>
          </a:p>
        </p:txBody>
      </p:sp>
      <p:sp>
        <p:nvSpPr>
          <p:cNvPr id="217" name="Google Shape;217;g3d86e330eee_36_39"/>
          <p:cNvSpPr/>
          <p:nvPr/>
        </p:nvSpPr>
        <p:spPr>
          <a:xfrm>
            <a:off x="6903795" y="3447946"/>
            <a:ext cx="18744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Constant</a:t>
            </a:r>
            <a:endParaRPr sz="1000" b="0" i="0" u="none" strike="noStrike" cap="none">
              <a:solidFill>
                <a:schemeClr val="dk1"/>
              </a:solidFill>
              <a:latin typeface="Calibri"/>
              <a:ea typeface="Calibri"/>
              <a:cs typeface="Calibri"/>
              <a:sym typeface="Calibri"/>
            </a:endParaRPr>
          </a:p>
        </p:txBody>
      </p:sp>
      <p:cxnSp>
        <p:nvCxnSpPr>
          <p:cNvPr id="218" name="Google Shape;218;g3d86e330eee_36_39"/>
          <p:cNvCxnSpPr/>
          <p:nvPr/>
        </p:nvCxnSpPr>
        <p:spPr>
          <a:xfrm>
            <a:off x="4590725" y="1336347"/>
            <a:ext cx="8400" cy="2560200"/>
          </a:xfrm>
          <a:prstGeom prst="straightConnector1">
            <a:avLst/>
          </a:prstGeom>
          <a:noFill/>
          <a:ln w="19050" cap="flat" cmpd="sng">
            <a:solidFill>
              <a:schemeClr val="accent3"/>
            </a:solidFill>
            <a:prstDash val="solid"/>
            <a:round/>
            <a:headEnd type="none" w="sm" len="sm"/>
            <a:tailEnd type="none" w="sm" len="sm"/>
          </a:ln>
        </p:spPr>
      </p:cxnSp>
      <p:sp>
        <p:nvSpPr>
          <p:cNvPr id="219" name="Google Shape;219;g3d86e330eee_36_39"/>
          <p:cNvSpPr/>
          <p:nvPr/>
        </p:nvSpPr>
        <p:spPr>
          <a:xfrm>
            <a:off x="388635" y="4101537"/>
            <a:ext cx="8412600" cy="621900"/>
          </a:xfrm>
          <a:prstGeom prst="rect">
            <a:avLst/>
          </a:prstGeom>
          <a:solidFill>
            <a:srgbClr val="0C1A35"/>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3d86e330eee_36_39"/>
          <p:cNvSpPr/>
          <p:nvPr/>
        </p:nvSpPr>
        <p:spPr>
          <a:xfrm>
            <a:off x="388625" y="4101525"/>
            <a:ext cx="8412600" cy="6219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g3d86e330eee_36_39"/>
          <p:cNvSpPr/>
          <p:nvPr/>
        </p:nvSpPr>
        <p:spPr>
          <a:xfrm>
            <a:off x="525795" y="4223158"/>
            <a:ext cx="81381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400"/>
              <a:buFont typeface="Courier New"/>
              <a:buNone/>
            </a:pPr>
            <a:r>
              <a:rPr lang="en-US" sz="1400" b="0" i="0" u="none" strike="noStrike" cap="none">
                <a:solidFill>
                  <a:srgbClr val="E8A020"/>
                </a:solidFill>
                <a:latin typeface="Courier New"/>
                <a:ea typeface="Courier New"/>
                <a:cs typeface="Courier New"/>
                <a:sym typeface="Courier New"/>
              </a:rPr>
              <a:t>Equation: ŷ = 0.000245 * (oil_return) + 0.000512 * (delta_vix) + 0.000160 * (delta_spread) - 0.000141</a:t>
            </a:r>
            <a:endParaRPr sz="1400" b="0" i="0" u="none" strike="noStrike" cap="none">
              <a:solidFill>
                <a:srgbClr val="E8A020"/>
              </a:solidFill>
              <a:latin typeface="Courier New"/>
              <a:ea typeface="Courier New"/>
              <a:cs typeface="Courier New"/>
              <a:sym typeface="Courier New"/>
            </a:endParaRPr>
          </a:p>
          <a:p>
            <a:pPr marL="0" marR="0" lvl="0" indent="0" algn="ctr" rtl="0">
              <a:lnSpc>
                <a:spcPct val="100000"/>
              </a:lnSpc>
              <a:spcBef>
                <a:spcPts val="0"/>
              </a:spcBef>
              <a:spcAft>
                <a:spcPts val="0"/>
              </a:spcAft>
              <a:buClr>
                <a:srgbClr val="E8A020"/>
              </a:buClr>
              <a:buSzPts val="1400"/>
              <a:buFont typeface="Courier New"/>
              <a:buNone/>
            </a:pPr>
            <a:endParaRPr sz="1400" b="0" i="0" u="none" strike="noStrike" cap="none">
              <a:solidFill>
                <a:srgbClr val="E8A020"/>
              </a:solidFill>
              <a:latin typeface="Courier New"/>
              <a:ea typeface="Courier New"/>
              <a:cs typeface="Courier New"/>
              <a:sym typeface="Courier New"/>
            </a:endParaRPr>
          </a:p>
        </p:txBody>
      </p:sp>
      <p:sp>
        <p:nvSpPr>
          <p:cNvPr id="222" name="Google Shape;222;g3d86e330eee_36_39"/>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7"/>
        <p:cNvGrpSpPr/>
        <p:nvPr/>
      </p:nvGrpSpPr>
      <p:grpSpPr>
        <a:xfrm>
          <a:off x="0" y="0"/>
          <a:ext cx="0" cy="0"/>
          <a:chOff x="0" y="0"/>
          <a:chExt cx="0" cy="0"/>
        </a:xfrm>
      </p:grpSpPr>
      <p:sp>
        <p:nvSpPr>
          <p:cNvPr id="228" name="Google Shape;228;g3d86e330eee_36_74"/>
          <p:cNvSpPr/>
          <p:nvPr/>
        </p:nvSpPr>
        <p:spPr>
          <a:xfrm>
            <a:off x="457200" y="146304"/>
            <a:ext cx="2194500" cy="2742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g3d86e330eee_36_74"/>
          <p:cNvSpPr/>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850"/>
              <a:buFont typeface="Calibri"/>
              <a:buNone/>
            </a:pPr>
            <a:r>
              <a:rPr lang="en-US" sz="1050" b="1" i="0" u="none" strike="noStrike" cap="none">
                <a:solidFill>
                  <a:schemeClr val="lt1"/>
                </a:solidFill>
                <a:latin typeface="Calibri"/>
                <a:ea typeface="Calibri"/>
                <a:cs typeface="Calibri"/>
                <a:sym typeface="Calibri"/>
              </a:rPr>
              <a:t>MODEL 2 - RESULTS</a:t>
            </a:r>
            <a:endParaRPr sz="1050" b="0" i="0" u="none" strike="noStrike" cap="none">
              <a:solidFill>
                <a:schemeClr val="dk1"/>
              </a:solidFill>
              <a:latin typeface="Calibri"/>
              <a:ea typeface="Calibri"/>
              <a:cs typeface="Calibri"/>
              <a:sym typeface="Calibri"/>
            </a:endParaRPr>
          </a:p>
        </p:txBody>
      </p:sp>
      <p:sp>
        <p:nvSpPr>
          <p:cNvPr id="230" name="Google Shape;230;g3d86e330eee_36_74"/>
          <p:cNvSpPr/>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2600" b="1" i="0" u="none" strike="noStrike" cap="none">
                <a:solidFill>
                  <a:srgbClr val="0C1A35"/>
                </a:solidFill>
                <a:latin typeface="Georgia"/>
                <a:ea typeface="Georgia"/>
                <a:cs typeface="Georgia"/>
                <a:sym typeface="Georgia"/>
              </a:rPr>
              <a:t>Ending returns comparing Model 1 and Model 2</a:t>
            </a:r>
            <a:endParaRPr sz="3000" b="1" i="0" u="none" strike="noStrike" cap="none">
              <a:solidFill>
                <a:srgbClr val="0C1A35"/>
              </a:solidFill>
              <a:latin typeface="Georgia"/>
              <a:ea typeface="Georgia"/>
              <a:cs typeface="Georgia"/>
              <a:sym typeface="Georgia"/>
            </a:endParaRPr>
          </a:p>
        </p:txBody>
      </p:sp>
      <p:sp>
        <p:nvSpPr>
          <p:cNvPr id="231" name="Google Shape;231;g3d86e330eee_36_74"/>
          <p:cNvSpPr/>
          <p:nvPr/>
        </p:nvSpPr>
        <p:spPr>
          <a:xfrm>
            <a:off x="457200" y="4975383"/>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2" name="Google Shape;232;g3d86e330eee_36_74"/>
          <p:cNvPicPr preferRelativeResize="0"/>
          <p:nvPr/>
        </p:nvPicPr>
        <p:blipFill rotWithShape="1">
          <a:blip r:embed="rId3">
            <a:alphaModFix/>
          </a:blip>
          <a:srcRect t="2812" r="2856" b="2822"/>
          <a:stretch/>
        </p:blipFill>
        <p:spPr>
          <a:xfrm>
            <a:off x="299250" y="1877375"/>
            <a:ext cx="4318576" cy="2454925"/>
          </a:xfrm>
          <a:prstGeom prst="rect">
            <a:avLst/>
          </a:prstGeom>
          <a:noFill/>
          <a:ln>
            <a:noFill/>
          </a:ln>
        </p:spPr>
      </p:pic>
      <p:sp>
        <p:nvSpPr>
          <p:cNvPr id="233" name="Google Shape;233;g3d86e330eee_36_74"/>
          <p:cNvSpPr/>
          <p:nvPr/>
        </p:nvSpPr>
        <p:spPr>
          <a:xfrm>
            <a:off x="4941150" y="1820125"/>
            <a:ext cx="4082700" cy="25344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34" name="Google Shape;234;g3d86e330eee_36_74"/>
          <p:cNvSpPr/>
          <p:nvPr/>
        </p:nvSpPr>
        <p:spPr>
          <a:xfrm>
            <a:off x="4941150" y="1828760"/>
            <a:ext cx="91500" cy="2534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grpSp>
        <p:nvGrpSpPr>
          <p:cNvPr id="235" name="Google Shape;235;g3d86e330eee_36_74"/>
          <p:cNvGrpSpPr/>
          <p:nvPr/>
        </p:nvGrpSpPr>
        <p:grpSpPr>
          <a:xfrm>
            <a:off x="5124050" y="2015411"/>
            <a:ext cx="3661850" cy="2200103"/>
            <a:chOff x="548647" y="2192079"/>
            <a:chExt cx="3661850" cy="1151525"/>
          </a:xfrm>
        </p:grpSpPr>
        <p:sp>
          <p:nvSpPr>
            <p:cNvPr id="236" name="Google Shape;236;g3d86e330eee_36_74"/>
            <p:cNvSpPr/>
            <p:nvPr/>
          </p:nvSpPr>
          <p:spPr>
            <a:xfrm>
              <a:off x="548647" y="2192079"/>
              <a:ext cx="3657600" cy="42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250"/>
                <a:buFont typeface="Calibri"/>
                <a:buNone/>
              </a:pPr>
              <a:r>
                <a:rPr lang="en-US" sz="1450" b="1" i="0" u="none" strike="noStrike" cap="none">
                  <a:solidFill>
                    <a:srgbClr val="1A3F7A"/>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rPr>
                <a:t>All strategies started off with $1. The following table shows how much we end up with at the end of the 30% testing data period. </a:t>
              </a:r>
              <a:endParaRPr sz="1450" b="1" i="0" u="none" strike="noStrike" cap="none">
                <a:solidFill>
                  <a:srgbClr val="1A3F7A"/>
                </a:solidFill>
                <a:latin typeface="Calibri"/>
                <a:ea typeface="Calibri"/>
                <a:cs typeface="Calibri"/>
                <a:sym typeface="Calibri"/>
              </a:endParaRPr>
            </a:p>
            <a:p>
              <a:pPr marL="0" marR="0" lvl="0" indent="0" algn="l" rtl="0">
                <a:lnSpc>
                  <a:spcPct val="100000"/>
                </a:lnSpc>
                <a:spcBef>
                  <a:spcPts val="0"/>
                </a:spcBef>
                <a:spcAft>
                  <a:spcPts val="0"/>
                </a:spcAft>
                <a:buClr>
                  <a:srgbClr val="1A3F7A"/>
                </a:buClr>
                <a:buSzPts val="1250"/>
                <a:buFont typeface="Calibri"/>
                <a:buNone/>
              </a:pPr>
              <a:endParaRPr sz="1450" b="1" i="0" u="none" strike="noStrike" cap="none">
                <a:solidFill>
                  <a:srgbClr val="1A3F7A"/>
                </a:solidFill>
                <a:latin typeface="Calibri"/>
                <a:ea typeface="Calibri"/>
                <a:cs typeface="Calibri"/>
                <a:sym typeface="Calibri"/>
              </a:endParaRPr>
            </a:p>
          </p:txBody>
        </p:sp>
        <p:sp>
          <p:nvSpPr>
            <p:cNvPr id="237" name="Google Shape;237;g3d86e330eee_36_74"/>
            <p:cNvSpPr/>
            <p:nvPr/>
          </p:nvSpPr>
          <p:spPr>
            <a:xfrm>
              <a:off x="552897" y="2575304"/>
              <a:ext cx="3657600" cy="768300"/>
            </a:xfrm>
            <a:prstGeom prst="rect">
              <a:avLst/>
            </a:prstGeom>
            <a:noFill/>
            <a:ln>
              <a:noFill/>
            </a:ln>
          </p:spPr>
          <p:txBody>
            <a:bodyPr spcFirstLastPara="1" wrap="square" lIns="25400" tIns="50800" rIns="0" bIns="0" anchor="t" anchorCtr="0">
              <a:noAutofit/>
            </a:bodyPr>
            <a:lstStyle/>
            <a:p>
              <a:pPr marL="457200" marR="0" lvl="0" indent="-311150" algn="l" rtl="0">
                <a:lnSpc>
                  <a:spcPct val="100000"/>
                </a:lnSpc>
                <a:spcBef>
                  <a:spcPts val="5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1 factor model (delta_vix only) → Portfolio value  ≈ 1.024 → so 2.4% return</a:t>
              </a:r>
              <a:endParaRPr sz="1300" b="0" i="0" u="none" strike="noStrike" cap="none">
                <a:solidFill>
                  <a:srgbClr val="1E293B"/>
                </a:solidFill>
                <a:latin typeface="Calibri"/>
                <a:ea typeface="Calibri"/>
                <a:cs typeface="Calibri"/>
                <a:sym typeface="Calibri"/>
              </a:endParaRPr>
            </a:p>
            <a:p>
              <a:pPr marL="457200" marR="0" lvl="0" indent="-311150" algn="l" rtl="0">
                <a:lnSpc>
                  <a:spcPct val="100000"/>
                </a:lnSpc>
                <a:spcBef>
                  <a:spcPts val="10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3 factor model (ridge) → Portfolio value ≈ 1.134 → so 13.4% return</a:t>
              </a:r>
              <a:endParaRPr sz="1300" b="0" i="0" u="none" strike="noStrike" cap="none">
                <a:solidFill>
                  <a:srgbClr val="1E293B"/>
                </a:solidFill>
                <a:latin typeface="Calibri"/>
                <a:ea typeface="Calibri"/>
                <a:cs typeface="Calibri"/>
                <a:sym typeface="Calibri"/>
              </a:endParaRPr>
            </a:p>
            <a:p>
              <a:pPr marL="457200" marR="0" lvl="0" indent="-311150" algn="l" rtl="0">
                <a:lnSpc>
                  <a:spcPct val="100000"/>
                </a:lnSpc>
                <a:spcBef>
                  <a:spcPts val="10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Buy &amp; Hold strategy → Portfolio value ≈ 1.079 → so 7.9% return</a:t>
              </a:r>
              <a:endParaRPr sz="1300" b="0" i="0" u="none" strike="noStrike" cap="none">
                <a:solidFill>
                  <a:srgbClr val="1E293B"/>
                </a:solidFill>
                <a:latin typeface="Calibri"/>
                <a:ea typeface="Calibri"/>
                <a:cs typeface="Calibri"/>
                <a:sym typeface="Calibri"/>
              </a:endParaRPr>
            </a:p>
            <a:p>
              <a:pPr marL="0" marR="0" lvl="0" indent="0" algn="l" rtl="0">
                <a:lnSpc>
                  <a:spcPct val="100000"/>
                </a:lnSpc>
                <a:spcBef>
                  <a:spcPts val="1000"/>
                </a:spcBef>
                <a:spcAft>
                  <a:spcPts val="1000"/>
                </a:spcAft>
                <a:buClr>
                  <a:srgbClr val="000000"/>
                </a:buClr>
                <a:buSzPts val="1300"/>
                <a:buFont typeface="Arial"/>
                <a:buNone/>
              </a:pPr>
              <a:endParaRPr sz="1300" b="0" i="0" u="none" strike="noStrike" cap="none">
                <a:solidFill>
                  <a:srgbClr val="1E293B"/>
                </a:solidFill>
                <a:latin typeface="Calibri"/>
                <a:ea typeface="Calibri"/>
                <a:cs typeface="Calibri"/>
                <a:sym typeface="Calibri"/>
              </a:endParaRPr>
            </a:p>
          </p:txBody>
        </p:sp>
      </p:grpSp>
      <p:sp>
        <p:nvSpPr>
          <p:cNvPr id="238" name="Google Shape;238;g3d86e330eee_36_74"/>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3"/>
        <p:cNvGrpSpPr/>
        <p:nvPr/>
      </p:nvGrpSpPr>
      <p:grpSpPr>
        <a:xfrm>
          <a:off x="0" y="0"/>
          <a:ext cx="0" cy="0"/>
          <a:chOff x="0" y="0"/>
          <a:chExt cx="0" cy="0"/>
        </a:xfrm>
      </p:grpSpPr>
      <p:sp>
        <p:nvSpPr>
          <p:cNvPr id="244" name="Google Shape;244;p14"/>
          <p:cNvSpPr/>
          <p:nvPr/>
        </p:nvSpPr>
        <p:spPr>
          <a:xfrm>
            <a:off x="365700" y="4744427"/>
            <a:ext cx="8412600" cy="2742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14"/>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4"/>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2 - MULTI-FACTOR OLS</a:t>
            </a:r>
            <a:endParaRPr sz="1050" b="0" i="0" u="none" strike="noStrike" cap="none">
              <a:solidFill>
                <a:schemeClr val="dk1"/>
              </a:solidFill>
              <a:latin typeface="Calibri"/>
              <a:ea typeface="Calibri"/>
              <a:cs typeface="Calibri"/>
              <a:sym typeface="Calibri"/>
            </a:endParaRPr>
          </a:p>
        </p:txBody>
      </p:sp>
      <p:sp>
        <p:nvSpPr>
          <p:cNvPr id="247" name="Google Shape;247;p14"/>
          <p:cNvSpPr/>
          <p:nvPr/>
        </p:nvSpPr>
        <p:spPr>
          <a:xfrm>
            <a:off x="457200" y="502925"/>
            <a:ext cx="570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3-Factor Model</a:t>
            </a:r>
            <a:endParaRPr sz="3000" b="0" i="0" u="none" strike="noStrike" cap="none">
              <a:solidFill>
                <a:schemeClr val="dk1"/>
              </a:solidFill>
              <a:latin typeface="Calibri"/>
              <a:ea typeface="Calibri"/>
              <a:cs typeface="Calibri"/>
              <a:sym typeface="Calibri"/>
            </a:endParaRPr>
          </a:p>
        </p:txBody>
      </p:sp>
      <p:sp>
        <p:nvSpPr>
          <p:cNvPr id="248" name="Google Shape;248;p14"/>
          <p:cNvSpPr/>
          <p:nvPr/>
        </p:nvSpPr>
        <p:spPr>
          <a:xfrm>
            <a:off x="365750" y="2103124"/>
            <a:ext cx="4005000" cy="256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4"/>
          <p:cNvSpPr/>
          <p:nvPr/>
        </p:nvSpPr>
        <p:spPr>
          <a:xfrm>
            <a:off x="365750" y="2103124"/>
            <a:ext cx="91500" cy="2562000"/>
          </a:xfrm>
          <a:prstGeom prst="rect">
            <a:avLst/>
          </a:prstGeom>
          <a:solidFill>
            <a:schemeClr val="dk2"/>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14"/>
          <p:cNvSpPr/>
          <p:nvPr/>
        </p:nvSpPr>
        <p:spPr>
          <a:xfrm>
            <a:off x="594365" y="2167110"/>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766E"/>
              </a:buClr>
              <a:buSzPts val="1250"/>
              <a:buFont typeface="Calibri"/>
              <a:buNone/>
            </a:pPr>
            <a:r>
              <a:rPr lang="en-US" sz="1250" b="1" i="0" u="none" strike="noStrike" cap="none">
                <a:solidFill>
                  <a:srgbClr val="0F766E"/>
                </a:solidFill>
                <a:latin typeface="Calibri"/>
                <a:ea typeface="Calibri"/>
                <a:cs typeface="Calibri"/>
                <a:sym typeface="Calibri"/>
              </a:rPr>
              <a:t>What Improved</a:t>
            </a:r>
            <a:endParaRPr sz="1250" b="0" i="0" u="none" strike="noStrike" cap="none">
              <a:solidFill>
                <a:schemeClr val="dk1"/>
              </a:solidFill>
              <a:latin typeface="Calibri"/>
              <a:ea typeface="Calibri"/>
              <a:cs typeface="Calibri"/>
              <a:sym typeface="Calibri"/>
            </a:endParaRPr>
          </a:p>
        </p:txBody>
      </p:sp>
      <p:sp>
        <p:nvSpPr>
          <p:cNvPr id="251" name="Google Shape;251;p14"/>
          <p:cNvSpPr/>
          <p:nvPr/>
        </p:nvSpPr>
        <p:spPr>
          <a:xfrm>
            <a:off x="548650" y="2483710"/>
            <a:ext cx="37491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Used HC3 heteroskedasticity correction for more reliable p-values</a:t>
            </a:r>
            <a:endParaRPr sz="1100" b="0" i="0" u="none" strike="noStrike" cap="none">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Strategy: go long tomorrow if predicted EMB return &gt; 0, else stay out</a:t>
            </a:r>
            <a:endParaRPr sz="1100" b="0" i="0" u="none" strike="noStrike" cap="none">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Sharpe ratio: ~0.053 (model 3) vs 0.40–0.75 (model 2)</a:t>
            </a:r>
            <a:endParaRPr sz="1100" b="0" i="0" u="none" strike="noStrike" cap="none">
              <a:solidFill>
                <a:schemeClr val="dk1"/>
              </a:solidFill>
              <a:latin typeface="Calibri"/>
              <a:ea typeface="Calibri"/>
              <a:cs typeface="Calibri"/>
              <a:sym typeface="Calibri"/>
            </a:endParaRPr>
          </a:p>
        </p:txBody>
      </p:sp>
      <p:sp>
        <p:nvSpPr>
          <p:cNvPr id="252" name="Google Shape;252;p14"/>
          <p:cNvSpPr/>
          <p:nvPr/>
        </p:nvSpPr>
        <p:spPr>
          <a:xfrm>
            <a:off x="548640" y="3595707"/>
            <a:ext cx="3657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766E"/>
              </a:buClr>
              <a:buSzPts val="1200"/>
              <a:buFont typeface="Calibri"/>
              <a:buNone/>
            </a:pPr>
            <a:r>
              <a:rPr lang="en-US" sz="1200" b="1" i="0" u="none" strike="noStrike" cap="none">
                <a:solidFill>
                  <a:srgbClr val="0F766E"/>
                </a:solidFill>
                <a:latin typeface="Calibri"/>
                <a:ea typeface="Calibri"/>
                <a:cs typeface="Calibri"/>
                <a:sym typeface="Calibri"/>
              </a:rPr>
              <a:t>Strategy vs Buy-and-Hold</a:t>
            </a:r>
            <a:endParaRPr sz="1200" b="0" i="0" u="none" strike="noStrike" cap="none">
              <a:solidFill>
                <a:schemeClr val="dk1"/>
              </a:solidFill>
              <a:latin typeface="Calibri"/>
              <a:ea typeface="Calibri"/>
              <a:cs typeface="Calibri"/>
              <a:sym typeface="Calibri"/>
            </a:endParaRPr>
          </a:p>
        </p:txBody>
      </p:sp>
      <p:sp>
        <p:nvSpPr>
          <p:cNvPr id="253" name="Google Shape;253;p14"/>
          <p:cNvSpPr/>
          <p:nvPr/>
        </p:nvSpPr>
        <p:spPr>
          <a:xfrm>
            <a:off x="548640" y="3894582"/>
            <a:ext cx="3749100" cy="530400"/>
          </a:xfrm>
          <a:prstGeom prst="rect">
            <a:avLst/>
          </a:prstGeom>
          <a:noFill/>
          <a:ln>
            <a:noFill/>
          </a:ln>
        </p:spPr>
        <p:txBody>
          <a:bodyPr spcFirstLastPara="1" wrap="square" lIns="25400" tIns="50800" rIns="0" bIns="0" anchor="t" anchorCtr="0">
            <a:noAutofit/>
          </a:bodyPr>
          <a:lstStyle/>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3-factor strategy ends at 1.134× vs buy-and-hold at 1.08×</a:t>
            </a:r>
            <a:endParaRPr sz="1100" b="0" i="0" u="none" strike="noStrike" cap="none">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Sep 2023: strategy protected capital when buy-and-hold crashed</a:t>
            </a:r>
            <a:endParaRPr sz="1100" b="0" i="0" u="none" strike="noStrike" cap="none">
              <a:solidFill>
                <a:schemeClr val="dk1"/>
              </a:solidFill>
              <a:latin typeface="Calibri"/>
              <a:ea typeface="Calibri"/>
              <a:cs typeface="Calibri"/>
              <a:sym typeface="Calibri"/>
            </a:endParaRPr>
          </a:p>
          <a:p>
            <a:pPr marL="342900" marR="0" lvl="0" indent="-342900" algn="l" rtl="0">
              <a:lnSpc>
                <a:spcPct val="95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Strategy consistently hovers at or above buy-and-hold</a:t>
            </a:r>
            <a:endParaRPr sz="1100" b="0" i="0" u="none" strike="noStrike" cap="none">
              <a:solidFill>
                <a:schemeClr val="dk1"/>
              </a:solidFill>
              <a:latin typeface="Calibri"/>
              <a:ea typeface="Calibri"/>
              <a:cs typeface="Calibri"/>
              <a:sym typeface="Calibri"/>
            </a:endParaRPr>
          </a:p>
        </p:txBody>
      </p:sp>
      <p:sp>
        <p:nvSpPr>
          <p:cNvPr id="254" name="Google Shape;254;p14"/>
          <p:cNvSpPr/>
          <p:nvPr/>
        </p:nvSpPr>
        <p:spPr>
          <a:xfrm>
            <a:off x="4617725" y="2103124"/>
            <a:ext cx="4114800" cy="2562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4"/>
          <p:cNvSpPr/>
          <p:nvPr/>
        </p:nvSpPr>
        <p:spPr>
          <a:xfrm>
            <a:off x="4617725" y="2103124"/>
            <a:ext cx="91500" cy="25620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4"/>
          <p:cNvSpPr/>
          <p:nvPr/>
        </p:nvSpPr>
        <p:spPr>
          <a:xfrm>
            <a:off x="4800600" y="2176272"/>
            <a:ext cx="374904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50"/>
              <a:buFont typeface="Calibri"/>
              <a:buNone/>
            </a:pPr>
            <a:r>
              <a:rPr lang="en-US" sz="1250" b="1" i="0" u="none" strike="noStrike" cap="none">
                <a:solidFill>
                  <a:srgbClr val="B91C1C"/>
                </a:solidFill>
                <a:latin typeface="Calibri"/>
                <a:ea typeface="Calibri"/>
                <a:cs typeface="Calibri"/>
                <a:sym typeface="Calibri"/>
              </a:rPr>
              <a:t>The Problem: Multicollinearity</a:t>
            </a:r>
            <a:endParaRPr sz="1250" b="0" i="0" u="none" strike="noStrike" cap="none">
              <a:solidFill>
                <a:schemeClr val="dk1"/>
              </a:solidFill>
              <a:latin typeface="Calibri"/>
              <a:ea typeface="Calibri"/>
              <a:cs typeface="Calibri"/>
              <a:sym typeface="Calibri"/>
            </a:endParaRPr>
          </a:p>
        </p:txBody>
      </p:sp>
      <p:sp>
        <p:nvSpPr>
          <p:cNvPr id="257" name="Google Shape;257;p14"/>
          <p:cNvSpPr/>
          <p:nvPr/>
        </p:nvSpPr>
        <p:spPr>
          <a:xfrm>
            <a:off x="4800605" y="2497278"/>
            <a:ext cx="3840600" cy="21351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Δ VIX and Δ Credit Spread are 0.46 correlated — shared signal</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Condition number = 84 (&gt;30 = very high multicollinearity)</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Result: none of the 3 predictors are individually significant</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More variables did not improve prediction — double-counting noise</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Fix: Ridge regression adds penalty term to shrink correlated predictors</a:t>
            </a:r>
            <a:endParaRPr sz="1100" b="0" i="0" u="none" strike="noStrike" cap="none">
              <a:solidFill>
                <a:schemeClr val="dk1"/>
              </a:solidFill>
              <a:latin typeface="Calibri"/>
              <a:ea typeface="Calibri"/>
              <a:cs typeface="Calibri"/>
              <a:sym typeface="Calibri"/>
            </a:endParaRPr>
          </a:p>
        </p:txBody>
      </p:sp>
      <p:sp>
        <p:nvSpPr>
          <p:cNvPr id="258" name="Google Shape;258;p14"/>
          <p:cNvSpPr/>
          <p:nvPr/>
        </p:nvSpPr>
        <p:spPr>
          <a:xfrm>
            <a:off x="457190" y="4752329"/>
            <a:ext cx="8229600" cy="26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Lesson: adding correlated predictors inflates the condition number and destroys individual significance, even when R² marginally improves.</a:t>
            </a:r>
            <a:endParaRPr sz="1000" b="0" i="0" u="none" strike="noStrike" cap="none">
              <a:solidFill>
                <a:schemeClr val="dk1"/>
              </a:solidFill>
              <a:latin typeface="Calibri"/>
              <a:ea typeface="Calibri"/>
              <a:cs typeface="Calibri"/>
              <a:sym typeface="Calibri"/>
            </a:endParaRPr>
          </a:p>
        </p:txBody>
      </p:sp>
      <p:sp>
        <p:nvSpPr>
          <p:cNvPr id="259" name="Google Shape;259;p14"/>
          <p:cNvSpPr/>
          <p:nvPr/>
        </p:nvSpPr>
        <p:spPr>
          <a:xfrm>
            <a:off x="365710" y="1339550"/>
            <a:ext cx="8412600" cy="65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14"/>
          <p:cNvSpPr txBox="1"/>
          <p:nvPr/>
        </p:nvSpPr>
        <p:spPr>
          <a:xfrm>
            <a:off x="415025" y="1447913"/>
            <a:ext cx="8412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E8A020"/>
              </a:buClr>
              <a:buSzPts val="1400"/>
              <a:buFont typeface="Courier New"/>
              <a:buNone/>
            </a:pPr>
            <a:r>
              <a:rPr lang="en-US" sz="1400" b="0" i="0" u="none" strike="noStrike" cap="none">
                <a:solidFill>
                  <a:srgbClr val="E8A020"/>
                </a:solidFill>
                <a:latin typeface="Courier New"/>
                <a:ea typeface="Courier New"/>
                <a:cs typeface="Courier New"/>
                <a:sym typeface="Courier New"/>
              </a:rPr>
              <a:t>EMB Return_t+1  =  α  +  β₁·ΔVIX_t  +  β₂·ΔSpread_t  +  β₃·Oil_Return_t  +  ε</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14"/>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6"/>
        <p:cNvGrpSpPr/>
        <p:nvPr/>
      </p:nvGrpSpPr>
      <p:grpSpPr>
        <a:xfrm>
          <a:off x="0" y="0"/>
          <a:ext cx="0" cy="0"/>
          <a:chOff x="0" y="0"/>
          <a:chExt cx="0" cy="0"/>
        </a:xfrm>
      </p:grpSpPr>
      <p:sp>
        <p:nvSpPr>
          <p:cNvPr id="267" name="Google Shape;267;p4"/>
          <p:cNvSpPr/>
          <p:nvPr/>
        </p:nvSpPr>
        <p:spPr>
          <a:xfrm>
            <a:off x="365700" y="4771903"/>
            <a:ext cx="8412600" cy="2742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4"/>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4"/>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DATA</a:t>
            </a:r>
            <a:endParaRPr sz="1050" b="0" i="0" u="none" strike="noStrike" cap="none">
              <a:solidFill>
                <a:schemeClr val="dk1"/>
              </a:solidFill>
              <a:latin typeface="Calibri"/>
              <a:ea typeface="Calibri"/>
              <a:cs typeface="Calibri"/>
              <a:sym typeface="Calibri"/>
            </a:endParaRPr>
          </a:p>
        </p:txBody>
      </p:sp>
      <p:sp>
        <p:nvSpPr>
          <p:cNvPr id="270" name="Google Shape;270;p4"/>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200"/>
              <a:buFont typeface="Georgia"/>
              <a:buNone/>
            </a:pPr>
            <a:r>
              <a:rPr lang="en-US" sz="3200" b="1" i="0" u="none" strike="noStrike" cap="none">
                <a:solidFill>
                  <a:srgbClr val="0C1A35"/>
                </a:solidFill>
                <a:latin typeface="Georgia"/>
                <a:ea typeface="Georgia"/>
                <a:cs typeface="Georgia"/>
                <a:sym typeface="Georgia"/>
              </a:rPr>
              <a:t>Dataset &amp; Feature Engineering</a:t>
            </a:r>
            <a:endParaRPr sz="3200" b="0" i="0" u="none" strike="noStrike" cap="none">
              <a:solidFill>
                <a:schemeClr val="dk1"/>
              </a:solidFill>
              <a:latin typeface="Calibri"/>
              <a:ea typeface="Calibri"/>
              <a:cs typeface="Calibri"/>
              <a:sym typeface="Calibri"/>
            </a:endParaRPr>
          </a:p>
        </p:txBody>
      </p:sp>
      <p:grpSp>
        <p:nvGrpSpPr>
          <p:cNvPr id="271" name="Google Shape;271;p4"/>
          <p:cNvGrpSpPr/>
          <p:nvPr/>
        </p:nvGrpSpPr>
        <p:grpSpPr>
          <a:xfrm>
            <a:off x="457200" y="1353312"/>
            <a:ext cx="1920300" cy="1079087"/>
            <a:chOff x="457200" y="1353312"/>
            <a:chExt cx="1920300" cy="1079087"/>
          </a:xfrm>
        </p:grpSpPr>
        <p:sp>
          <p:nvSpPr>
            <p:cNvPr id="272" name="Google Shape;272;p4"/>
            <p:cNvSpPr/>
            <p:nvPr/>
          </p:nvSpPr>
          <p:spPr>
            <a:xfrm>
              <a:off x="457200" y="1353312"/>
              <a:ext cx="1920240" cy="1078992"/>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4"/>
            <p:cNvSpPr/>
            <p:nvPr/>
          </p:nvSpPr>
          <p:spPr>
            <a:xfrm>
              <a:off x="457200" y="1393940"/>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1A3F7A"/>
                </a:buClr>
                <a:buSzPts val="2800"/>
                <a:buFont typeface="Georgia"/>
                <a:buNone/>
              </a:pPr>
              <a:r>
                <a:rPr lang="en-US" sz="2800" b="1" i="0" u="none" strike="noStrike" cap="none">
                  <a:solidFill>
                    <a:srgbClr val="1A3F7A"/>
                  </a:solidFill>
                  <a:latin typeface="Josefin Sans"/>
                  <a:ea typeface="Josefin Sans"/>
                  <a:cs typeface="Josefin Sans"/>
                  <a:sym typeface="Josefin Sans"/>
                </a:rPr>
                <a:t>2016–2026</a:t>
              </a:r>
              <a:endParaRPr sz="2800" b="0" i="0" u="none" strike="noStrike" cap="none">
                <a:solidFill>
                  <a:schemeClr val="dk1"/>
                </a:solidFill>
                <a:latin typeface="Josefin Sans"/>
                <a:ea typeface="Josefin Sans"/>
                <a:cs typeface="Josefin Sans"/>
                <a:sym typeface="Josefin Sans"/>
              </a:endParaRPr>
            </a:p>
          </p:txBody>
        </p:sp>
        <p:sp>
          <p:nvSpPr>
            <p:cNvPr id="274" name="Google Shape;274;p4"/>
            <p:cNvSpPr/>
            <p:nvPr/>
          </p:nvSpPr>
          <p:spPr>
            <a:xfrm>
              <a:off x="457200" y="2000699"/>
              <a:ext cx="1920300" cy="431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Date Range</a:t>
              </a:r>
              <a:endParaRPr sz="1000" b="0" i="0" u="none" strike="noStrike" cap="none">
                <a:solidFill>
                  <a:schemeClr val="dk1"/>
                </a:solidFill>
                <a:latin typeface="Calibri"/>
                <a:ea typeface="Calibri"/>
                <a:cs typeface="Calibri"/>
                <a:sym typeface="Calibri"/>
              </a:endParaRPr>
            </a:p>
          </p:txBody>
        </p:sp>
      </p:grpSp>
      <p:grpSp>
        <p:nvGrpSpPr>
          <p:cNvPr id="275" name="Google Shape;275;p4"/>
          <p:cNvGrpSpPr/>
          <p:nvPr/>
        </p:nvGrpSpPr>
        <p:grpSpPr>
          <a:xfrm>
            <a:off x="2560299" y="1353312"/>
            <a:ext cx="1920300" cy="1078992"/>
            <a:chOff x="2542032" y="1353312"/>
            <a:chExt cx="1920300" cy="1078992"/>
          </a:xfrm>
        </p:grpSpPr>
        <p:sp>
          <p:nvSpPr>
            <p:cNvPr id="276" name="Google Shape;276;p4"/>
            <p:cNvSpPr/>
            <p:nvPr/>
          </p:nvSpPr>
          <p:spPr>
            <a:xfrm>
              <a:off x="2542032" y="1353312"/>
              <a:ext cx="1920240" cy="1078992"/>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4"/>
            <p:cNvSpPr/>
            <p:nvPr/>
          </p:nvSpPr>
          <p:spPr>
            <a:xfrm>
              <a:off x="2542032" y="1393940"/>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a:solidFill>
                    <a:srgbClr val="2B6CB0"/>
                  </a:solidFill>
                  <a:latin typeface="Josefin Sans"/>
                  <a:ea typeface="Josefin Sans"/>
                  <a:cs typeface="Josefin Sans"/>
                  <a:sym typeface="Josefin Sans"/>
                </a:rPr>
                <a:t>2,500+</a:t>
              </a:r>
              <a:endParaRPr sz="2800" b="0" i="0" u="none" strike="noStrike" cap="none">
                <a:solidFill>
                  <a:schemeClr val="dk1"/>
                </a:solidFill>
                <a:latin typeface="Josefin Sans"/>
                <a:ea typeface="Josefin Sans"/>
                <a:cs typeface="Josefin Sans"/>
                <a:sym typeface="Josefin Sans"/>
              </a:endParaRPr>
            </a:p>
          </p:txBody>
        </p:sp>
        <p:sp>
          <p:nvSpPr>
            <p:cNvPr id="278" name="Google Shape;278;p4"/>
            <p:cNvSpPr/>
            <p:nvPr/>
          </p:nvSpPr>
          <p:spPr>
            <a:xfrm>
              <a:off x="2542032" y="2000707"/>
              <a:ext cx="1920240" cy="3884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Daily Observations</a:t>
              </a:r>
              <a:endParaRPr sz="1000" b="0" i="0" u="none" strike="noStrike" cap="none">
                <a:solidFill>
                  <a:schemeClr val="dk1"/>
                </a:solidFill>
                <a:latin typeface="Calibri"/>
                <a:ea typeface="Calibri"/>
                <a:cs typeface="Calibri"/>
                <a:sym typeface="Calibri"/>
              </a:endParaRPr>
            </a:p>
          </p:txBody>
        </p:sp>
      </p:grpSp>
      <p:grpSp>
        <p:nvGrpSpPr>
          <p:cNvPr id="279" name="Google Shape;279;p4"/>
          <p:cNvGrpSpPr/>
          <p:nvPr/>
        </p:nvGrpSpPr>
        <p:grpSpPr>
          <a:xfrm>
            <a:off x="4663397" y="1353312"/>
            <a:ext cx="1920300" cy="1078992"/>
            <a:chOff x="4626864" y="1353312"/>
            <a:chExt cx="1920300" cy="1078992"/>
          </a:xfrm>
        </p:grpSpPr>
        <p:sp>
          <p:nvSpPr>
            <p:cNvPr id="280" name="Google Shape;280;p4"/>
            <p:cNvSpPr/>
            <p:nvPr/>
          </p:nvSpPr>
          <p:spPr>
            <a:xfrm>
              <a:off x="4626864" y="1353312"/>
              <a:ext cx="1920240" cy="1078992"/>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4"/>
            <p:cNvSpPr/>
            <p:nvPr/>
          </p:nvSpPr>
          <p:spPr>
            <a:xfrm>
              <a:off x="4626864" y="1393940"/>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800"/>
                <a:buFont typeface="Georgia"/>
                <a:buNone/>
              </a:pPr>
              <a:r>
                <a:rPr lang="en-US" sz="2800" b="1" i="0" u="none" strike="noStrike" cap="none">
                  <a:solidFill>
                    <a:srgbClr val="E8A020"/>
                  </a:solidFill>
                  <a:latin typeface="Josefin Sans"/>
                  <a:ea typeface="Josefin Sans"/>
                  <a:cs typeface="Josefin Sans"/>
                  <a:sym typeface="Josefin Sans"/>
                </a:rPr>
                <a:t>33</a:t>
              </a:r>
              <a:endParaRPr sz="2800" b="1" i="0" u="none" strike="noStrike" cap="none">
                <a:solidFill>
                  <a:srgbClr val="E8A020"/>
                </a:solidFill>
                <a:latin typeface="Josefin Sans"/>
                <a:ea typeface="Josefin Sans"/>
                <a:cs typeface="Josefin Sans"/>
                <a:sym typeface="Josefin Sans"/>
              </a:endParaRPr>
            </a:p>
          </p:txBody>
        </p:sp>
        <p:sp>
          <p:nvSpPr>
            <p:cNvPr id="282" name="Google Shape;282;p4"/>
            <p:cNvSpPr/>
            <p:nvPr/>
          </p:nvSpPr>
          <p:spPr>
            <a:xfrm>
              <a:off x="4626864" y="2000707"/>
              <a:ext cx="19203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Features Built</a:t>
              </a:r>
              <a:endParaRPr sz="1000" b="0" i="0" u="none" strike="noStrike" cap="none">
                <a:solidFill>
                  <a:schemeClr val="dk1"/>
                </a:solidFill>
                <a:latin typeface="Calibri"/>
                <a:ea typeface="Calibri"/>
                <a:cs typeface="Calibri"/>
                <a:sym typeface="Calibri"/>
              </a:endParaRPr>
            </a:p>
          </p:txBody>
        </p:sp>
      </p:grpSp>
      <p:grpSp>
        <p:nvGrpSpPr>
          <p:cNvPr id="283" name="Google Shape;283;p4"/>
          <p:cNvGrpSpPr/>
          <p:nvPr/>
        </p:nvGrpSpPr>
        <p:grpSpPr>
          <a:xfrm>
            <a:off x="6766496" y="1349978"/>
            <a:ext cx="1920300" cy="1079100"/>
            <a:chOff x="6766496" y="1349978"/>
            <a:chExt cx="1920300" cy="1079100"/>
          </a:xfrm>
        </p:grpSpPr>
        <p:sp>
          <p:nvSpPr>
            <p:cNvPr id="284" name="Google Shape;284;p4"/>
            <p:cNvSpPr/>
            <p:nvPr/>
          </p:nvSpPr>
          <p:spPr>
            <a:xfrm>
              <a:off x="6766496" y="1349978"/>
              <a:ext cx="1920300" cy="10791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
            <p:cNvSpPr/>
            <p:nvPr/>
          </p:nvSpPr>
          <p:spPr>
            <a:xfrm>
              <a:off x="6766496" y="1390607"/>
              <a:ext cx="1920300" cy="6042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F766E"/>
                </a:buClr>
                <a:buSzPts val="2800"/>
                <a:buFont typeface="Georgia"/>
                <a:buNone/>
              </a:pPr>
              <a:r>
                <a:rPr lang="en-US" sz="2800" b="1" i="0" u="none" strike="noStrike" cap="none">
                  <a:solidFill>
                    <a:srgbClr val="0F766E"/>
                  </a:solidFill>
                  <a:latin typeface="Josefin Sans"/>
                  <a:ea typeface="Josefin Sans"/>
                  <a:cs typeface="Josefin Sans"/>
                  <a:sym typeface="Josefin Sans"/>
                </a:rPr>
                <a:t>70 / 30</a:t>
              </a:r>
              <a:endParaRPr sz="2800" b="0" i="0" u="none" strike="noStrike" cap="none">
                <a:solidFill>
                  <a:schemeClr val="dk1"/>
                </a:solidFill>
                <a:latin typeface="Josefin Sans"/>
                <a:ea typeface="Josefin Sans"/>
                <a:cs typeface="Josefin Sans"/>
                <a:sym typeface="Josefin Sans"/>
              </a:endParaRPr>
            </a:p>
          </p:txBody>
        </p:sp>
        <p:sp>
          <p:nvSpPr>
            <p:cNvPr id="286" name="Google Shape;286;p4"/>
            <p:cNvSpPr/>
            <p:nvPr/>
          </p:nvSpPr>
          <p:spPr>
            <a:xfrm>
              <a:off x="6766496" y="1997373"/>
              <a:ext cx="1920300" cy="38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Train / Test Split</a:t>
              </a:r>
              <a:endParaRPr sz="1000" b="0" i="0" u="none" strike="noStrike" cap="none">
                <a:solidFill>
                  <a:schemeClr val="dk1"/>
                </a:solidFill>
                <a:latin typeface="Calibri"/>
                <a:ea typeface="Calibri"/>
                <a:cs typeface="Calibri"/>
                <a:sym typeface="Calibri"/>
              </a:endParaRPr>
            </a:p>
          </p:txBody>
        </p:sp>
      </p:grpSp>
      <p:graphicFrame>
        <p:nvGraphicFramePr>
          <p:cNvPr id="287" name="Google Shape;287;p4"/>
          <p:cNvGraphicFramePr/>
          <p:nvPr/>
        </p:nvGraphicFramePr>
        <p:xfrm>
          <a:off x="457200" y="2578608"/>
          <a:ext cx="8229600" cy="2103125"/>
        </p:xfrm>
        <a:graphic>
          <a:graphicData uri="http://schemas.openxmlformats.org/drawingml/2006/table">
            <a:tbl>
              <a:tblPr>
                <a:noFill/>
                <a:tableStyleId>{3E3B9169-A877-4DBC-8345-1FAB3B18362B}</a:tableStyleId>
              </a:tblPr>
              <a:tblGrid>
                <a:gridCol w="1737350">
                  <a:extLst>
                    <a:ext uri="{9D8B030D-6E8A-4147-A177-3AD203B41FA5}">
                      <a16:colId xmlns:a16="http://schemas.microsoft.com/office/drawing/2014/main" val="20000"/>
                    </a:ext>
                  </a:extLst>
                </a:gridCol>
                <a:gridCol w="2103125">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560325">
                  <a:extLst>
                    <a:ext uri="{9D8B030D-6E8A-4147-A177-3AD203B41FA5}">
                      <a16:colId xmlns:a16="http://schemas.microsoft.com/office/drawing/2014/main" val="20003"/>
                    </a:ext>
                  </a:extLst>
                </a:gridCol>
              </a:tblGrid>
              <a:tr h="420625">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Variable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Constructed As</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Role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tc>
                  <a:txBody>
                    <a:bodyPr/>
                    <a:lstStyle/>
                    <a:p>
                      <a:pPr marL="0" marR="0" lvl="0" indent="0" algn="ctr" rtl="0">
                        <a:lnSpc>
                          <a:spcPct val="100000"/>
                        </a:lnSpc>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Intuition</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C1A35"/>
                    </a:solidFill>
                  </a:tcPr>
                </a:tc>
                <a:extLst>
                  <a:ext uri="{0D108BD9-81ED-4DB2-BD59-A6C34878D82A}">
                    <a16:rowId xmlns:a16="http://schemas.microsoft.com/office/drawing/2014/main" val="10000"/>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em_return (Y)</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log(EMBt / EMBt-1)</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Dependent variable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What we predict and trade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1"/>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VIX (X₁)</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log(VIX_t) − log(VIX_t-1) × 100</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Primary predictor</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in levels; fear spike detector</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2"/>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Credit Spread (X₂)</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Spreadt − Spreadt-1</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Risk premium proxy</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in levels; increased risk off climate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3"/>
                  </a:ext>
                </a:extLst>
              </a:tr>
              <a:tr h="420625">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Oil Return (X₃)</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log(OIL_t / OIL_t-1)</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Global risk appetite</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1E293B"/>
                        </a:buClr>
                        <a:buSzPts val="1100"/>
                        <a:buFont typeface="Calibri"/>
                        <a:buNone/>
                      </a:pPr>
                      <a:r>
                        <a:rPr lang="en-US" sz="1100" u="none" strike="noStrike" cap="none">
                          <a:solidFill>
                            <a:srgbClr val="1E293B"/>
                          </a:solidFill>
                          <a:latin typeface="Calibri"/>
                          <a:ea typeface="Calibri"/>
                          <a:cs typeface="Calibri"/>
                          <a:sym typeface="Calibri"/>
                        </a:rPr>
                        <a:t>Δ in levels; increased macro uncertainty</a:t>
                      </a:r>
                      <a:endParaRPr sz="1100" u="none" strike="noStrike" cap="none">
                        <a:latin typeface="Calibri"/>
                        <a:ea typeface="Calibri"/>
                        <a:cs typeface="Calibri"/>
                        <a:sym typeface="Calibri"/>
                      </a:endParaRPr>
                    </a:p>
                  </a:txBody>
                  <a:tcPr marL="91450" marR="91450" marT="45725" marB="45725" anchor="ctr">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88" name="Google Shape;288;p4"/>
          <p:cNvSpPr/>
          <p:nvPr/>
        </p:nvSpPr>
        <p:spPr>
          <a:xfrm>
            <a:off x="457200" y="4755027"/>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Returns used for prices (oil, EMB); first differences used for non-prices (VIX, spreads). Eliminates look-ahead bias by predicting t+1 returns using t predictors.</a:t>
            </a:r>
            <a:endParaRPr sz="1000" b="0" i="0" u="none" strike="noStrike" cap="none">
              <a:solidFill>
                <a:schemeClr val="dk1"/>
              </a:solidFill>
              <a:latin typeface="Calibri"/>
              <a:ea typeface="Calibri"/>
              <a:cs typeface="Calibri"/>
              <a:sym typeface="Calibri"/>
            </a:endParaRPr>
          </a:p>
        </p:txBody>
      </p:sp>
      <p:sp>
        <p:nvSpPr>
          <p:cNvPr id="289" name="Google Shape;289;p4"/>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4"/>
        <p:cNvGrpSpPr/>
        <p:nvPr/>
      </p:nvGrpSpPr>
      <p:grpSpPr>
        <a:xfrm>
          <a:off x="0" y="0"/>
          <a:ext cx="0" cy="0"/>
          <a:chOff x="0" y="0"/>
          <a:chExt cx="0" cy="0"/>
        </a:xfrm>
      </p:grpSpPr>
      <p:sp>
        <p:nvSpPr>
          <p:cNvPr id="295" name="Google Shape;295;p5"/>
          <p:cNvSpPr/>
          <p:nvPr/>
        </p:nvSpPr>
        <p:spPr>
          <a:xfrm>
            <a:off x="365700" y="4912526"/>
            <a:ext cx="8412600" cy="216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5"/>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5"/>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DATA - CORRELATIONS</a:t>
            </a:r>
            <a:endParaRPr sz="1050" b="0" i="0" u="none" strike="noStrike" cap="none">
              <a:solidFill>
                <a:schemeClr val="dk1"/>
              </a:solidFill>
              <a:latin typeface="Calibri"/>
              <a:ea typeface="Calibri"/>
              <a:cs typeface="Calibri"/>
              <a:sym typeface="Calibri"/>
            </a:endParaRPr>
          </a:p>
        </p:txBody>
      </p:sp>
      <p:sp>
        <p:nvSpPr>
          <p:cNvPr id="298" name="Google Shape;298;p5"/>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200"/>
              <a:buFont typeface="Georgia"/>
              <a:buNone/>
            </a:pPr>
            <a:r>
              <a:rPr lang="en-US" sz="3200" b="1" i="0" u="none" strike="noStrike" cap="none">
                <a:solidFill>
                  <a:srgbClr val="0C1A35"/>
                </a:solidFill>
                <a:latin typeface="Georgia"/>
                <a:ea typeface="Georgia"/>
                <a:cs typeface="Georgia"/>
                <a:sym typeface="Georgia"/>
              </a:rPr>
              <a:t>How the Variables Move Together</a:t>
            </a:r>
            <a:endParaRPr sz="3200" b="0" i="0" u="none" strike="noStrike" cap="none">
              <a:solidFill>
                <a:schemeClr val="dk1"/>
              </a:solidFill>
              <a:latin typeface="Calibri"/>
              <a:ea typeface="Calibri"/>
              <a:cs typeface="Calibri"/>
              <a:sym typeface="Calibri"/>
            </a:endParaRPr>
          </a:p>
        </p:txBody>
      </p:sp>
      <p:sp>
        <p:nvSpPr>
          <p:cNvPr id="299" name="Google Shape;299;p5"/>
          <p:cNvSpPr/>
          <p:nvPr/>
        </p:nvSpPr>
        <p:spPr>
          <a:xfrm>
            <a:off x="365750" y="1371600"/>
            <a:ext cx="8412600" cy="792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5"/>
          <p:cNvSpPr/>
          <p:nvPr/>
        </p:nvSpPr>
        <p:spPr>
          <a:xfrm>
            <a:off x="365750" y="1371600"/>
            <a:ext cx="91500" cy="7920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5"/>
          <p:cNvSpPr/>
          <p:nvPr/>
        </p:nvSpPr>
        <p:spPr>
          <a:xfrm>
            <a:off x="631018" y="1569634"/>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Δ VIX vs EMB Return</a:t>
            </a:r>
            <a:endParaRPr sz="1200" b="0" i="0" u="none" strike="noStrike" cap="none">
              <a:solidFill>
                <a:schemeClr val="dk1"/>
              </a:solidFill>
              <a:latin typeface="Calibri"/>
              <a:ea typeface="Calibri"/>
              <a:cs typeface="Calibri"/>
              <a:sym typeface="Calibri"/>
            </a:endParaRPr>
          </a:p>
        </p:txBody>
      </p:sp>
      <p:sp>
        <p:nvSpPr>
          <p:cNvPr id="302" name="Google Shape;302;p5"/>
          <p:cNvSpPr/>
          <p:nvPr/>
        </p:nvSpPr>
        <p:spPr>
          <a:xfrm>
            <a:off x="3098776" y="1632199"/>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91C1C"/>
              </a:buClr>
              <a:buSzPts val="1100"/>
              <a:buFont typeface="Calibri"/>
              <a:buNone/>
            </a:pPr>
            <a:r>
              <a:rPr lang="en-US" sz="1100" b="1" i="0" u="none" strike="noStrike" cap="none">
                <a:solidFill>
                  <a:srgbClr val="B91C1C"/>
                </a:solidFill>
                <a:latin typeface="Calibri"/>
                <a:ea typeface="Calibri"/>
                <a:cs typeface="Calibri"/>
                <a:sym typeface="Calibri"/>
              </a:rPr>
              <a:t>−0.47  (Strong Negative)</a:t>
            </a:r>
            <a:endParaRPr sz="1100" b="0" i="0" u="none" strike="noStrike" cap="none">
              <a:solidFill>
                <a:schemeClr val="dk1"/>
              </a:solidFill>
              <a:latin typeface="Calibri"/>
              <a:ea typeface="Calibri"/>
              <a:cs typeface="Calibri"/>
              <a:sym typeface="Calibri"/>
            </a:endParaRPr>
          </a:p>
        </p:txBody>
      </p:sp>
      <p:sp>
        <p:nvSpPr>
          <p:cNvPr id="303" name="Google Shape;303;p5"/>
          <p:cNvSpPr/>
          <p:nvPr/>
        </p:nvSpPr>
        <p:spPr>
          <a:xfrm>
            <a:off x="5285234" y="1425609"/>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On the SAME day: when fear spikes, investors panic-sell EMBs. This is a contemporaneous reaction, not a prediction.</a:t>
            </a:r>
            <a:endParaRPr sz="1000" b="0" i="0" u="none" strike="noStrike" cap="none">
              <a:solidFill>
                <a:schemeClr val="dk1"/>
              </a:solidFill>
              <a:latin typeface="Calibri"/>
              <a:ea typeface="Calibri"/>
              <a:cs typeface="Calibri"/>
              <a:sym typeface="Calibri"/>
            </a:endParaRPr>
          </a:p>
        </p:txBody>
      </p:sp>
      <p:sp>
        <p:nvSpPr>
          <p:cNvPr id="304" name="Google Shape;304;p5"/>
          <p:cNvSpPr/>
          <p:nvPr/>
        </p:nvSpPr>
        <p:spPr>
          <a:xfrm>
            <a:off x="365750" y="2262741"/>
            <a:ext cx="8412600" cy="7920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5"/>
          <p:cNvSpPr/>
          <p:nvPr/>
        </p:nvSpPr>
        <p:spPr>
          <a:xfrm>
            <a:off x="365750" y="2262741"/>
            <a:ext cx="91500" cy="7920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5"/>
          <p:cNvSpPr/>
          <p:nvPr/>
        </p:nvSpPr>
        <p:spPr>
          <a:xfrm>
            <a:off x="631018" y="2467106"/>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Δ Credit Spread vs EMB</a:t>
            </a:r>
            <a:endParaRPr sz="1200" b="0" i="0" u="none" strike="noStrike" cap="none">
              <a:solidFill>
                <a:schemeClr val="dk1"/>
              </a:solidFill>
              <a:latin typeface="Calibri"/>
              <a:ea typeface="Calibri"/>
              <a:cs typeface="Calibri"/>
              <a:sym typeface="Calibri"/>
            </a:endParaRPr>
          </a:p>
        </p:txBody>
      </p:sp>
      <p:sp>
        <p:nvSpPr>
          <p:cNvPr id="307" name="Google Shape;307;p5"/>
          <p:cNvSpPr/>
          <p:nvPr/>
        </p:nvSpPr>
        <p:spPr>
          <a:xfrm>
            <a:off x="3098776" y="2529983"/>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3F7A"/>
              </a:buClr>
              <a:buSzPts val="1100"/>
              <a:buFont typeface="Calibri"/>
              <a:buNone/>
            </a:pPr>
            <a:r>
              <a:rPr lang="en-US" sz="1100" b="1" i="0" u="none" strike="noStrike" cap="none">
                <a:solidFill>
                  <a:srgbClr val="1A3F7A"/>
                </a:solidFill>
                <a:latin typeface="Calibri"/>
                <a:ea typeface="Calibri"/>
                <a:cs typeface="Calibri"/>
                <a:sym typeface="Calibri"/>
              </a:rPr>
              <a:t>−0.35  (Moderate Negative)</a:t>
            </a:r>
            <a:endParaRPr sz="1100" b="0" i="0" u="none" strike="noStrike" cap="none">
              <a:solidFill>
                <a:schemeClr val="dk1"/>
              </a:solidFill>
              <a:latin typeface="Calibri"/>
              <a:ea typeface="Calibri"/>
              <a:cs typeface="Calibri"/>
              <a:sym typeface="Calibri"/>
            </a:endParaRPr>
          </a:p>
        </p:txBody>
      </p:sp>
      <p:sp>
        <p:nvSpPr>
          <p:cNvPr id="308" name="Google Shape;308;p5"/>
          <p:cNvSpPr/>
          <p:nvPr/>
        </p:nvSpPr>
        <p:spPr>
          <a:xfrm>
            <a:off x="5285234" y="2316750"/>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Higher credit spreads = more market stress = investors dump risky EM bonds on the same day they see spreads widen.</a:t>
            </a:r>
            <a:endParaRPr sz="1000" b="0" i="0" u="none" strike="noStrike" cap="none">
              <a:solidFill>
                <a:schemeClr val="dk1"/>
              </a:solidFill>
              <a:latin typeface="Calibri"/>
              <a:ea typeface="Calibri"/>
              <a:cs typeface="Calibri"/>
              <a:sym typeface="Calibri"/>
            </a:endParaRPr>
          </a:p>
        </p:txBody>
      </p:sp>
      <p:sp>
        <p:nvSpPr>
          <p:cNvPr id="309" name="Google Shape;309;p5"/>
          <p:cNvSpPr/>
          <p:nvPr/>
        </p:nvSpPr>
        <p:spPr>
          <a:xfrm>
            <a:off x="365750" y="3153883"/>
            <a:ext cx="8412600" cy="792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5"/>
          <p:cNvSpPr/>
          <p:nvPr/>
        </p:nvSpPr>
        <p:spPr>
          <a:xfrm>
            <a:off x="365750" y="3153883"/>
            <a:ext cx="91500" cy="7920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5"/>
          <p:cNvSpPr/>
          <p:nvPr/>
        </p:nvSpPr>
        <p:spPr>
          <a:xfrm>
            <a:off x="631018" y="3364578"/>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Oil Return vs EMB Return</a:t>
            </a:r>
            <a:endParaRPr sz="1200" b="0" i="0" u="none" strike="noStrike" cap="none">
              <a:solidFill>
                <a:schemeClr val="dk1"/>
              </a:solidFill>
              <a:latin typeface="Calibri"/>
              <a:ea typeface="Calibri"/>
              <a:cs typeface="Calibri"/>
              <a:sym typeface="Calibri"/>
            </a:endParaRPr>
          </a:p>
        </p:txBody>
      </p:sp>
      <p:sp>
        <p:nvSpPr>
          <p:cNvPr id="312" name="Google Shape;312;p5"/>
          <p:cNvSpPr/>
          <p:nvPr/>
        </p:nvSpPr>
        <p:spPr>
          <a:xfrm>
            <a:off x="3098776" y="3427766"/>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1100"/>
              <a:buFont typeface="Calibri"/>
              <a:buNone/>
            </a:pPr>
            <a:r>
              <a:rPr lang="en-US" sz="1100" b="1" i="0" u="none" strike="noStrike" cap="none">
                <a:solidFill>
                  <a:srgbClr val="0F766E"/>
                </a:solidFill>
                <a:latin typeface="Calibri"/>
                <a:ea typeface="Calibri"/>
                <a:cs typeface="Calibri"/>
                <a:sym typeface="Calibri"/>
              </a:rPr>
              <a:t>+0.24  (Weak Positive)</a:t>
            </a:r>
            <a:endParaRPr sz="1100" b="0" i="0" u="none" strike="noStrike" cap="none">
              <a:solidFill>
                <a:schemeClr val="dk1"/>
              </a:solidFill>
              <a:latin typeface="Calibri"/>
              <a:ea typeface="Calibri"/>
              <a:cs typeface="Calibri"/>
              <a:sym typeface="Calibri"/>
            </a:endParaRPr>
          </a:p>
        </p:txBody>
      </p:sp>
      <p:sp>
        <p:nvSpPr>
          <p:cNvPr id="313" name="Google Shape;313;p5"/>
          <p:cNvSpPr/>
          <p:nvPr/>
        </p:nvSpPr>
        <p:spPr>
          <a:xfrm>
            <a:off x="5285234" y="3207891"/>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Rising oil = healthy global economy = more risk appetite. But the relationship is noisy since geopolitical volatility increases prices. </a:t>
            </a:r>
            <a:endParaRPr sz="1000" b="0" i="0" u="none" strike="noStrike" cap="none">
              <a:solidFill>
                <a:schemeClr val="dk1"/>
              </a:solidFill>
              <a:latin typeface="Calibri"/>
              <a:ea typeface="Calibri"/>
              <a:cs typeface="Calibri"/>
              <a:sym typeface="Calibri"/>
            </a:endParaRPr>
          </a:p>
        </p:txBody>
      </p:sp>
      <p:sp>
        <p:nvSpPr>
          <p:cNvPr id="314" name="Google Shape;314;p5"/>
          <p:cNvSpPr/>
          <p:nvPr/>
        </p:nvSpPr>
        <p:spPr>
          <a:xfrm>
            <a:off x="365750" y="4045024"/>
            <a:ext cx="8412600" cy="7920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5"/>
          <p:cNvSpPr/>
          <p:nvPr/>
        </p:nvSpPr>
        <p:spPr>
          <a:xfrm>
            <a:off x="365750" y="4045024"/>
            <a:ext cx="91500" cy="792000"/>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5"/>
          <p:cNvSpPr/>
          <p:nvPr/>
        </p:nvSpPr>
        <p:spPr>
          <a:xfrm>
            <a:off x="631018" y="4262050"/>
            <a:ext cx="25602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Δ VIX vs Δ Credit Spread</a:t>
            </a:r>
            <a:endParaRPr sz="1200" b="0" i="0" u="none" strike="noStrike" cap="none">
              <a:solidFill>
                <a:schemeClr val="dk1"/>
              </a:solidFill>
              <a:latin typeface="Calibri"/>
              <a:ea typeface="Calibri"/>
              <a:cs typeface="Calibri"/>
              <a:sym typeface="Calibri"/>
            </a:endParaRPr>
          </a:p>
        </p:txBody>
      </p:sp>
      <p:sp>
        <p:nvSpPr>
          <p:cNvPr id="317" name="Google Shape;317;p5"/>
          <p:cNvSpPr/>
          <p:nvPr/>
        </p:nvSpPr>
        <p:spPr>
          <a:xfrm>
            <a:off x="3098776" y="4325550"/>
            <a:ext cx="1828800" cy="216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100"/>
              <a:buFont typeface="Calibri"/>
              <a:buNone/>
            </a:pPr>
            <a:r>
              <a:rPr lang="en-US" sz="1100" b="1" i="0" u="none" strike="noStrike" cap="none">
                <a:solidFill>
                  <a:srgbClr val="E8A020"/>
                </a:solidFill>
                <a:latin typeface="Calibri"/>
                <a:ea typeface="Calibri"/>
                <a:cs typeface="Calibri"/>
                <a:sym typeface="Calibri"/>
              </a:rPr>
              <a:t>+0.46  (⚠ Multicollinearity)</a:t>
            </a:r>
            <a:endParaRPr sz="1100" b="0" i="0" u="none" strike="noStrike" cap="none">
              <a:solidFill>
                <a:schemeClr val="dk1"/>
              </a:solidFill>
              <a:latin typeface="Calibri"/>
              <a:ea typeface="Calibri"/>
              <a:cs typeface="Calibri"/>
              <a:sym typeface="Calibri"/>
            </a:endParaRPr>
          </a:p>
        </p:txBody>
      </p:sp>
      <p:sp>
        <p:nvSpPr>
          <p:cNvPr id="318" name="Google Shape;318;p5"/>
          <p:cNvSpPr/>
          <p:nvPr/>
        </p:nvSpPr>
        <p:spPr>
          <a:xfrm>
            <a:off x="5285234" y="4099033"/>
            <a:ext cx="3383400" cy="6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PROBLEM: Two of our predictors are highly correlated with each other; they explain the same variation in EMB returns.</a:t>
            </a:r>
            <a:endParaRPr sz="1000" b="0" i="0" u="none" strike="noStrike" cap="none">
              <a:solidFill>
                <a:schemeClr val="dk1"/>
              </a:solidFill>
              <a:latin typeface="Calibri"/>
              <a:ea typeface="Calibri"/>
              <a:cs typeface="Calibri"/>
              <a:sym typeface="Calibri"/>
            </a:endParaRPr>
          </a:p>
        </p:txBody>
      </p:sp>
      <p:sp>
        <p:nvSpPr>
          <p:cNvPr id="319" name="Google Shape;319;p5"/>
          <p:cNvSpPr/>
          <p:nvPr/>
        </p:nvSpPr>
        <p:spPr>
          <a:xfrm>
            <a:off x="457200" y="4864616"/>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Important: correlations are same-day (time t) relationships which is good for understanding reactions, but NOT as good for predicting future returns.</a:t>
            </a:r>
            <a:endParaRPr sz="1000" b="0" i="0" u="none" strike="noStrike" cap="none">
              <a:solidFill>
                <a:schemeClr val="dk1"/>
              </a:solidFill>
              <a:latin typeface="Calibri"/>
              <a:ea typeface="Calibri"/>
              <a:cs typeface="Calibri"/>
              <a:sym typeface="Calibri"/>
            </a:endParaRPr>
          </a:p>
        </p:txBody>
      </p:sp>
      <p:sp>
        <p:nvSpPr>
          <p:cNvPr id="320" name="Google Shape;320;p5"/>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5"/>
        <p:cNvGrpSpPr/>
        <p:nvPr/>
      </p:nvGrpSpPr>
      <p:grpSpPr>
        <a:xfrm>
          <a:off x="0" y="0"/>
          <a:ext cx="0" cy="0"/>
          <a:chOff x="0" y="0"/>
          <a:chExt cx="0" cy="0"/>
        </a:xfrm>
      </p:grpSpPr>
      <p:sp>
        <p:nvSpPr>
          <p:cNvPr id="326" name="Google Shape;326;g3d86e330eee_36_33"/>
          <p:cNvSpPr/>
          <p:nvPr/>
        </p:nvSpPr>
        <p:spPr>
          <a:xfrm>
            <a:off x="0" y="762000"/>
            <a:ext cx="9144000" cy="38100"/>
          </a:xfrm>
          <a:prstGeom prst="rect">
            <a:avLst/>
          </a:prstGeom>
          <a:solidFill>
            <a:srgbClr val="E8A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g3d86e330eee_36_33"/>
          <p:cNvSpPr/>
          <p:nvPr/>
        </p:nvSpPr>
        <p:spPr>
          <a:xfrm>
            <a:off x="973050" y="1750350"/>
            <a:ext cx="7197900" cy="1642800"/>
          </a:xfrm>
          <a:prstGeom prst="rect">
            <a:avLst/>
          </a:prstGeom>
          <a:solidFill>
            <a:srgbClr val="000000">
              <a:alpha val="0"/>
            </a:srgbClr>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Model 3 </a:t>
            </a:r>
            <a:endParaRPr sz="52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5200"/>
              <a:buFont typeface="Arial"/>
              <a:buNone/>
            </a:pPr>
            <a:r>
              <a:rPr lang="en-US" sz="5200" b="1" i="0" u="none" strike="noStrike" cap="none">
                <a:solidFill>
                  <a:srgbClr val="FFFFFF"/>
                </a:solidFill>
                <a:latin typeface="Georgia"/>
                <a:ea typeface="Georgia"/>
                <a:cs typeface="Georgia"/>
                <a:sym typeface="Georgia"/>
              </a:rPr>
              <a:t>Threshold Analysis</a:t>
            </a:r>
            <a:endParaRPr sz="5200" b="1" i="0" u="none" strike="noStrike" cap="none">
              <a:solidFill>
                <a:srgbClr val="FFFFFF"/>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2"/>
        <p:cNvGrpSpPr/>
        <p:nvPr/>
      </p:nvGrpSpPr>
      <p:grpSpPr>
        <a:xfrm>
          <a:off x="0" y="0"/>
          <a:ext cx="0" cy="0"/>
          <a:chOff x="0" y="0"/>
          <a:chExt cx="0" cy="0"/>
        </a:xfrm>
      </p:grpSpPr>
      <p:sp>
        <p:nvSpPr>
          <p:cNvPr id="333" name="Google Shape;333;p3"/>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3"/>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MARKET CONTEXT</a:t>
            </a:r>
            <a:endParaRPr sz="1050" b="0" i="0" u="none" strike="noStrike" cap="none">
              <a:solidFill>
                <a:schemeClr val="dk1"/>
              </a:solidFill>
              <a:latin typeface="Calibri"/>
              <a:ea typeface="Calibri"/>
              <a:cs typeface="Calibri"/>
              <a:sym typeface="Calibri"/>
            </a:endParaRPr>
          </a:p>
        </p:txBody>
      </p:sp>
      <p:sp>
        <p:nvSpPr>
          <p:cNvPr id="335" name="Google Shape;335;p3"/>
          <p:cNvSpPr/>
          <p:nvPr/>
        </p:nvSpPr>
        <p:spPr>
          <a:xfrm>
            <a:off x="457200" y="502925"/>
            <a:ext cx="84735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200"/>
              <a:buFont typeface="Georgia"/>
              <a:buNone/>
            </a:pPr>
            <a:r>
              <a:rPr lang="en-US" sz="3200" b="1" i="0" u="none" strike="noStrike" cap="none">
                <a:solidFill>
                  <a:srgbClr val="0C1A35"/>
                </a:solidFill>
                <a:latin typeface="Georgia"/>
                <a:ea typeface="Georgia"/>
                <a:cs typeface="Georgia"/>
                <a:sym typeface="Georgia"/>
              </a:rPr>
              <a:t>The Core Trade Thesis</a:t>
            </a:r>
            <a:endParaRPr sz="3200" b="0" i="0" u="none" strike="noStrike" cap="none">
              <a:solidFill>
                <a:schemeClr val="dk1"/>
              </a:solidFill>
              <a:latin typeface="Calibri"/>
              <a:ea typeface="Calibri"/>
              <a:cs typeface="Calibri"/>
              <a:sym typeface="Calibri"/>
            </a:endParaRPr>
          </a:p>
        </p:txBody>
      </p:sp>
      <p:sp>
        <p:nvSpPr>
          <p:cNvPr id="336" name="Google Shape;336;p3"/>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3"/>
          <p:cNvSpPr/>
          <p:nvPr/>
        </p:nvSpPr>
        <p:spPr>
          <a:xfrm>
            <a:off x="458209" y="1353312"/>
            <a:ext cx="4023300" cy="34746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3"/>
          <p:cNvSpPr/>
          <p:nvPr/>
        </p:nvSpPr>
        <p:spPr>
          <a:xfrm>
            <a:off x="4571990" y="1353300"/>
            <a:ext cx="4114800" cy="3474600"/>
          </a:xfrm>
          <a:prstGeom prst="rect">
            <a:avLst/>
          </a:prstGeom>
          <a:solidFill>
            <a:srgbClr val="0C1A35"/>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3"/>
          <p:cNvSpPr/>
          <p:nvPr/>
        </p:nvSpPr>
        <p:spPr>
          <a:xfrm>
            <a:off x="4709125" y="1450938"/>
            <a:ext cx="38406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300" b="1" i="0" u="none" strike="noStrike" cap="none">
                <a:solidFill>
                  <a:srgbClr val="E8A020"/>
                </a:solidFill>
                <a:latin typeface="Calibri"/>
                <a:ea typeface="Calibri"/>
                <a:cs typeface="Calibri"/>
                <a:sym typeface="Calibri"/>
              </a:rPr>
              <a:t>Flight-to-Safety Thesis</a:t>
            </a:r>
            <a:endParaRPr sz="1300" b="0" i="0" u="none" strike="noStrike" cap="none">
              <a:solidFill>
                <a:schemeClr val="dk1"/>
              </a:solidFill>
              <a:latin typeface="Calibri"/>
              <a:ea typeface="Calibri"/>
              <a:cs typeface="Calibri"/>
              <a:sym typeface="Calibri"/>
            </a:endParaRPr>
          </a:p>
        </p:txBody>
      </p:sp>
      <p:sp>
        <p:nvSpPr>
          <p:cNvPr id="340" name="Google Shape;340;p3"/>
          <p:cNvSpPr/>
          <p:nvPr/>
        </p:nvSpPr>
        <p:spPr>
          <a:xfrm>
            <a:off x="4709125" y="1903428"/>
            <a:ext cx="3840600" cy="4389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3"/>
          <p:cNvSpPr/>
          <p:nvPr/>
        </p:nvSpPr>
        <p:spPr>
          <a:xfrm>
            <a:off x="4709133" y="1953773"/>
            <a:ext cx="37125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VIX Spikes (top 20%)</a:t>
            </a:r>
            <a:endParaRPr sz="1150" b="0" i="0" u="none" strike="noStrike" cap="none">
              <a:solidFill>
                <a:schemeClr val="dk1"/>
              </a:solidFill>
              <a:latin typeface="Calibri"/>
              <a:ea typeface="Calibri"/>
              <a:cs typeface="Calibri"/>
              <a:sym typeface="Calibri"/>
            </a:endParaRPr>
          </a:p>
        </p:txBody>
      </p:sp>
      <p:sp>
        <p:nvSpPr>
          <p:cNvPr id="342" name="Google Shape;342;p3"/>
          <p:cNvSpPr/>
          <p:nvPr/>
        </p:nvSpPr>
        <p:spPr>
          <a:xfrm>
            <a:off x="6400830" y="2325140"/>
            <a:ext cx="4572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000"/>
              <a:buFont typeface="Calibri"/>
              <a:buNone/>
            </a:pPr>
            <a:r>
              <a:rPr lang="en-US" sz="1000" b="0" i="0" u="none" strike="noStrike" cap="none">
                <a:solidFill>
                  <a:srgbClr val="E8A020"/>
                </a:solidFill>
                <a:latin typeface="Calibri"/>
                <a:ea typeface="Calibri"/>
                <a:cs typeface="Calibri"/>
                <a:sym typeface="Calibri"/>
              </a:rPr>
              <a:t>▼</a:t>
            </a:r>
            <a:endParaRPr sz="1000" b="0" i="0" u="none" strike="noStrike" cap="none">
              <a:solidFill>
                <a:schemeClr val="dk1"/>
              </a:solidFill>
              <a:latin typeface="Calibri"/>
              <a:ea typeface="Calibri"/>
              <a:cs typeface="Calibri"/>
              <a:sym typeface="Calibri"/>
            </a:endParaRPr>
          </a:p>
        </p:txBody>
      </p:sp>
      <p:sp>
        <p:nvSpPr>
          <p:cNvPr id="343" name="Google Shape;343;p3"/>
          <p:cNvSpPr/>
          <p:nvPr/>
        </p:nvSpPr>
        <p:spPr>
          <a:xfrm>
            <a:off x="4709125" y="2493186"/>
            <a:ext cx="3840600" cy="4389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3"/>
          <p:cNvSpPr/>
          <p:nvPr/>
        </p:nvSpPr>
        <p:spPr>
          <a:xfrm>
            <a:off x="4773133" y="2520618"/>
            <a:ext cx="37125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Panic → Sell EM Bonds</a:t>
            </a:r>
            <a:endParaRPr sz="1150" b="0" i="0" u="none" strike="noStrike" cap="none">
              <a:solidFill>
                <a:schemeClr val="dk1"/>
              </a:solidFill>
              <a:latin typeface="Calibri"/>
              <a:ea typeface="Calibri"/>
              <a:cs typeface="Calibri"/>
              <a:sym typeface="Calibri"/>
            </a:endParaRPr>
          </a:p>
        </p:txBody>
      </p:sp>
      <p:sp>
        <p:nvSpPr>
          <p:cNvPr id="345" name="Google Shape;345;p3"/>
          <p:cNvSpPr/>
          <p:nvPr/>
        </p:nvSpPr>
        <p:spPr>
          <a:xfrm>
            <a:off x="6400830" y="2915625"/>
            <a:ext cx="4572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000"/>
              <a:buFont typeface="Calibri"/>
              <a:buNone/>
            </a:pPr>
            <a:r>
              <a:rPr lang="en-US" sz="1000" b="0" i="0" u="none" strike="noStrike" cap="none">
                <a:solidFill>
                  <a:srgbClr val="E8A020"/>
                </a:solidFill>
                <a:latin typeface="Calibri"/>
                <a:ea typeface="Calibri"/>
                <a:cs typeface="Calibri"/>
                <a:sym typeface="Calibri"/>
              </a:rPr>
              <a:t>▼</a:t>
            </a:r>
            <a:endParaRPr sz="1000" b="0" i="0" u="none" strike="noStrike" cap="none">
              <a:solidFill>
                <a:schemeClr val="dk1"/>
              </a:solidFill>
              <a:latin typeface="Calibri"/>
              <a:ea typeface="Calibri"/>
              <a:cs typeface="Calibri"/>
              <a:sym typeface="Calibri"/>
            </a:endParaRPr>
          </a:p>
        </p:txBody>
      </p:sp>
      <p:sp>
        <p:nvSpPr>
          <p:cNvPr id="346" name="Google Shape;346;p3"/>
          <p:cNvSpPr/>
          <p:nvPr/>
        </p:nvSpPr>
        <p:spPr>
          <a:xfrm>
            <a:off x="4709125" y="3082945"/>
            <a:ext cx="3840600" cy="4389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3"/>
          <p:cNvSpPr/>
          <p:nvPr/>
        </p:nvSpPr>
        <p:spPr>
          <a:xfrm>
            <a:off x="4773133" y="3110377"/>
            <a:ext cx="37125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Prices Overshoot Downward</a:t>
            </a:r>
            <a:endParaRPr sz="1150" b="0" i="0" u="none" strike="noStrike" cap="none">
              <a:solidFill>
                <a:schemeClr val="dk1"/>
              </a:solidFill>
              <a:latin typeface="Calibri"/>
              <a:ea typeface="Calibri"/>
              <a:cs typeface="Calibri"/>
              <a:sym typeface="Calibri"/>
            </a:endParaRPr>
          </a:p>
        </p:txBody>
      </p:sp>
      <p:sp>
        <p:nvSpPr>
          <p:cNvPr id="348" name="Google Shape;348;p3"/>
          <p:cNvSpPr/>
          <p:nvPr/>
        </p:nvSpPr>
        <p:spPr>
          <a:xfrm>
            <a:off x="6400830" y="3506110"/>
            <a:ext cx="4572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000"/>
              <a:buFont typeface="Calibri"/>
              <a:buNone/>
            </a:pPr>
            <a:r>
              <a:rPr lang="en-US" sz="1000" b="0" i="0" u="none" strike="noStrike" cap="none">
                <a:solidFill>
                  <a:srgbClr val="E8A020"/>
                </a:solidFill>
                <a:latin typeface="Calibri"/>
                <a:ea typeface="Calibri"/>
                <a:cs typeface="Calibri"/>
                <a:sym typeface="Calibri"/>
              </a:rPr>
              <a:t>▼</a:t>
            </a:r>
            <a:endParaRPr sz="1000" b="0" i="0" u="none" strike="noStrike" cap="none">
              <a:solidFill>
                <a:schemeClr val="dk1"/>
              </a:solidFill>
              <a:latin typeface="Calibri"/>
              <a:ea typeface="Calibri"/>
              <a:cs typeface="Calibri"/>
              <a:sym typeface="Calibri"/>
            </a:endParaRPr>
          </a:p>
        </p:txBody>
      </p:sp>
      <p:sp>
        <p:nvSpPr>
          <p:cNvPr id="349" name="Google Shape;349;p3"/>
          <p:cNvSpPr/>
          <p:nvPr/>
        </p:nvSpPr>
        <p:spPr>
          <a:xfrm>
            <a:off x="4709125" y="3672703"/>
            <a:ext cx="3840600" cy="4389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3"/>
          <p:cNvSpPr/>
          <p:nvPr/>
        </p:nvSpPr>
        <p:spPr>
          <a:xfrm>
            <a:off x="4773133" y="3700135"/>
            <a:ext cx="37125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Fear Subsides (~Day 74)</a:t>
            </a:r>
            <a:endParaRPr sz="1150" b="0" i="0" u="none" strike="noStrike" cap="none">
              <a:solidFill>
                <a:schemeClr val="dk1"/>
              </a:solidFill>
              <a:latin typeface="Calibri"/>
              <a:ea typeface="Calibri"/>
              <a:cs typeface="Calibri"/>
              <a:sym typeface="Calibri"/>
            </a:endParaRPr>
          </a:p>
        </p:txBody>
      </p:sp>
      <p:sp>
        <p:nvSpPr>
          <p:cNvPr id="351" name="Google Shape;351;p3"/>
          <p:cNvSpPr/>
          <p:nvPr/>
        </p:nvSpPr>
        <p:spPr>
          <a:xfrm>
            <a:off x="6400830" y="4096596"/>
            <a:ext cx="4572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8A020"/>
              </a:buClr>
              <a:buSzPts val="1000"/>
              <a:buFont typeface="Calibri"/>
              <a:buNone/>
            </a:pPr>
            <a:r>
              <a:rPr lang="en-US" sz="1000" b="0" i="0" u="none" strike="noStrike" cap="none">
                <a:solidFill>
                  <a:srgbClr val="E8A020"/>
                </a:solidFill>
                <a:latin typeface="Calibri"/>
                <a:ea typeface="Calibri"/>
                <a:cs typeface="Calibri"/>
                <a:sym typeface="Calibri"/>
              </a:rPr>
              <a:t>▼</a:t>
            </a:r>
            <a:endParaRPr sz="1000" b="0" i="0" u="none" strike="noStrike" cap="none">
              <a:solidFill>
                <a:schemeClr val="dk1"/>
              </a:solidFill>
              <a:latin typeface="Calibri"/>
              <a:ea typeface="Calibri"/>
              <a:cs typeface="Calibri"/>
              <a:sym typeface="Calibri"/>
            </a:endParaRPr>
          </a:p>
        </p:txBody>
      </p:sp>
      <p:sp>
        <p:nvSpPr>
          <p:cNvPr id="352" name="Google Shape;352;p3"/>
          <p:cNvSpPr/>
          <p:nvPr/>
        </p:nvSpPr>
        <p:spPr>
          <a:xfrm>
            <a:off x="4709050" y="4262461"/>
            <a:ext cx="3840600" cy="438900"/>
          </a:xfrm>
          <a:prstGeom prst="rect">
            <a:avLst/>
          </a:prstGeom>
          <a:solidFill>
            <a:srgbClr val="166534"/>
          </a:solidFill>
          <a:ln w="9525" cap="flat" cmpd="sng">
            <a:solidFill>
              <a:srgbClr val="16653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3"/>
          <p:cNvSpPr/>
          <p:nvPr/>
        </p:nvSpPr>
        <p:spPr>
          <a:xfrm>
            <a:off x="4773058" y="4289893"/>
            <a:ext cx="37125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Mean Reversion ↑ Profit</a:t>
            </a:r>
            <a:endParaRPr sz="1150" b="0" i="0" u="none" strike="noStrike" cap="none">
              <a:solidFill>
                <a:schemeClr val="dk1"/>
              </a:solidFill>
              <a:latin typeface="Calibri"/>
              <a:ea typeface="Calibri"/>
              <a:cs typeface="Calibri"/>
              <a:sym typeface="Calibri"/>
            </a:endParaRPr>
          </a:p>
        </p:txBody>
      </p:sp>
      <p:sp>
        <p:nvSpPr>
          <p:cNvPr id="354" name="Google Shape;354;p3"/>
          <p:cNvSpPr/>
          <p:nvPr/>
        </p:nvSpPr>
        <p:spPr>
          <a:xfrm>
            <a:off x="549550" y="2461425"/>
            <a:ext cx="3840600" cy="109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2000" b="0" i="1" u="none" strike="noStrike" cap="none">
                <a:solidFill>
                  <a:srgbClr val="475569"/>
                </a:solidFill>
                <a:latin typeface="Calibri"/>
                <a:ea typeface="Calibri"/>
                <a:cs typeface="Calibri"/>
                <a:sym typeface="Calibri"/>
              </a:rPr>
              <a:t>Mean-reversion trade: fear overshoots → prices snap back → we capture the bounce.</a:t>
            </a:r>
            <a:endParaRPr sz="2000" b="0" i="1" u="none" strike="noStrike" cap="none">
              <a:solidFill>
                <a:srgbClr val="475569"/>
              </a:solidFill>
              <a:latin typeface="Calibri"/>
              <a:ea typeface="Calibri"/>
              <a:cs typeface="Calibri"/>
              <a:sym typeface="Calibri"/>
            </a:endParaRPr>
          </a:p>
          <a:p>
            <a:pPr marL="0" marR="0" lvl="0" indent="0" algn="ctr" rtl="0">
              <a:lnSpc>
                <a:spcPct val="100000"/>
              </a:lnSpc>
              <a:spcBef>
                <a:spcPts val="0"/>
              </a:spcBef>
              <a:spcAft>
                <a:spcPts val="0"/>
              </a:spcAft>
              <a:buClr>
                <a:srgbClr val="475569"/>
              </a:buClr>
              <a:buSzPts val="1000"/>
              <a:buFont typeface="Calibri"/>
              <a:buNone/>
            </a:pPr>
            <a:endParaRPr sz="2000" b="0" i="1" u="none" strike="noStrike" cap="none">
              <a:solidFill>
                <a:srgbClr val="475569"/>
              </a:solidFill>
              <a:latin typeface="Calibri"/>
              <a:ea typeface="Calibri"/>
              <a:cs typeface="Calibri"/>
              <a:sym typeface="Calibri"/>
            </a:endParaRPr>
          </a:p>
          <a:p>
            <a:pPr marL="0" marR="0" lvl="0" indent="0" algn="l" rtl="0">
              <a:lnSpc>
                <a:spcPct val="100000"/>
              </a:lnSpc>
              <a:spcBef>
                <a:spcPts val="0"/>
              </a:spcBef>
              <a:spcAft>
                <a:spcPts val="0"/>
              </a:spcAft>
              <a:buClr>
                <a:srgbClr val="475569"/>
              </a:buClr>
              <a:buSzPts val="1000"/>
              <a:buFont typeface="Calibri"/>
              <a:buNone/>
            </a:pPr>
            <a:r>
              <a:rPr lang="en-US" sz="2000" b="0" i="1" u="none" strike="noStrike" cap="none">
                <a:solidFill>
                  <a:srgbClr val="475569"/>
                </a:solidFill>
                <a:latin typeface="Calibri"/>
                <a:ea typeface="Calibri"/>
                <a:cs typeface="Calibri"/>
                <a:sym typeface="Calibri"/>
              </a:rPr>
              <a:t>Since the VIX is noisy, we measure fear by examining statistically significant VIX spikes </a:t>
            </a:r>
            <a:endParaRPr sz="2000" b="0" i="1" u="none" strike="noStrike" cap="none">
              <a:solidFill>
                <a:srgbClr val="475569"/>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8"/>
        <p:cNvGrpSpPr/>
        <p:nvPr/>
      </p:nvGrpSpPr>
      <p:grpSpPr>
        <a:xfrm>
          <a:off x="0" y="0"/>
          <a:ext cx="0" cy="0"/>
          <a:chOff x="0" y="0"/>
          <a:chExt cx="0" cy="0"/>
        </a:xfrm>
      </p:grpSpPr>
      <p:sp>
        <p:nvSpPr>
          <p:cNvPr id="359" name="Google Shape;359;g3d86e330eee_36_150"/>
          <p:cNvSpPr/>
          <p:nvPr/>
        </p:nvSpPr>
        <p:spPr>
          <a:xfrm>
            <a:off x="457200" y="146304"/>
            <a:ext cx="2194500" cy="2742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60" name="Google Shape;360;g3d86e330eee_36_150"/>
          <p:cNvGrpSpPr/>
          <p:nvPr/>
        </p:nvGrpSpPr>
        <p:grpSpPr>
          <a:xfrm>
            <a:off x="457200" y="146304"/>
            <a:ext cx="2194500" cy="274200"/>
            <a:chOff x="457200" y="146304"/>
            <a:chExt cx="2194500" cy="274200"/>
          </a:xfrm>
        </p:grpSpPr>
        <p:sp>
          <p:nvSpPr>
            <p:cNvPr id="361" name="Google Shape;361;g3d86e330eee_36_150"/>
            <p:cNvSpPr/>
            <p:nvPr/>
          </p:nvSpPr>
          <p:spPr>
            <a:xfrm>
              <a:off x="457200" y="146304"/>
              <a:ext cx="2194500" cy="2742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g3d86e330eee_36_150"/>
            <p:cNvSpPr txBox="1"/>
            <p:nvPr/>
          </p:nvSpPr>
          <p:spPr>
            <a:xfrm>
              <a:off x="457200" y="1463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FFFFF"/>
                  </a:solidFill>
                  <a:latin typeface="Calibri"/>
                  <a:ea typeface="Calibri"/>
                  <a:cs typeface="Calibri"/>
                  <a:sym typeface="Calibri"/>
                </a:rPr>
                <a:t>MODEL 3</a:t>
              </a:r>
              <a:endParaRPr sz="1050" b="1" i="0" u="none" strike="noStrike" cap="none">
                <a:solidFill>
                  <a:srgbClr val="FFFFFF"/>
                </a:solidFill>
                <a:latin typeface="Calibri"/>
                <a:ea typeface="Calibri"/>
                <a:cs typeface="Calibri"/>
                <a:sym typeface="Calibri"/>
              </a:endParaRPr>
            </a:p>
          </p:txBody>
        </p:sp>
      </p:grpSp>
      <p:grpSp>
        <p:nvGrpSpPr>
          <p:cNvPr id="363" name="Google Shape;363;g3d86e330eee_36_150"/>
          <p:cNvGrpSpPr/>
          <p:nvPr/>
        </p:nvGrpSpPr>
        <p:grpSpPr>
          <a:xfrm>
            <a:off x="457200" y="502920"/>
            <a:ext cx="8229600" cy="658500"/>
            <a:chOff x="457200" y="502920"/>
            <a:chExt cx="8229600" cy="658500"/>
          </a:xfrm>
        </p:grpSpPr>
        <p:sp>
          <p:nvSpPr>
            <p:cNvPr id="364" name="Google Shape;364;g3d86e330eee_36_150"/>
            <p:cNvSpPr/>
            <p:nvPr/>
          </p:nvSpPr>
          <p:spPr>
            <a:xfrm>
              <a:off x="457200" y="502920"/>
              <a:ext cx="8229600" cy="6585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g3d86e330eee_36_150"/>
            <p:cNvSpPr txBox="1"/>
            <p:nvPr/>
          </p:nvSpPr>
          <p:spPr>
            <a:xfrm>
              <a:off x="457200" y="502920"/>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C1A35"/>
                  </a:solidFill>
                  <a:latin typeface="Georgia"/>
                  <a:ea typeface="Georgia"/>
                  <a:cs typeface="Georgia"/>
                  <a:sym typeface="Georgia"/>
                </a:rPr>
                <a:t>Context for Our Model</a:t>
              </a:r>
              <a:endParaRPr sz="3000" b="1" i="0" u="none" strike="noStrike" cap="none">
                <a:solidFill>
                  <a:srgbClr val="0C1A35"/>
                </a:solidFill>
                <a:latin typeface="Georgia"/>
                <a:ea typeface="Georgia"/>
                <a:cs typeface="Georgia"/>
                <a:sym typeface="Georgia"/>
              </a:endParaRPr>
            </a:p>
          </p:txBody>
        </p:sp>
      </p:grpSp>
      <p:sp>
        <p:nvSpPr>
          <p:cNvPr id="366" name="Google Shape;366;g3d86e330eee_36_150"/>
          <p:cNvSpPr/>
          <p:nvPr/>
        </p:nvSpPr>
        <p:spPr>
          <a:xfrm>
            <a:off x="457200" y="1207008"/>
            <a:ext cx="8229600" cy="273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g3d86e330eee_36_150"/>
          <p:cNvSpPr/>
          <p:nvPr/>
        </p:nvSpPr>
        <p:spPr>
          <a:xfrm>
            <a:off x="457200" y="1381125"/>
            <a:ext cx="4416900" cy="21756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g3d86e330eee_36_150"/>
          <p:cNvSpPr/>
          <p:nvPr/>
        </p:nvSpPr>
        <p:spPr>
          <a:xfrm>
            <a:off x="457200" y="1381125"/>
            <a:ext cx="76200" cy="2175600"/>
          </a:xfrm>
          <a:prstGeom prst="rect">
            <a:avLst/>
          </a:prstGeom>
          <a:solidFill>
            <a:schemeClr val="dk2"/>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69" name="Google Shape;369;g3d86e330eee_36_150"/>
          <p:cNvGrpSpPr/>
          <p:nvPr/>
        </p:nvGrpSpPr>
        <p:grpSpPr>
          <a:xfrm>
            <a:off x="709627" y="1456075"/>
            <a:ext cx="3996290" cy="2100805"/>
            <a:chOff x="685800" y="1465425"/>
            <a:chExt cx="3619500" cy="3011475"/>
          </a:xfrm>
        </p:grpSpPr>
        <p:sp>
          <p:nvSpPr>
            <p:cNvPr id="370" name="Google Shape;370;g3d86e330eee_36_150"/>
            <p:cNvSpPr/>
            <p:nvPr/>
          </p:nvSpPr>
          <p:spPr>
            <a:xfrm>
              <a:off x="685800" y="1524000"/>
              <a:ext cx="3619500" cy="29529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g3d86e330eee_36_150"/>
            <p:cNvSpPr txBox="1"/>
            <p:nvPr/>
          </p:nvSpPr>
          <p:spPr>
            <a:xfrm>
              <a:off x="685800" y="1465425"/>
              <a:ext cx="3619500" cy="250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US" sz="1150" b="1" i="0" u="none" strike="noStrike" cap="none">
                  <a:solidFill>
                    <a:srgbClr val="0F766E"/>
                  </a:solidFill>
                  <a:latin typeface="Calibri"/>
                  <a:ea typeface="Calibri"/>
                  <a:cs typeface="Calibri"/>
                  <a:sym typeface="Calibri"/>
                </a:rPr>
                <a:t>Strategic Shift to VIX Spikes</a:t>
              </a:r>
              <a:endParaRPr sz="1150" b="1" i="0" u="none" strike="noStrike" cap="none">
                <a:solidFill>
                  <a:srgbClr val="0F766E"/>
                </a:solidFill>
                <a:latin typeface="Calibri"/>
                <a:ea typeface="Calibri"/>
                <a:cs typeface="Calibri"/>
                <a:sym typeface="Calibri"/>
              </a:endParaRPr>
            </a:p>
            <a:p>
              <a:pPr marL="0" marR="0" lvl="0" indent="0" algn="l" rtl="0">
                <a:lnSpc>
                  <a:spcPct val="100000"/>
                </a:lnSpc>
                <a:spcBef>
                  <a:spcPts val="900"/>
                </a:spcBef>
                <a:spcAft>
                  <a:spcPts val="0"/>
                </a:spcAft>
                <a:buClr>
                  <a:srgbClr val="000000"/>
                </a:buClr>
                <a:buSzPts val="1050"/>
                <a:buFont typeface="Arial"/>
                <a:buNone/>
              </a:pPr>
              <a:r>
                <a:rPr lang="en-US" sz="1050" b="0" i="0" u="none" strike="noStrike" cap="none">
                  <a:solidFill>
                    <a:srgbClr val="1E293B"/>
                  </a:solidFill>
                  <a:latin typeface="Calibri"/>
                  <a:ea typeface="Calibri"/>
                  <a:cs typeface="Calibri"/>
                  <a:sym typeface="Calibri"/>
                </a:rPr>
                <a:t>Since the continuous trading models weren’t as successful as hoped, we thought that it could be better to only trade on large and significant VIX spikes, spikes that signify important shocks driven largely by macro.</a:t>
              </a:r>
              <a:endParaRPr sz="1050" b="0" i="0" u="none" strike="noStrike" cap="none">
                <a:solidFill>
                  <a:srgbClr val="1E293B"/>
                </a:solidFill>
                <a:latin typeface="Calibri"/>
                <a:ea typeface="Calibri"/>
                <a:cs typeface="Calibri"/>
                <a:sym typeface="Calibri"/>
              </a:endParaRPr>
            </a:p>
            <a:p>
              <a:pPr marL="0" marR="0" lvl="0" indent="0" algn="l" rtl="0">
                <a:lnSpc>
                  <a:spcPct val="100000"/>
                </a:lnSpc>
                <a:spcBef>
                  <a:spcPts val="1125"/>
                </a:spcBef>
                <a:spcAft>
                  <a:spcPts val="0"/>
                </a:spcAft>
                <a:buClr>
                  <a:srgbClr val="000000"/>
                </a:buClr>
                <a:buSzPts val="1050"/>
                <a:buFont typeface="Arial"/>
                <a:buNone/>
              </a:pPr>
              <a:r>
                <a:rPr lang="en-US" sz="1050" b="0" i="0" u="none" strike="noStrike" cap="none">
                  <a:solidFill>
                    <a:srgbClr val="1E293B"/>
                  </a:solidFill>
                  <a:latin typeface="Calibri"/>
                  <a:ea typeface="Calibri"/>
                  <a:cs typeface="Calibri"/>
                  <a:sym typeface="Calibri"/>
                </a:rPr>
                <a:t>Examining the two side-by-side correlation matrices, we see that when we only look at VIX spikes that are significantly above average, price movements in the ensuing 240 day windows are significantly more negatively correlated with VIX than before.</a:t>
              </a:r>
              <a:endParaRPr sz="1050" b="0" i="0" u="none" strike="noStrike" cap="none">
                <a:solidFill>
                  <a:srgbClr val="1E293B"/>
                </a:solidFill>
                <a:latin typeface="Calibri"/>
                <a:ea typeface="Calibri"/>
                <a:cs typeface="Calibri"/>
                <a:sym typeface="Calibri"/>
              </a:endParaRPr>
            </a:p>
            <a:p>
              <a:pPr marL="0" marR="0" lvl="0" indent="0" algn="l" rtl="0">
                <a:lnSpc>
                  <a:spcPct val="100000"/>
                </a:lnSpc>
                <a:spcBef>
                  <a:spcPts val="1125"/>
                </a:spcBef>
                <a:spcAft>
                  <a:spcPts val="0"/>
                </a:spcAft>
                <a:buClr>
                  <a:srgbClr val="000000"/>
                </a:buClr>
                <a:buSzPts val="1050"/>
                <a:buFont typeface="Arial"/>
                <a:buNone/>
              </a:pPr>
              <a:r>
                <a:rPr lang="en-US" sz="1050" b="0" i="1" u="none" strike="noStrike" cap="none">
                  <a:solidFill>
                    <a:srgbClr val="475569"/>
                  </a:solidFill>
                  <a:latin typeface="Calibri"/>
                  <a:ea typeface="Calibri"/>
                  <a:cs typeface="Calibri"/>
                  <a:sym typeface="Calibri"/>
                </a:rPr>
                <a:t>Logically, it seems that when the VIX spikes up, emerging markets must see their bond prices crash after bad news.</a:t>
              </a:r>
              <a:endParaRPr sz="1050" b="0" i="1" u="none" strike="noStrike" cap="none">
                <a:solidFill>
                  <a:srgbClr val="475569"/>
                </a:solidFill>
                <a:latin typeface="Calibri"/>
                <a:ea typeface="Calibri"/>
                <a:cs typeface="Calibri"/>
                <a:sym typeface="Calibri"/>
              </a:endParaRPr>
            </a:p>
          </p:txBody>
        </p:sp>
      </p:grpSp>
      <p:sp>
        <p:nvSpPr>
          <p:cNvPr id="372" name="Google Shape;372;g3d86e330eee_36_150"/>
          <p:cNvSpPr txBox="1"/>
          <p:nvPr/>
        </p:nvSpPr>
        <p:spPr>
          <a:xfrm>
            <a:off x="4667250" y="1381125"/>
            <a:ext cx="4191000" cy="238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0C1A35"/>
                </a:solidFill>
                <a:latin typeface="Calibri"/>
                <a:ea typeface="Calibri"/>
                <a:cs typeface="Calibri"/>
                <a:sym typeface="Calibri"/>
              </a:rPr>
              <a:t>Correlation Matrix Across All Data</a:t>
            </a:r>
            <a:endParaRPr sz="1300" b="1" i="0" u="none" strike="noStrike" cap="none">
              <a:solidFill>
                <a:srgbClr val="0C1A35"/>
              </a:solidFill>
              <a:latin typeface="Calibri"/>
              <a:ea typeface="Calibri"/>
              <a:cs typeface="Calibri"/>
              <a:sym typeface="Calibri"/>
            </a:endParaRPr>
          </a:p>
        </p:txBody>
      </p:sp>
      <p:sp>
        <p:nvSpPr>
          <p:cNvPr id="373" name="Google Shape;373;g3d86e330eee_36_150"/>
          <p:cNvSpPr txBox="1"/>
          <p:nvPr/>
        </p:nvSpPr>
        <p:spPr>
          <a:xfrm>
            <a:off x="4667250" y="3095625"/>
            <a:ext cx="4191000" cy="238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0C1A35"/>
                </a:solidFill>
                <a:latin typeface="Calibri"/>
                <a:ea typeface="Calibri"/>
                <a:cs typeface="Calibri"/>
                <a:sym typeface="Calibri"/>
              </a:rPr>
              <a:t>Correlation Matrix Across Restricted Data</a:t>
            </a:r>
            <a:endParaRPr sz="1300" b="1" i="0" u="none" strike="noStrike" cap="none">
              <a:solidFill>
                <a:srgbClr val="0C1A35"/>
              </a:solidFill>
              <a:latin typeface="Calibri"/>
              <a:ea typeface="Calibri"/>
              <a:cs typeface="Calibri"/>
              <a:sym typeface="Calibri"/>
            </a:endParaRPr>
          </a:p>
        </p:txBody>
      </p:sp>
      <p:pic>
        <p:nvPicPr>
          <p:cNvPr id="374" name="Google Shape;374;g3d86e330eee_36_150"/>
          <p:cNvPicPr preferRelativeResize="0"/>
          <p:nvPr/>
        </p:nvPicPr>
        <p:blipFill rotWithShape="1">
          <a:blip r:embed="rId4">
            <a:alphaModFix/>
          </a:blip>
          <a:srcRect t="6146" r="62912" b="63427"/>
          <a:stretch/>
        </p:blipFill>
        <p:spPr>
          <a:xfrm>
            <a:off x="5114466" y="1701062"/>
            <a:ext cx="3296559" cy="1246200"/>
          </a:xfrm>
          <a:prstGeom prst="rect">
            <a:avLst/>
          </a:prstGeom>
          <a:noFill/>
          <a:ln>
            <a:noFill/>
          </a:ln>
        </p:spPr>
      </p:pic>
      <p:pic>
        <p:nvPicPr>
          <p:cNvPr id="375" name="Google Shape;375;g3d86e330eee_36_150"/>
          <p:cNvPicPr preferRelativeResize="0"/>
          <p:nvPr/>
        </p:nvPicPr>
        <p:blipFill rotWithShape="1">
          <a:blip r:embed="rId4">
            <a:alphaModFix/>
          </a:blip>
          <a:srcRect t="53826" r="62912" b="15748"/>
          <a:stretch/>
        </p:blipFill>
        <p:spPr>
          <a:xfrm>
            <a:off x="5114500" y="3414022"/>
            <a:ext cx="3296499" cy="1246210"/>
          </a:xfrm>
          <a:prstGeom prst="rect">
            <a:avLst/>
          </a:prstGeom>
          <a:noFill/>
          <a:ln>
            <a:noFill/>
          </a:ln>
        </p:spPr>
      </p:pic>
      <p:sp>
        <p:nvSpPr>
          <p:cNvPr id="376" name="Google Shape;376;g3d86e330eee_36_150"/>
          <p:cNvSpPr/>
          <p:nvPr/>
        </p:nvSpPr>
        <p:spPr>
          <a:xfrm>
            <a:off x="457200" y="3665125"/>
            <a:ext cx="4416900" cy="995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endParaRPr sz="1150" b="1" i="0" u="none" strike="noStrike" cap="none">
              <a:solidFill>
                <a:srgbClr val="0F766E"/>
              </a:solidFill>
              <a:latin typeface="Calibri"/>
              <a:ea typeface="Calibri"/>
              <a:cs typeface="Calibri"/>
              <a:sym typeface="Calibri"/>
            </a:endParaRPr>
          </a:p>
        </p:txBody>
      </p:sp>
      <p:sp>
        <p:nvSpPr>
          <p:cNvPr id="377" name="Google Shape;377;g3d86e330eee_36_150"/>
          <p:cNvSpPr/>
          <p:nvPr/>
        </p:nvSpPr>
        <p:spPr>
          <a:xfrm>
            <a:off x="7065125" y="1992400"/>
            <a:ext cx="564600" cy="2382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g3d86e330eee_36_150"/>
          <p:cNvSpPr/>
          <p:nvPr/>
        </p:nvSpPr>
        <p:spPr>
          <a:xfrm>
            <a:off x="465378" y="3672325"/>
            <a:ext cx="76200" cy="995100"/>
          </a:xfrm>
          <a:prstGeom prst="rect">
            <a:avLst/>
          </a:prstGeom>
          <a:solidFill>
            <a:schemeClr val="dk2"/>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g3d86e330eee_36_150"/>
          <p:cNvSpPr txBox="1"/>
          <p:nvPr/>
        </p:nvSpPr>
        <p:spPr>
          <a:xfrm>
            <a:off x="709625" y="3703550"/>
            <a:ext cx="3996300" cy="92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50"/>
              <a:buFont typeface="Arial"/>
              <a:buNone/>
            </a:pPr>
            <a:r>
              <a:rPr lang="en-US" sz="1150" b="1" i="0" u="none" strike="noStrike" cap="none">
                <a:solidFill>
                  <a:srgbClr val="0F766E"/>
                </a:solidFill>
                <a:latin typeface="Calibri"/>
                <a:ea typeface="Calibri"/>
                <a:cs typeface="Calibri"/>
                <a:sym typeface="Calibri"/>
              </a:rPr>
              <a:t>Two Key Questions Remain:</a:t>
            </a:r>
            <a:endParaRPr sz="1150" b="1" i="0" u="none" strike="noStrike" cap="none">
              <a:solidFill>
                <a:srgbClr val="0F766E"/>
              </a:solidFill>
              <a:latin typeface="Calibri"/>
              <a:ea typeface="Calibri"/>
              <a:cs typeface="Calibri"/>
              <a:sym typeface="Calibri"/>
            </a:endParaRPr>
          </a:p>
          <a:p>
            <a:pPr marL="0" marR="0" lvl="0" indent="0" algn="l" rtl="0">
              <a:lnSpc>
                <a:spcPct val="100000"/>
              </a:lnSpc>
              <a:spcBef>
                <a:spcPts val="900"/>
              </a:spcBef>
              <a:spcAft>
                <a:spcPts val="0"/>
              </a:spcAft>
              <a:buClr>
                <a:srgbClr val="000000"/>
              </a:buClr>
              <a:buSzPts val="1050"/>
              <a:buFont typeface="Arial"/>
              <a:buNone/>
            </a:pPr>
            <a:r>
              <a:rPr lang="en-US" sz="1050" b="0" i="1" u="none" strike="noStrike" cap="none">
                <a:solidFill>
                  <a:srgbClr val="475569"/>
                </a:solidFill>
                <a:latin typeface="Calibri"/>
                <a:ea typeface="Calibri"/>
                <a:cs typeface="Calibri"/>
                <a:sym typeface="Calibri"/>
              </a:rPr>
              <a:t>In most periods with high instability, do bond prices bottom out and recover?</a:t>
            </a:r>
            <a:endParaRPr sz="1050" b="0" i="1" u="none" strike="noStrike" cap="none">
              <a:solidFill>
                <a:srgbClr val="475569"/>
              </a:solidFill>
              <a:latin typeface="Calibri"/>
              <a:ea typeface="Calibri"/>
              <a:cs typeface="Calibri"/>
              <a:sym typeface="Calibri"/>
            </a:endParaRPr>
          </a:p>
          <a:p>
            <a:pPr marL="0" marR="0" lvl="0" indent="0" algn="l" rtl="0">
              <a:lnSpc>
                <a:spcPct val="100000"/>
              </a:lnSpc>
              <a:spcBef>
                <a:spcPts val="1125"/>
              </a:spcBef>
              <a:spcAft>
                <a:spcPts val="1125"/>
              </a:spcAft>
              <a:buClr>
                <a:srgbClr val="000000"/>
              </a:buClr>
              <a:buSzPts val="1050"/>
              <a:buFont typeface="Arial"/>
              <a:buNone/>
            </a:pPr>
            <a:r>
              <a:rPr lang="en-US" sz="1050" b="0" i="1" u="none" strike="noStrike" cap="none">
                <a:solidFill>
                  <a:srgbClr val="475569"/>
                </a:solidFill>
                <a:latin typeface="Calibri"/>
                <a:ea typeface="Calibri"/>
                <a:cs typeface="Calibri"/>
                <a:sym typeface="Calibri"/>
              </a:rPr>
              <a:t>If there is a clear rebound, how do we time it?</a:t>
            </a:r>
            <a:endParaRPr sz="1050" b="0" i="1" u="none" strike="noStrike" cap="none">
              <a:solidFill>
                <a:srgbClr val="475569"/>
              </a:solidFill>
              <a:latin typeface="Calibri"/>
              <a:ea typeface="Calibri"/>
              <a:cs typeface="Calibri"/>
              <a:sym typeface="Calibri"/>
            </a:endParaRPr>
          </a:p>
        </p:txBody>
      </p:sp>
      <p:sp>
        <p:nvSpPr>
          <p:cNvPr id="380" name="Google Shape;380;g3d86e330eee_36_150"/>
          <p:cNvSpPr/>
          <p:nvPr/>
        </p:nvSpPr>
        <p:spPr>
          <a:xfrm>
            <a:off x="7065125" y="3703550"/>
            <a:ext cx="564600" cy="2382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5"/>
        <p:cNvGrpSpPr/>
        <p:nvPr/>
      </p:nvGrpSpPr>
      <p:grpSpPr>
        <a:xfrm>
          <a:off x="0" y="0"/>
          <a:ext cx="0" cy="0"/>
          <a:chOff x="0" y="0"/>
          <a:chExt cx="0" cy="0"/>
        </a:xfrm>
      </p:grpSpPr>
      <p:sp>
        <p:nvSpPr>
          <p:cNvPr id="386" name="Google Shape;386;p8"/>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8"/>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950" b="1" i="0" u="none" strike="noStrike" cap="none">
                <a:solidFill>
                  <a:srgbClr val="FFFFFF"/>
                </a:solidFill>
                <a:latin typeface="Calibri"/>
                <a:ea typeface="Calibri"/>
                <a:cs typeface="Calibri"/>
                <a:sym typeface="Calibri"/>
              </a:rPr>
              <a:t>MODEL 3 — EVENT THRESHOLD MODEL</a:t>
            </a:r>
            <a:endParaRPr sz="950" b="0" i="0" u="none" strike="noStrike" cap="none">
              <a:solidFill>
                <a:schemeClr val="dk1"/>
              </a:solidFill>
              <a:latin typeface="Calibri"/>
              <a:ea typeface="Calibri"/>
              <a:cs typeface="Calibri"/>
              <a:sym typeface="Calibri"/>
            </a:endParaRPr>
          </a:p>
        </p:txBody>
      </p:sp>
      <p:sp>
        <p:nvSpPr>
          <p:cNvPr id="388" name="Google Shape;388;p8"/>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2800" b="1" i="0" u="none" strike="noStrike" cap="none">
                <a:solidFill>
                  <a:srgbClr val="0C1A35"/>
                </a:solidFill>
                <a:latin typeface="Georgia"/>
                <a:ea typeface="Georgia"/>
                <a:cs typeface="Georgia"/>
                <a:sym typeface="Georgia"/>
              </a:rPr>
              <a:t>Our Approach to Answering the 2 Questions</a:t>
            </a:r>
            <a:endParaRPr sz="2800" b="0" i="0" u="none" strike="noStrike" cap="none">
              <a:solidFill>
                <a:schemeClr val="dk1"/>
              </a:solidFill>
              <a:latin typeface="Calibri"/>
              <a:ea typeface="Calibri"/>
              <a:cs typeface="Calibri"/>
              <a:sym typeface="Calibri"/>
            </a:endParaRPr>
          </a:p>
        </p:txBody>
      </p:sp>
      <p:sp>
        <p:nvSpPr>
          <p:cNvPr id="389" name="Google Shape;389;p8"/>
          <p:cNvSpPr/>
          <p:nvPr/>
        </p:nvSpPr>
        <p:spPr>
          <a:xfrm>
            <a:off x="274320" y="2133600"/>
            <a:ext cx="1572900" cy="2011800"/>
          </a:xfrm>
          <a:prstGeom prst="rect">
            <a:avLst/>
          </a:prstGeom>
          <a:solidFill>
            <a:srgbClr val="B91C1C"/>
          </a:solidFill>
          <a:ln w="12700" cap="flat" cmpd="sng">
            <a:solidFill>
              <a:srgbClr val="B91C1C"/>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8"/>
          <p:cNvSpPr/>
          <p:nvPr/>
        </p:nvSpPr>
        <p:spPr>
          <a:xfrm>
            <a:off x="274320" y="2188464"/>
            <a:ext cx="15729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1</a:t>
            </a:r>
            <a:endParaRPr sz="2600" b="0" i="0" u="none" strike="noStrike" cap="none">
              <a:solidFill>
                <a:schemeClr val="dk1"/>
              </a:solidFill>
              <a:latin typeface="Calibri"/>
              <a:ea typeface="Calibri"/>
              <a:cs typeface="Calibri"/>
              <a:sym typeface="Calibri"/>
            </a:endParaRPr>
          </a:p>
        </p:txBody>
      </p:sp>
      <p:sp>
        <p:nvSpPr>
          <p:cNvPr id="391" name="Google Shape;391;p8"/>
          <p:cNvSpPr/>
          <p:nvPr/>
        </p:nvSpPr>
        <p:spPr>
          <a:xfrm>
            <a:off x="320040" y="2727960"/>
            <a:ext cx="1481400" cy="1326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Detect VIX</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Spikes</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&gt;80th pct</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(140 raw)</a:t>
            </a:r>
            <a:endParaRPr sz="1500" b="0" i="0" u="none" strike="noStrike" cap="none">
              <a:solidFill>
                <a:schemeClr val="dk1"/>
              </a:solidFill>
              <a:latin typeface="Calibri"/>
              <a:ea typeface="Calibri"/>
              <a:cs typeface="Calibri"/>
              <a:sym typeface="Calibri"/>
            </a:endParaRPr>
          </a:p>
        </p:txBody>
      </p:sp>
      <p:cxnSp>
        <p:nvCxnSpPr>
          <p:cNvPr id="392" name="Google Shape;392;p8"/>
          <p:cNvCxnSpPr/>
          <p:nvPr/>
        </p:nvCxnSpPr>
        <p:spPr>
          <a:xfrm>
            <a:off x="1865376" y="3139440"/>
            <a:ext cx="128100" cy="0"/>
          </a:xfrm>
          <a:prstGeom prst="straightConnector1">
            <a:avLst/>
          </a:prstGeom>
          <a:noFill/>
          <a:ln w="31750" cap="flat" cmpd="sng">
            <a:solidFill>
              <a:srgbClr val="E8A020"/>
            </a:solidFill>
            <a:prstDash val="solid"/>
            <a:round/>
            <a:headEnd type="none" w="sm" len="sm"/>
            <a:tailEnd type="none" w="sm" len="sm"/>
          </a:ln>
        </p:spPr>
      </p:cxnSp>
      <p:sp>
        <p:nvSpPr>
          <p:cNvPr id="393" name="Google Shape;393;p8"/>
          <p:cNvSpPr/>
          <p:nvPr/>
        </p:nvSpPr>
        <p:spPr>
          <a:xfrm>
            <a:off x="1993392" y="2133600"/>
            <a:ext cx="1572900" cy="2011800"/>
          </a:xfrm>
          <a:prstGeom prst="rect">
            <a:avLst/>
          </a:prstGeom>
          <a:solidFill>
            <a:srgbClr val="1A3F7A"/>
          </a:solidFill>
          <a:ln w="12700" cap="flat" cmpd="sng">
            <a:solidFill>
              <a:srgbClr val="1A3F7A"/>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8"/>
          <p:cNvSpPr/>
          <p:nvPr/>
        </p:nvSpPr>
        <p:spPr>
          <a:xfrm>
            <a:off x="1993392" y="2188464"/>
            <a:ext cx="15729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2</a:t>
            </a:r>
            <a:endParaRPr sz="2600" b="0" i="0" u="none" strike="noStrike" cap="none">
              <a:solidFill>
                <a:schemeClr val="dk1"/>
              </a:solidFill>
              <a:latin typeface="Calibri"/>
              <a:ea typeface="Calibri"/>
              <a:cs typeface="Calibri"/>
              <a:sym typeface="Calibri"/>
            </a:endParaRPr>
          </a:p>
        </p:txBody>
      </p:sp>
      <p:sp>
        <p:nvSpPr>
          <p:cNvPr id="395" name="Google Shape;395;p8"/>
          <p:cNvSpPr/>
          <p:nvPr/>
        </p:nvSpPr>
        <p:spPr>
          <a:xfrm>
            <a:off x="2039112" y="2727960"/>
            <a:ext cx="1481400" cy="1326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Decluster VIX spikes</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20-days</a:t>
            </a:r>
            <a:r>
              <a:rPr lang="en-US" sz="1500" b="0" i="0" u="none" strike="noStrike" cap="none">
                <a:solidFill>
                  <a:schemeClr val="dk1"/>
                </a:solidFill>
                <a:latin typeface="Calibri"/>
                <a:ea typeface="Calibri"/>
                <a:cs typeface="Calibri"/>
                <a:sym typeface="Calibri"/>
              </a:rPr>
              <a:t> </a:t>
            </a:r>
            <a:r>
              <a:rPr lang="en-US" sz="1500" b="0" i="0" u="none" strike="noStrike" cap="none">
                <a:solidFill>
                  <a:srgbClr val="FFFFFF"/>
                </a:solidFill>
                <a:latin typeface="Calibri"/>
                <a:ea typeface="Calibri"/>
                <a:cs typeface="Calibri"/>
                <a:sym typeface="Calibri"/>
              </a:rPr>
              <a:t>between each other </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(78 final spikes)</a:t>
            </a:r>
            <a:endParaRPr sz="1500" b="0" i="0" u="none" strike="noStrike" cap="none">
              <a:solidFill>
                <a:schemeClr val="dk1"/>
              </a:solidFill>
              <a:latin typeface="Calibri"/>
              <a:ea typeface="Calibri"/>
              <a:cs typeface="Calibri"/>
              <a:sym typeface="Calibri"/>
            </a:endParaRPr>
          </a:p>
        </p:txBody>
      </p:sp>
      <p:cxnSp>
        <p:nvCxnSpPr>
          <p:cNvPr id="396" name="Google Shape;396;p8"/>
          <p:cNvCxnSpPr/>
          <p:nvPr/>
        </p:nvCxnSpPr>
        <p:spPr>
          <a:xfrm>
            <a:off x="3584448" y="3139440"/>
            <a:ext cx="128100" cy="0"/>
          </a:xfrm>
          <a:prstGeom prst="straightConnector1">
            <a:avLst/>
          </a:prstGeom>
          <a:noFill/>
          <a:ln w="31750" cap="flat" cmpd="sng">
            <a:solidFill>
              <a:srgbClr val="E8A020"/>
            </a:solidFill>
            <a:prstDash val="solid"/>
            <a:round/>
            <a:headEnd type="none" w="sm" len="sm"/>
            <a:tailEnd type="none" w="sm" len="sm"/>
          </a:ln>
        </p:spPr>
      </p:cxnSp>
      <p:sp>
        <p:nvSpPr>
          <p:cNvPr id="397" name="Google Shape;397;p8"/>
          <p:cNvSpPr/>
          <p:nvPr/>
        </p:nvSpPr>
        <p:spPr>
          <a:xfrm>
            <a:off x="3712464" y="2133600"/>
            <a:ext cx="1572900" cy="2011800"/>
          </a:xfrm>
          <a:prstGeom prst="rect">
            <a:avLst/>
          </a:prstGeom>
          <a:solidFill>
            <a:srgbClr val="2B6CB0"/>
          </a:solidFill>
          <a:ln w="12700" cap="flat" cmpd="sng">
            <a:solidFill>
              <a:srgbClr val="2B6CB0"/>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8"/>
          <p:cNvSpPr/>
          <p:nvPr/>
        </p:nvSpPr>
        <p:spPr>
          <a:xfrm>
            <a:off x="3712464" y="2188464"/>
            <a:ext cx="15729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3</a:t>
            </a:r>
            <a:endParaRPr sz="2600" b="0" i="0" u="none" strike="noStrike" cap="none">
              <a:solidFill>
                <a:schemeClr val="dk1"/>
              </a:solidFill>
              <a:latin typeface="Calibri"/>
              <a:ea typeface="Calibri"/>
              <a:cs typeface="Calibri"/>
              <a:sym typeface="Calibri"/>
            </a:endParaRPr>
          </a:p>
        </p:txBody>
      </p:sp>
      <p:sp>
        <p:nvSpPr>
          <p:cNvPr id="399" name="Google Shape;399;p8"/>
          <p:cNvSpPr/>
          <p:nvPr/>
        </p:nvSpPr>
        <p:spPr>
          <a:xfrm>
            <a:off x="3758184" y="2727960"/>
            <a:ext cx="1481400" cy="1326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Track EMB</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240 days</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after each</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spike</a:t>
            </a:r>
            <a:endParaRPr sz="1500" b="0" i="0" u="none" strike="noStrike" cap="none">
              <a:solidFill>
                <a:schemeClr val="dk1"/>
              </a:solidFill>
              <a:latin typeface="Calibri"/>
              <a:ea typeface="Calibri"/>
              <a:cs typeface="Calibri"/>
              <a:sym typeface="Calibri"/>
            </a:endParaRPr>
          </a:p>
        </p:txBody>
      </p:sp>
      <p:cxnSp>
        <p:nvCxnSpPr>
          <p:cNvPr id="400" name="Google Shape;400;p8"/>
          <p:cNvCxnSpPr/>
          <p:nvPr/>
        </p:nvCxnSpPr>
        <p:spPr>
          <a:xfrm>
            <a:off x="5303520" y="3139440"/>
            <a:ext cx="128100" cy="0"/>
          </a:xfrm>
          <a:prstGeom prst="straightConnector1">
            <a:avLst/>
          </a:prstGeom>
          <a:noFill/>
          <a:ln w="31750" cap="flat" cmpd="sng">
            <a:solidFill>
              <a:srgbClr val="E8A020"/>
            </a:solidFill>
            <a:prstDash val="solid"/>
            <a:round/>
            <a:headEnd type="none" w="sm" len="sm"/>
            <a:tailEnd type="none" w="sm" len="sm"/>
          </a:ln>
        </p:spPr>
      </p:cxnSp>
      <p:sp>
        <p:nvSpPr>
          <p:cNvPr id="401" name="Google Shape;401;p8"/>
          <p:cNvSpPr/>
          <p:nvPr/>
        </p:nvSpPr>
        <p:spPr>
          <a:xfrm>
            <a:off x="5431536" y="2133600"/>
            <a:ext cx="1572900" cy="2011800"/>
          </a:xfrm>
          <a:prstGeom prst="rect">
            <a:avLst/>
          </a:prstGeom>
          <a:solidFill>
            <a:srgbClr val="0F766E"/>
          </a:solidFill>
          <a:ln w="12700" cap="flat" cmpd="sng">
            <a:solidFill>
              <a:srgbClr val="0F766E"/>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8"/>
          <p:cNvSpPr/>
          <p:nvPr/>
        </p:nvSpPr>
        <p:spPr>
          <a:xfrm>
            <a:off x="5431536" y="2188464"/>
            <a:ext cx="15729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4</a:t>
            </a:r>
            <a:endParaRPr sz="2600" b="0" i="0" u="none" strike="noStrike" cap="none">
              <a:solidFill>
                <a:schemeClr val="dk1"/>
              </a:solidFill>
              <a:latin typeface="Calibri"/>
              <a:ea typeface="Calibri"/>
              <a:cs typeface="Calibri"/>
              <a:sym typeface="Calibri"/>
            </a:endParaRPr>
          </a:p>
        </p:txBody>
      </p:sp>
      <p:sp>
        <p:nvSpPr>
          <p:cNvPr id="403" name="Google Shape;403;p8"/>
          <p:cNvSpPr/>
          <p:nvPr/>
        </p:nvSpPr>
        <p:spPr>
          <a:xfrm>
            <a:off x="5477256" y="2727960"/>
            <a:ext cx="1481400" cy="1326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Map trough</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&amp; recovery</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timing</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patterns through stats</a:t>
            </a:r>
            <a:endParaRPr sz="1500" b="0" i="0" u="none" strike="noStrike" cap="none">
              <a:solidFill>
                <a:schemeClr val="dk1"/>
              </a:solidFill>
              <a:latin typeface="Calibri"/>
              <a:ea typeface="Calibri"/>
              <a:cs typeface="Calibri"/>
              <a:sym typeface="Calibri"/>
            </a:endParaRPr>
          </a:p>
        </p:txBody>
      </p:sp>
      <p:cxnSp>
        <p:nvCxnSpPr>
          <p:cNvPr id="404" name="Google Shape;404;p8"/>
          <p:cNvCxnSpPr/>
          <p:nvPr/>
        </p:nvCxnSpPr>
        <p:spPr>
          <a:xfrm>
            <a:off x="7022592" y="3139440"/>
            <a:ext cx="128100" cy="0"/>
          </a:xfrm>
          <a:prstGeom prst="straightConnector1">
            <a:avLst/>
          </a:prstGeom>
          <a:noFill/>
          <a:ln w="31750" cap="flat" cmpd="sng">
            <a:solidFill>
              <a:srgbClr val="E8A020"/>
            </a:solidFill>
            <a:prstDash val="solid"/>
            <a:round/>
            <a:headEnd type="none" w="sm" len="sm"/>
            <a:tailEnd type="none" w="sm" len="sm"/>
          </a:ln>
        </p:spPr>
      </p:cxnSp>
      <p:sp>
        <p:nvSpPr>
          <p:cNvPr id="405" name="Google Shape;405;p8"/>
          <p:cNvSpPr/>
          <p:nvPr/>
        </p:nvSpPr>
        <p:spPr>
          <a:xfrm>
            <a:off x="7150608" y="2133600"/>
            <a:ext cx="1572900" cy="2011800"/>
          </a:xfrm>
          <a:prstGeom prst="rect">
            <a:avLst/>
          </a:prstGeom>
          <a:solidFill>
            <a:srgbClr val="166534"/>
          </a:solidFill>
          <a:ln w="12700" cap="flat" cmpd="sng">
            <a:solidFill>
              <a:srgbClr val="166534"/>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8"/>
          <p:cNvSpPr/>
          <p:nvPr/>
        </p:nvSpPr>
        <p:spPr>
          <a:xfrm>
            <a:off x="7150608" y="2188464"/>
            <a:ext cx="15729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600"/>
              <a:buFont typeface="Georgia"/>
              <a:buNone/>
            </a:pPr>
            <a:r>
              <a:rPr lang="en-US" sz="2600" b="1" i="0" u="none" strike="noStrike" cap="none">
                <a:solidFill>
                  <a:srgbClr val="FFFFFF"/>
                </a:solidFill>
                <a:latin typeface="Georgia"/>
                <a:ea typeface="Georgia"/>
                <a:cs typeface="Georgia"/>
                <a:sym typeface="Georgia"/>
              </a:rPr>
              <a:t>5</a:t>
            </a:r>
            <a:endParaRPr sz="2600" b="0" i="0" u="none" strike="noStrike" cap="none">
              <a:solidFill>
                <a:schemeClr val="dk1"/>
              </a:solidFill>
              <a:latin typeface="Calibri"/>
              <a:ea typeface="Calibri"/>
              <a:cs typeface="Calibri"/>
              <a:sym typeface="Calibri"/>
            </a:endParaRPr>
          </a:p>
        </p:txBody>
      </p:sp>
      <p:sp>
        <p:nvSpPr>
          <p:cNvPr id="407" name="Google Shape;407;p8"/>
          <p:cNvSpPr/>
          <p:nvPr/>
        </p:nvSpPr>
        <p:spPr>
          <a:xfrm>
            <a:off x="7196328" y="2727960"/>
            <a:ext cx="1481400" cy="1326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Build rule</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from median</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observed</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000"/>
              <a:buFont typeface="Calibri"/>
              <a:buNone/>
            </a:pPr>
            <a:r>
              <a:rPr lang="en-US" sz="1500" b="0" i="0" u="none" strike="noStrike" cap="none">
                <a:solidFill>
                  <a:srgbClr val="FFFFFF"/>
                </a:solidFill>
                <a:latin typeface="Calibri"/>
                <a:ea typeface="Calibri"/>
                <a:cs typeface="Calibri"/>
                <a:sym typeface="Calibri"/>
              </a:rPr>
              <a:t>patterns</a:t>
            </a:r>
            <a:endParaRPr sz="1500" b="0" i="0" u="none" strike="noStrike" cap="none">
              <a:solidFill>
                <a:schemeClr val="dk1"/>
              </a:solidFill>
              <a:latin typeface="Calibri"/>
              <a:ea typeface="Calibri"/>
              <a:cs typeface="Calibri"/>
              <a:sym typeface="Calibri"/>
            </a:endParaRPr>
          </a:p>
        </p:txBody>
      </p:sp>
      <p:sp>
        <p:nvSpPr>
          <p:cNvPr id="408" name="Google Shape;408;p8"/>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3"/>
        <p:cNvGrpSpPr/>
        <p:nvPr/>
      </p:nvGrpSpPr>
      <p:grpSpPr>
        <a:xfrm>
          <a:off x="0" y="0"/>
          <a:ext cx="0" cy="0"/>
          <a:chOff x="0" y="0"/>
          <a:chExt cx="0" cy="0"/>
        </a:xfrm>
      </p:grpSpPr>
      <p:sp>
        <p:nvSpPr>
          <p:cNvPr id="414" name="Google Shape;414;p9"/>
          <p:cNvSpPr/>
          <p:nvPr/>
        </p:nvSpPr>
        <p:spPr>
          <a:xfrm>
            <a:off x="365700" y="4702125"/>
            <a:ext cx="8412600" cy="38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9"/>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9"/>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3 — TROUGH TIMING</a:t>
            </a:r>
            <a:endParaRPr sz="1050" b="0" i="0" u="none" strike="noStrike" cap="none">
              <a:solidFill>
                <a:schemeClr val="dk1"/>
              </a:solidFill>
              <a:latin typeface="Calibri"/>
              <a:ea typeface="Calibri"/>
              <a:cs typeface="Calibri"/>
              <a:sym typeface="Calibri"/>
            </a:endParaRPr>
          </a:p>
        </p:txBody>
      </p:sp>
      <p:pic>
        <p:nvPicPr>
          <p:cNvPr id="417" name="Google Shape;417;p9" descr="preencoded.png"/>
          <p:cNvPicPr preferRelativeResize="0"/>
          <p:nvPr/>
        </p:nvPicPr>
        <p:blipFill rotWithShape="1">
          <a:blip r:embed="rId3">
            <a:alphaModFix/>
          </a:blip>
          <a:srcRect l="9444" t="13025" r="2209" b="4220"/>
          <a:stretch/>
        </p:blipFill>
        <p:spPr>
          <a:xfrm>
            <a:off x="743725" y="2319382"/>
            <a:ext cx="3566100" cy="2190855"/>
          </a:xfrm>
          <a:prstGeom prst="rect">
            <a:avLst/>
          </a:prstGeom>
          <a:noFill/>
          <a:ln>
            <a:noFill/>
          </a:ln>
        </p:spPr>
      </p:pic>
      <p:sp>
        <p:nvSpPr>
          <p:cNvPr id="418" name="Google Shape;418;p9"/>
          <p:cNvSpPr/>
          <p:nvPr/>
        </p:nvSpPr>
        <p:spPr>
          <a:xfrm>
            <a:off x="388856" y="4429115"/>
            <a:ext cx="42519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950"/>
              <a:buFont typeface="Calibri"/>
              <a:buNone/>
            </a:pPr>
            <a:r>
              <a:rPr lang="en-US" sz="950" b="0" i="1" u="none" strike="noStrike" cap="none">
                <a:solidFill>
                  <a:srgbClr val="475569"/>
                </a:solidFill>
                <a:highlight>
                  <a:schemeClr val="lt1"/>
                </a:highlight>
                <a:latin typeface="Calibri"/>
                <a:ea typeface="Calibri"/>
                <a:cs typeface="Calibri"/>
                <a:sym typeface="Calibri"/>
              </a:rPr>
              <a:t>Days from VIX spike to EMB trough</a:t>
            </a:r>
            <a:endParaRPr sz="950" b="0" i="0" u="none" strike="noStrike" cap="none">
              <a:solidFill>
                <a:schemeClr val="dk1"/>
              </a:solidFill>
              <a:highlight>
                <a:schemeClr val="lt1"/>
              </a:highlight>
              <a:latin typeface="Calibri"/>
              <a:ea typeface="Calibri"/>
              <a:cs typeface="Calibri"/>
              <a:sym typeface="Calibri"/>
            </a:endParaRPr>
          </a:p>
        </p:txBody>
      </p:sp>
      <p:sp>
        <p:nvSpPr>
          <p:cNvPr id="419" name="Google Shape;419;p9"/>
          <p:cNvSpPr/>
          <p:nvPr/>
        </p:nvSpPr>
        <p:spPr>
          <a:xfrm>
            <a:off x="754316" y="1222554"/>
            <a:ext cx="2499300" cy="984300"/>
          </a:xfrm>
          <a:prstGeom prst="rect">
            <a:avLst/>
          </a:prstGeom>
          <a:solidFill>
            <a:srgbClr val="F7F9FC"/>
          </a:solidFill>
          <a:ln w="9525" cap="flat" cmpd="sng">
            <a:solidFill>
              <a:srgbClr val="CBD5E1"/>
            </a:solidFill>
            <a:prstDash val="solid"/>
            <a:round/>
            <a:headEnd type="none" w="sm" len="sm"/>
            <a:tailEnd type="none" w="sm" len="sm"/>
          </a:ln>
          <a:effectLst>
            <a:outerShdw blurRad="118891" dist="23778" dir="8100000" algn="bl" rotWithShape="0">
              <a:srgbClr val="000000">
                <a:alpha val="10196"/>
              </a:srgbClr>
            </a:outerShdw>
          </a:effectLst>
        </p:spPr>
        <p:txBody>
          <a:bodyPr spcFirstLastPara="1" wrap="square" lIns="85600" tIns="85600" rIns="85600" bIns="856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9"/>
          <p:cNvSpPr/>
          <p:nvPr/>
        </p:nvSpPr>
        <p:spPr>
          <a:xfrm>
            <a:off x="754316" y="1222554"/>
            <a:ext cx="85500" cy="984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85600" tIns="85600" rIns="85600" bIns="856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9"/>
          <p:cNvSpPr/>
          <p:nvPr/>
        </p:nvSpPr>
        <p:spPr>
          <a:xfrm>
            <a:off x="908398" y="1291036"/>
            <a:ext cx="2311200" cy="44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6CB0"/>
              </a:buClr>
              <a:buSzPts val="2060"/>
              <a:buFont typeface="Georgia"/>
              <a:buNone/>
            </a:pPr>
            <a:r>
              <a:rPr lang="en-US" sz="2060" b="1" i="0" u="none" strike="noStrike" cap="none">
                <a:solidFill>
                  <a:srgbClr val="2B6CB0"/>
                </a:solidFill>
                <a:latin typeface="Georgia"/>
                <a:ea typeface="Georgia"/>
                <a:cs typeface="Georgia"/>
                <a:sym typeface="Georgia"/>
              </a:rPr>
              <a:t>74 days</a:t>
            </a:r>
            <a:endParaRPr sz="2060" b="0" i="0" u="none" strike="noStrike" cap="none">
              <a:solidFill>
                <a:schemeClr val="dk1"/>
              </a:solidFill>
              <a:latin typeface="Calibri"/>
              <a:ea typeface="Calibri"/>
              <a:cs typeface="Calibri"/>
              <a:sym typeface="Calibri"/>
            </a:endParaRPr>
          </a:p>
        </p:txBody>
      </p:sp>
      <p:sp>
        <p:nvSpPr>
          <p:cNvPr id="422" name="Google Shape;422;p9"/>
          <p:cNvSpPr/>
          <p:nvPr/>
        </p:nvSpPr>
        <p:spPr>
          <a:xfrm>
            <a:off x="908398" y="1736167"/>
            <a:ext cx="2311200" cy="25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83"/>
              <a:buFont typeface="Calibri"/>
              <a:buNone/>
            </a:pPr>
            <a:r>
              <a:rPr lang="en-US" sz="1083" b="1" i="0" u="none" strike="noStrike" cap="none">
                <a:solidFill>
                  <a:srgbClr val="1E293B"/>
                </a:solidFill>
                <a:latin typeface="Calibri"/>
                <a:ea typeface="Calibri"/>
                <a:cs typeface="Calibri"/>
                <a:sym typeface="Calibri"/>
              </a:rPr>
              <a:t>Median trough for fast news-driven declines</a:t>
            </a:r>
            <a:endParaRPr sz="1083" b="0" i="0" u="none" strike="noStrike" cap="none">
              <a:solidFill>
                <a:schemeClr val="dk1"/>
              </a:solidFill>
              <a:latin typeface="Calibri"/>
              <a:ea typeface="Calibri"/>
              <a:cs typeface="Calibri"/>
              <a:sym typeface="Calibri"/>
            </a:endParaRPr>
          </a:p>
        </p:txBody>
      </p:sp>
      <p:sp>
        <p:nvSpPr>
          <p:cNvPr id="423" name="Google Shape;423;p9"/>
          <p:cNvSpPr/>
          <p:nvPr/>
        </p:nvSpPr>
        <p:spPr>
          <a:xfrm>
            <a:off x="3322344" y="1222554"/>
            <a:ext cx="2499300" cy="984300"/>
          </a:xfrm>
          <a:prstGeom prst="rect">
            <a:avLst/>
          </a:prstGeom>
          <a:solidFill>
            <a:srgbClr val="F7F9FC"/>
          </a:solidFill>
          <a:ln w="9525" cap="flat" cmpd="sng">
            <a:solidFill>
              <a:srgbClr val="CBD5E1"/>
            </a:solidFill>
            <a:prstDash val="solid"/>
            <a:round/>
            <a:headEnd type="none" w="sm" len="sm"/>
            <a:tailEnd type="none" w="sm" len="sm"/>
          </a:ln>
          <a:effectLst>
            <a:outerShdw blurRad="118891" dist="23778" dir="8100000" algn="bl" rotWithShape="0">
              <a:srgbClr val="000000">
                <a:alpha val="10196"/>
              </a:srgbClr>
            </a:outerShdw>
          </a:effectLst>
        </p:spPr>
        <p:txBody>
          <a:bodyPr spcFirstLastPara="1" wrap="square" lIns="85600" tIns="85600" rIns="85600" bIns="856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9"/>
          <p:cNvSpPr/>
          <p:nvPr/>
        </p:nvSpPr>
        <p:spPr>
          <a:xfrm>
            <a:off x="3322344" y="1222554"/>
            <a:ext cx="85500" cy="9843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85600" tIns="85600" rIns="85600" bIns="856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9"/>
          <p:cNvSpPr/>
          <p:nvPr/>
        </p:nvSpPr>
        <p:spPr>
          <a:xfrm>
            <a:off x="3476426" y="1291036"/>
            <a:ext cx="2311200" cy="44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2060"/>
              <a:buFont typeface="Georgia"/>
              <a:buNone/>
            </a:pPr>
            <a:r>
              <a:rPr lang="en-US" sz="2060" b="1" i="0" u="none" strike="noStrike" cap="none">
                <a:solidFill>
                  <a:srgbClr val="1A3F7A"/>
                </a:solidFill>
                <a:latin typeface="Georgia"/>
                <a:ea typeface="Georgia"/>
                <a:cs typeface="Georgia"/>
                <a:sym typeface="Georgia"/>
              </a:rPr>
              <a:t>157 days</a:t>
            </a:r>
            <a:endParaRPr sz="2060" b="0" i="0" u="none" strike="noStrike" cap="none">
              <a:solidFill>
                <a:schemeClr val="dk1"/>
              </a:solidFill>
              <a:latin typeface="Calibri"/>
              <a:ea typeface="Calibri"/>
              <a:cs typeface="Calibri"/>
              <a:sym typeface="Calibri"/>
            </a:endParaRPr>
          </a:p>
        </p:txBody>
      </p:sp>
      <p:sp>
        <p:nvSpPr>
          <p:cNvPr id="426" name="Google Shape;426;p9"/>
          <p:cNvSpPr/>
          <p:nvPr/>
        </p:nvSpPr>
        <p:spPr>
          <a:xfrm>
            <a:off x="3476426" y="1736167"/>
            <a:ext cx="2311200" cy="25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83"/>
              <a:buFont typeface="Calibri"/>
              <a:buNone/>
            </a:pPr>
            <a:r>
              <a:rPr lang="en-US" sz="1083" b="1" i="0" u="none" strike="noStrike" cap="none">
                <a:solidFill>
                  <a:srgbClr val="1E293B"/>
                </a:solidFill>
                <a:latin typeface="Calibri"/>
                <a:ea typeface="Calibri"/>
                <a:cs typeface="Calibri"/>
                <a:sym typeface="Calibri"/>
              </a:rPr>
              <a:t>Median trough for all windows, fast and slow</a:t>
            </a:r>
            <a:endParaRPr sz="1083" b="0" i="0" u="none" strike="noStrike" cap="none">
              <a:solidFill>
                <a:schemeClr val="dk1"/>
              </a:solidFill>
              <a:latin typeface="Calibri"/>
              <a:ea typeface="Calibri"/>
              <a:cs typeface="Calibri"/>
              <a:sym typeface="Calibri"/>
            </a:endParaRPr>
          </a:p>
        </p:txBody>
      </p:sp>
      <p:sp>
        <p:nvSpPr>
          <p:cNvPr id="427" name="Google Shape;427;p9"/>
          <p:cNvSpPr/>
          <p:nvPr/>
        </p:nvSpPr>
        <p:spPr>
          <a:xfrm>
            <a:off x="5890372" y="1222554"/>
            <a:ext cx="2499300" cy="984300"/>
          </a:xfrm>
          <a:prstGeom prst="rect">
            <a:avLst/>
          </a:prstGeom>
          <a:solidFill>
            <a:srgbClr val="F7F9FC"/>
          </a:solidFill>
          <a:ln w="9525" cap="flat" cmpd="sng">
            <a:solidFill>
              <a:srgbClr val="CBD5E1"/>
            </a:solidFill>
            <a:prstDash val="solid"/>
            <a:round/>
            <a:headEnd type="none" w="sm" len="sm"/>
            <a:tailEnd type="none" w="sm" len="sm"/>
          </a:ln>
          <a:effectLst>
            <a:outerShdw blurRad="118891" dist="23778" dir="8100000" algn="bl" rotWithShape="0">
              <a:srgbClr val="000000">
                <a:alpha val="10196"/>
              </a:srgbClr>
            </a:outerShdw>
          </a:effectLst>
        </p:spPr>
        <p:txBody>
          <a:bodyPr spcFirstLastPara="1" wrap="square" lIns="85600" tIns="85600" rIns="85600" bIns="856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9"/>
          <p:cNvSpPr/>
          <p:nvPr/>
        </p:nvSpPr>
        <p:spPr>
          <a:xfrm>
            <a:off x="5890372" y="1222554"/>
            <a:ext cx="85500" cy="984300"/>
          </a:xfrm>
          <a:prstGeom prst="rect">
            <a:avLst/>
          </a:prstGeom>
          <a:solidFill>
            <a:srgbClr val="475569"/>
          </a:solidFill>
          <a:ln w="9525" cap="flat" cmpd="sng">
            <a:solidFill>
              <a:srgbClr val="475569"/>
            </a:solidFill>
            <a:prstDash val="solid"/>
            <a:round/>
            <a:headEnd type="none" w="sm" len="sm"/>
            <a:tailEnd type="none" w="sm" len="sm"/>
          </a:ln>
        </p:spPr>
        <p:txBody>
          <a:bodyPr spcFirstLastPara="1" wrap="square" lIns="85600" tIns="85600" rIns="85600" bIns="856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9"/>
          <p:cNvSpPr/>
          <p:nvPr/>
        </p:nvSpPr>
        <p:spPr>
          <a:xfrm>
            <a:off x="6044454" y="1291036"/>
            <a:ext cx="2311200" cy="44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2060"/>
              <a:buFont typeface="Georgia"/>
              <a:buNone/>
            </a:pPr>
            <a:r>
              <a:rPr lang="en-US" sz="2060" b="1" i="0" u="none" strike="noStrike" cap="none">
                <a:solidFill>
                  <a:srgbClr val="475569"/>
                </a:solidFill>
                <a:latin typeface="Georgia"/>
                <a:ea typeface="Georgia"/>
                <a:cs typeface="Georgia"/>
                <a:sym typeface="Georgia"/>
              </a:rPr>
              <a:t>73.3 days</a:t>
            </a:r>
            <a:endParaRPr sz="2060" b="0" i="0" u="none" strike="noStrike" cap="none">
              <a:solidFill>
                <a:schemeClr val="dk1"/>
              </a:solidFill>
              <a:latin typeface="Calibri"/>
              <a:ea typeface="Calibri"/>
              <a:cs typeface="Calibri"/>
              <a:sym typeface="Calibri"/>
            </a:endParaRPr>
          </a:p>
        </p:txBody>
      </p:sp>
      <p:sp>
        <p:nvSpPr>
          <p:cNvPr id="430" name="Google Shape;430;p9"/>
          <p:cNvSpPr/>
          <p:nvPr/>
        </p:nvSpPr>
        <p:spPr>
          <a:xfrm>
            <a:off x="6044454" y="1736167"/>
            <a:ext cx="2311200" cy="25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83"/>
              <a:buFont typeface="Calibri"/>
              <a:buNone/>
            </a:pPr>
            <a:r>
              <a:rPr lang="en-US" sz="1083" b="1" i="0" u="none" strike="noStrike" cap="none">
                <a:solidFill>
                  <a:srgbClr val="1E293B"/>
                </a:solidFill>
                <a:latin typeface="Calibri"/>
                <a:ea typeface="Calibri"/>
                <a:cs typeface="Calibri"/>
                <a:sym typeface="Calibri"/>
              </a:rPr>
              <a:t>Standard deviation of all trough times, fast and slow</a:t>
            </a:r>
            <a:endParaRPr sz="1083" b="0" i="0" u="none" strike="noStrike" cap="none">
              <a:solidFill>
                <a:schemeClr val="dk1"/>
              </a:solidFill>
              <a:latin typeface="Calibri"/>
              <a:ea typeface="Calibri"/>
              <a:cs typeface="Calibri"/>
              <a:sym typeface="Calibri"/>
            </a:endParaRPr>
          </a:p>
        </p:txBody>
      </p:sp>
      <p:sp>
        <p:nvSpPr>
          <p:cNvPr id="431" name="Google Shape;431;p9"/>
          <p:cNvSpPr/>
          <p:nvPr/>
        </p:nvSpPr>
        <p:spPr>
          <a:xfrm>
            <a:off x="4457871" y="2329275"/>
            <a:ext cx="3931800" cy="21030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9"/>
          <p:cNvSpPr/>
          <p:nvPr/>
        </p:nvSpPr>
        <p:spPr>
          <a:xfrm>
            <a:off x="4421585" y="2330177"/>
            <a:ext cx="91500" cy="21030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9"/>
          <p:cNvSpPr/>
          <p:nvPr/>
        </p:nvSpPr>
        <p:spPr>
          <a:xfrm>
            <a:off x="4640751" y="2402427"/>
            <a:ext cx="35661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Why do Trough Times Follow a Bimodal Distribution?</a:t>
            </a:r>
            <a:endParaRPr sz="1250" b="0" i="0" u="none" strike="noStrike" cap="none">
              <a:solidFill>
                <a:schemeClr val="dk1"/>
              </a:solidFill>
              <a:latin typeface="Calibri"/>
              <a:ea typeface="Calibri"/>
              <a:cs typeface="Calibri"/>
              <a:sym typeface="Calibri"/>
            </a:endParaRPr>
          </a:p>
        </p:txBody>
      </p:sp>
      <p:sp>
        <p:nvSpPr>
          <p:cNvPr id="434" name="Google Shape;434;p9"/>
          <p:cNvSpPr/>
          <p:nvPr/>
        </p:nvSpPr>
        <p:spPr>
          <a:xfrm>
            <a:off x="4640751" y="2768187"/>
            <a:ext cx="3657600" cy="15729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200"/>
              <a:buFont typeface="Calibri"/>
              <a:buChar char="•"/>
            </a:pPr>
            <a:r>
              <a:rPr lang="en-US" sz="1200" b="0" i="0" u="none" strike="noStrike" cap="none">
                <a:solidFill>
                  <a:srgbClr val="1E293B"/>
                </a:solidFill>
                <a:latin typeface="Calibri"/>
                <a:ea typeface="Calibri"/>
                <a:cs typeface="Calibri"/>
                <a:sym typeface="Calibri"/>
              </a:rPr>
              <a:t>Fast clusters (40–100 days): Indicate sharp risk and news shocks (e.g. COVID, Aug 2024 carry unwind)</a:t>
            </a:r>
            <a:endParaRPr sz="1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200"/>
              <a:buFont typeface="Calibri"/>
              <a:buChar char="•"/>
            </a:pPr>
            <a:r>
              <a:rPr lang="en-US" sz="1200" b="0" i="0" u="none" strike="noStrike" cap="none">
                <a:solidFill>
                  <a:srgbClr val="1E293B"/>
                </a:solidFill>
                <a:latin typeface="Calibri"/>
                <a:ea typeface="Calibri"/>
                <a:cs typeface="Calibri"/>
                <a:sym typeface="Calibri"/>
              </a:rPr>
              <a:t>Slow clusters (180–240 days): Indicate structural shocks, which are prolonged rate cycles and harder to navigate</a:t>
            </a:r>
            <a:endParaRPr sz="1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200"/>
              <a:buFont typeface="Calibri"/>
              <a:buChar char="•"/>
            </a:pPr>
            <a:r>
              <a:rPr lang="en-US" sz="1200" b="0" i="0" u="none" strike="noStrike" cap="none">
                <a:solidFill>
                  <a:srgbClr val="1E293B"/>
                </a:solidFill>
                <a:latin typeface="Calibri"/>
                <a:ea typeface="Calibri"/>
                <a:cs typeface="Calibri"/>
                <a:sym typeface="Calibri"/>
              </a:rPr>
              <a:t>We should target FAST clusters, which requires at least a 5% drawdown by day 74</a:t>
            </a:r>
            <a:endParaRPr sz="1200" b="0" i="0" u="none" strike="noStrike" cap="none">
              <a:solidFill>
                <a:schemeClr val="dk1"/>
              </a:solidFill>
              <a:latin typeface="Calibri"/>
              <a:ea typeface="Calibri"/>
              <a:cs typeface="Calibri"/>
              <a:sym typeface="Calibri"/>
            </a:endParaRPr>
          </a:p>
        </p:txBody>
      </p:sp>
      <p:sp>
        <p:nvSpPr>
          <p:cNvPr id="435" name="Google Shape;435;p9"/>
          <p:cNvSpPr/>
          <p:nvPr/>
        </p:nvSpPr>
        <p:spPr>
          <a:xfrm>
            <a:off x="457200" y="4736709"/>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Since the standard deviation of faster troughs is 40 days, we cannot predict the exact trough day. Our strategy uses a fixed 74-day entry as a disciplined rule rather than chasing the bottom.</a:t>
            </a:r>
            <a:endParaRPr sz="1000" b="0" i="0" u="none" strike="noStrike" cap="none">
              <a:solidFill>
                <a:schemeClr val="dk1"/>
              </a:solidFill>
              <a:latin typeface="Calibri"/>
              <a:ea typeface="Calibri"/>
              <a:cs typeface="Calibri"/>
              <a:sym typeface="Calibri"/>
            </a:endParaRPr>
          </a:p>
        </p:txBody>
      </p:sp>
      <p:sp>
        <p:nvSpPr>
          <p:cNvPr id="436" name="Google Shape;436;p9"/>
          <p:cNvSpPr/>
          <p:nvPr/>
        </p:nvSpPr>
        <p:spPr>
          <a:xfrm>
            <a:off x="457200" y="502925"/>
            <a:ext cx="77079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2500" b="1" i="0" u="none" strike="noStrike" cap="none">
                <a:solidFill>
                  <a:srgbClr val="0C1A35"/>
                </a:solidFill>
                <a:latin typeface="Georgia"/>
                <a:ea typeface="Georgia"/>
                <a:cs typeface="Georgia"/>
                <a:sym typeface="Georgia"/>
              </a:rPr>
              <a:t>Question 1: Do Prices Bottom Out?</a:t>
            </a:r>
            <a:endParaRPr sz="2500" b="0" i="0" u="none" strike="noStrike" cap="none">
              <a:solidFill>
                <a:schemeClr val="dk1"/>
              </a:solidFill>
              <a:latin typeface="Calibri"/>
              <a:ea typeface="Calibri"/>
              <a:cs typeface="Calibri"/>
              <a:sym typeface="Calibri"/>
            </a:endParaRPr>
          </a:p>
        </p:txBody>
      </p:sp>
      <p:sp>
        <p:nvSpPr>
          <p:cNvPr id="437" name="Google Shape;437;p9"/>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2"/>
        <p:cNvGrpSpPr/>
        <p:nvPr/>
      </p:nvGrpSpPr>
      <p:grpSpPr>
        <a:xfrm>
          <a:off x="0" y="0"/>
          <a:ext cx="0" cy="0"/>
          <a:chOff x="0" y="0"/>
          <a:chExt cx="0" cy="0"/>
        </a:xfrm>
      </p:grpSpPr>
      <p:sp>
        <p:nvSpPr>
          <p:cNvPr id="443" name="Google Shape;443;p10"/>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10"/>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3 — RECOVERY TIMING</a:t>
            </a:r>
            <a:endParaRPr sz="1050" b="0" i="0" u="none" strike="noStrike" cap="none">
              <a:solidFill>
                <a:schemeClr val="dk1"/>
              </a:solidFill>
              <a:latin typeface="Calibri"/>
              <a:ea typeface="Calibri"/>
              <a:cs typeface="Calibri"/>
              <a:sym typeface="Calibri"/>
            </a:endParaRPr>
          </a:p>
        </p:txBody>
      </p:sp>
      <p:sp>
        <p:nvSpPr>
          <p:cNvPr id="445" name="Google Shape;445;p10"/>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2500" b="1" i="0" u="none" strike="noStrike" cap="none">
                <a:solidFill>
                  <a:srgbClr val="0C1A35"/>
                </a:solidFill>
                <a:latin typeface="Georgia"/>
                <a:ea typeface="Georgia"/>
                <a:cs typeface="Georgia"/>
                <a:sym typeface="Georgia"/>
              </a:rPr>
              <a:t>Question 2: How Quickly Do Prices Bounce Back?</a:t>
            </a:r>
            <a:endParaRPr sz="2500" b="0" i="0" u="none" strike="noStrike" cap="none">
              <a:solidFill>
                <a:schemeClr val="dk1"/>
              </a:solidFill>
              <a:latin typeface="Calibri"/>
              <a:ea typeface="Calibri"/>
              <a:cs typeface="Calibri"/>
              <a:sym typeface="Calibri"/>
            </a:endParaRPr>
          </a:p>
        </p:txBody>
      </p:sp>
      <p:grpSp>
        <p:nvGrpSpPr>
          <p:cNvPr id="446" name="Google Shape;446;p10"/>
          <p:cNvGrpSpPr/>
          <p:nvPr/>
        </p:nvGrpSpPr>
        <p:grpSpPr>
          <a:xfrm>
            <a:off x="786151" y="1251284"/>
            <a:ext cx="7435417" cy="2691719"/>
            <a:chOff x="743571" y="1288338"/>
            <a:chExt cx="7299644" cy="2691719"/>
          </a:xfrm>
        </p:grpSpPr>
        <p:pic>
          <p:nvPicPr>
            <p:cNvPr id="447" name="Google Shape;447;p10" descr="preencoded.png"/>
            <p:cNvPicPr preferRelativeResize="0"/>
            <p:nvPr/>
          </p:nvPicPr>
          <p:blipFill rotWithShape="1">
            <a:blip r:embed="rId3">
              <a:alphaModFix/>
            </a:blip>
            <a:srcRect/>
            <a:stretch/>
          </p:blipFill>
          <p:spPr>
            <a:xfrm>
              <a:off x="1092634" y="1291588"/>
              <a:ext cx="3233675" cy="2468875"/>
            </a:xfrm>
            <a:prstGeom prst="rect">
              <a:avLst/>
            </a:prstGeom>
            <a:noFill/>
            <a:ln>
              <a:noFill/>
            </a:ln>
          </p:spPr>
        </p:pic>
        <p:sp>
          <p:nvSpPr>
            <p:cNvPr id="448" name="Google Shape;448;p10"/>
            <p:cNvSpPr/>
            <p:nvPr/>
          </p:nvSpPr>
          <p:spPr>
            <a:xfrm>
              <a:off x="743571" y="3778757"/>
              <a:ext cx="39318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950"/>
                <a:buFont typeface="Calibri"/>
                <a:buNone/>
              </a:pPr>
              <a:r>
                <a:rPr lang="en-US" sz="950" b="0" i="1" u="none" strike="noStrike" cap="none">
                  <a:solidFill>
                    <a:srgbClr val="475569"/>
                  </a:solidFill>
                  <a:latin typeface="Calibri"/>
                  <a:ea typeface="Calibri"/>
                  <a:cs typeface="Calibri"/>
                  <a:sym typeface="Calibri"/>
                </a:rPr>
                <a:t>This measures all 42 recovering events</a:t>
              </a:r>
              <a:endParaRPr sz="950" b="0" i="0" u="none" strike="noStrike" cap="none">
                <a:solidFill>
                  <a:schemeClr val="dk1"/>
                </a:solidFill>
                <a:latin typeface="Calibri"/>
                <a:ea typeface="Calibri"/>
                <a:cs typeface="Calibri"/>
                <a:sym typeface="Calibri"/>
              </a:endParaRPr>
            </a:p>
          </p:txBody>
        </p:sp>
        <p:pic>
          <p:nvPicPr>
            <p:cNvPr id="449" name="Google Shape;449;p10" descr="preencoded.png"/>
            <p:cNvPicPr preferRelativeResize="0"/>
            <p:nvPr/>
          </p:nvPicPr>
          <p:blipFill rotWithShape="1">
            <a:blip r:embed="rId4">
              <a:alphaModFix/>
            </a:blip>
            <a:srcRect/>
            <a:stretch/>
          </p:blipFill>
          <p:spPr>
            <a:xfrm>
              <a:off x="4431340" y="1288338"/>
              <a:ext cx="3291950" cy="2468875"/>
            </a:xfrm>
            <a:prstGeom prst="rect">
              <a:avLst/>
            </a:prstGeom>
            <a:noFill/>
            <a:ln>
              <a:noFill/>
            </a:ln>
          </p:spPr>
        </p:pic>
        <p:sp>
          <p:nvSpPr>
            <p:cNvPr id="450" name="Google Shape;450;p10"/>
            <p:cNvSpPr/>
            <p:nvPr/>
          </p:nvSpPr>
          <p:spPr>
            <a:xfrm>
              <a:off x="4111415" y="3771269"/>
              <a:ext cx="39318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950"/>
                <a:buFont typeface="Calibri"/>
                <a:buNone/>
              </a:pPr>
              <a:r>
                <a:rPr lang="en-US" sz="950" b="0" i="1" u="none" strike="noStrike" cap="none">
                  <a:solidFill>
                    <a:srgbClr val="475569"/>
                  </a:solidFill>
                  <a:latin typeface="Calibri"/>
                  <a:ea typeface="Calibri"/>
                  <a:cs typeface="Calibri"/>
                  <a:sym typeface="Calibri"/>
                </a:rPr>
                <a:t>Sample of Fast-trough only (trough &lt; day 150)</a:t>
              </a:r>
              <a:endParaRPr sz="950" b="0" i="0" u="none" strike="noStrike" cap="none">
                <a:solidFill>
                  <a:schemeClr val="dk1"/>
                </a:solidFill>
                <a:latin typeface="Calibri"/>
                <a:ea typeface="Calibri"/>
                <a:cs typeface="Calibri"/>
                <a:sym typeface="Calibri"/>
              </a:endParaRPr>
            </a:p>
          </p:txBody>
        </p:sp>
      </p:grpSp>
      <p:sp>
        <p:nvSpPr>
          <p:cNvPr id="451" name="Google Shape;451;p10"/>
          <p:cNvSpPr/>
          <p:nvPr/>
        </p:nvSpPr>
        <p:spPr>
          <a:xfrm>
            <a:off x="493775" y="4032950"/>
            <a:ext cx="1984200" cy="95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10"/>
          <p:cNvSpPr/>
          <p:nvPr/>
        </p:nvSpPr>
        <p:spPr>
          <a:xfrm>
            <a:off x="493775" y="4032950"/>
            <a:ext cx="91500" cy="958500"/>
          </a:xfrm>
          <a:prstGeom prst="rect">
            <a:avLst/>
          </a:prstGeom>
          <a:solidFill>
            <a:srgbClr val="166534"/>
          </a:solidFill>
          <a:ln w="9525" cap="flat" cmpd="sng">
            <a:solidFill>
              <a:srgbClr val="16653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10"/>
          <p:cNvSpPr/>
          <p:nvPr/>
        </p:nvSpPr>
        <p:spPr>
          <a:xfrm>
            <a:off x="658367" y="4091130"/>
            <a:ext cx="1783200" cy="433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6534"/>
              </a:buClr>
              <a:buSzPts val="2200"/>
              <a:buFont typeface="Georgia"/>
              <a:buNone/>
            </a:pPr>
            <a:r>
              <a:rPr lang="en-US" sz="2200" b="1" i="0" u="none" strike="noStrike" cap="none">
                <a:solidFill>
                  <a:srgbClr val="166534"/>
                </a:solidFill>
                <a:latin typeface="Georgia"/>
                <a:ea typeface="Georgia"/>
                <a:cs typeface="Georgia"/>
                <a:sym typeface="Georgia"/>
              </a:rPr>
              <a:t>42 / 78</a:t>
            </a:r>
            <a:endParaRPr sz="2200" b="0" i="0" u="none" strike="noStrike" cap="none">
              <a:solidFill>
                <a:schemeClr val="dk1"/>
              </a:solidFill>
              <a:latin typeface="Calibri"/>
              <a:ea typeface="Calibri"/>
              <a:cs typeface="Calibri"/>
              <a:sym typeface="Calibri"/>
            </a:endParaRPr>
          </a:p>
        </p:txBody>
      </p:sp>
      <p:sp>
        <p:nvSpPr>
          <p:cNvPr id="454" name="Google Shape;454;p10"/>
          <p:cNvSpPr/>
          <p:nvPr/>
        </p:nvSpPr>
        <p:spPr>
          <a:xfrm>
            <a:off x="658367" y="4533079"/>
            <a:ext cx="1783200" cy="249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rgbClr val="1E293B"/>
                </a:solidFill>
                <a:latin typeface="Calibri"/>
                <a:ea typeface="Calibri"/>
                <a:cs typeface="Calibri"/>
                <a:sym typeface="Calibri"/>
              </a:rPr>
              <a:t>Events recover meaningfully, when we analyze all troughs</a:t>
            </a:r>
            <a:endParaRPr sz="1050" b="0" i="0" u="none" strike="noStrike" cap="none">
              <a:solidFill>
                <a:schemeClr val="dk1"/>
              </a:solidFill>
              <a:latin typeface="Calibri"/>
              <a:ea typeface="Calibri"/>
              <a:cs typeface="Calibri"/>
              <a:sym typeface="Calibri"/>
            </a:endParaRPr>
          </a:p>
        </p:txBody>
      </p:sp>
      <p:sp>
        <p:nvSpPr>
          <p:cNvPr id="455" name="Google Shape;455;p10"/>
          <p:cNvSpPr/>
          <p:nvPr/>
        </p:nvSpPr>
        <p:spPr>
          <a:xfrm>
            <a:off x="2551175" y="4032950"/>
            <a:ext cx="1984200" cy="95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10"/>
          <p:cNvSpPr/>
          <p:nvPr/>
        </p:nvSpPr>
        <p:spPr>
          <a:xfrm>
            <a:off x="2551175" y="4032950"/>
            <a:ext cx="91500" cy="958500"/>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10"/>
          <p:cNvSpPr/>
          <p:nvPr/>
        </p:nvSpPr>
        <p:spPr>
          <a:xfrm>
            <a:off x="2715767" y="4091130"/>
            <a:ext cx="1783200" cy="433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2200"/>
              <a:buFont typeface="Georgia"/>
              <a:buNone/>
            </a:pPr>
            <a:r>
              <a:rPr lang="en-US" sz="2200" b="1" i="0" u="none" strike="noStrike" cap="none">
                <a:solidFill>
                  <a:srgbClr val="E8A020"/>
                </a:solidFill>
                <a:latin typeface="Georgia"/>
                <a:ea typeface="Georgia"/>
                <a:cs typeface="Georgia"/>
                <a:sym typeface="Georgia"/>
              </a:rPr>
              <a:t>46%</a:t>
            </a:r>
            <a:endParaRPr sz="2200" b="0" i="0" u="none" strike="noStrike" cap="none">
              <a:solidFill>
                <a:schemeClr val="dk1"/>
              </a:solidFill>
              <a:latin typeface="Calibri"/>
              <a:ea typeface="Calibri"/>
              <a:cs typeface="Calibri"/>
              <a:sym typeface="Calibri"/>
            </a:endParaRPr>
          </a:p>
        </p:txBody>
      </p:sp>
      <p:sp>
        <p:nvSpPr>
          <p:cNvPr id="458" name="Google Shape;458;p10"/>
          <p:cNvSpPr/>
          <p:nvPr/>
        </p:nvSpPr>
        <p:spPr>
          <a:xfrm>
            <a:off x="2715775" y="4533074"/>
            <a:ext cx="1783200" cy="433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rgbClr val="1E293B"/>
                </a:solidFill>
                <a:latin typeface="Calibri"/>
                <a:ea typeface="Calibri"/>
                <a:cs typeface="Calibri"/>
                <a:sym typeface="Calibri"/>
              </a:rPr>
              <a:t>Events that never recovered </a:t>
            </a:r>
            <a:endParaRPr sz="1050" b="1" i="0" u="none" strike="noStrike" cap="none">
              <a:solidFill>
                <a:srgbClr val="1E293B"/>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050"/>
              <a:buFont typeface="Calibri"/>
              <a:buNone/>
            </a:pPr>
            <a:endParaRPr sz="1050" b="1" i="0" u="none" strike="noStrike" cap="none">
              <a:solidFill>
                <a:srgbClr val="1E293B"/>
              </a:solidFill>
              <a:latin typeface="Calibri"/>
              <a:ea typeface="Calibri"/>
              <a:cs typeface="Calibri"/>
              <a:sym typeface="Calibri"/>
            </a:endParaRPr>
          </a:p>
        </p:txBody>
      </p:sp>
      <p:sp>
        <p:nvSpPr>
          <p:cNvPr id="459" name="Google Shape;459;p10"/>
          <p:cNvSpPr/>
          <p:nvPr/>
        </p:nvSpPr>
        <p:spPr>
          <a:xfrm>
            <a:off x="4608575" y="4032950"/>
            <a:ext cx="1984200" cy="95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10"/>
          <p:cNvSpPr/>
          <p:nvPr/>
        </p:nvSpPr>
        <p:spPr>
          <a:xfrm>
            <a:off x="4791392" y="4099616"/>
            <a:ext cx="1783200" cy="433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2200"/>
              <a:buFont typeface="Georgia"/>
              <a:buNone/>
            </a:pPr>
            <a:r>
              <a:rPr lang="en-US" sz="2200" b="1" i="0" u="none" strike="noStrike" cap="none">
                <a:solidFill>
                  <a:srgbClr val="B91C1C"/>
                </a:solidFill>
                <a:latin typeface="Georgia"/>
                <a:ea typeface="Georgia"/>
                <a:cs typeface="Georgia"/>
                <a:sym typeface="Georgia"/>
              </a:rPr>
              <a:t>128 days</a:t>
            </a:r>
            <a:endParaRPr sz="2200" b="0" i="0" u="none" strike="noStrike" cap="none">
              <a:solidFill>
                <a:schemeClr val="dk1"/>
              </a:solidFill>
              <a:latin typeface="Calibri"/>
              <a:ea typeface="Calibri"/>
              <a:cs typeface="Calibri"/>
              <a:sym typeface="Calibri"/>
            </a:endParaRPr>
          </a:p>
        </p:txBody>
      </p:sp>
      <p:sp>
        <p:nvSpPr>
          <p:cNvPr id="461" name="Google Shape;461;p10"/>
          <p:cNvSpPr/>
          <p:nvPr/>
        </p:nvSpPr>
        <p:spPr>
          <a:xfrm>
            <a:off x="4773167" y="4499570"/>
            <a:ext cx="1783200" cy="249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rgbClr val="1E293B"/>
                </a:solidFill>
                <a:latin typeface="Calibri"/>
                <a:ea typeface="Calibri"/>
                <a:cs typeface="Calibri"/>
                <a:sym typeface="Calibri"/>
              </a:rPr>
              <a:t>Median: trough → recovery</a:t>
            </a:r>
            <a:endParaRPr sz="1050" b="1" i="0" u="none" strike="noStrike" cap="none">
              <a:solidFill>
                <a:srgbClr val="1E293B"/>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rgbClr val="1E293B"/>
                </a:solidFill>
                <a:latin typeface="Calibri"/>
                <a:ea typeface="Calibri"/>
                <a:cs typeface="Calibri"/>
                <a:sym typeface="Calibri"/>
              </a:rPr>
              <a:t>(Only for short-term troughs)</a:t>
            </a:r>
            <a:endParaRPr sz="1050" b="0" i="0" u="none" strike="noStrike" cap="none">
              <a:solidFill>
                <a:schemeClr val="dk1"/>
              </a:solidFill>
              <a:latin typeface="Calibri"/>
              <a:ea typeface="Calibri"/>
              <a:cs typeface="Calibri"/>
              <a:sym typeface="Calibri"/>
            </a:endParaRPr>
          </a:p>
        </p:txBody>
      </p:sp>
      <p:sp>
        <p:nvSpPr>
          <p:cNvPr id="462" name="Google Shape;462;p10"/>
          <p:cNvSpPr/>
          <p:nvPr/>
        </p:nvSpPr>
        <p:spPr>
          <a:xfrm>
            <a:off x="4773167" y="4766472"/>
            <a:ext cx="1783200" cy="183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900"/>
              <a:buFont typeface="Calibri"/>
              <a:buNone/>
            </a:pPr>
            <a:endParaRPr sz="900" b="0" i="0" u="none" strike="noStrike" cap="none">
              <a:solidFill>
                <a:schemeClr val="dk1"/>
              </a:solidFill>
              <a:latin typeface="Calibri"/>
              <a:ea typeface="Calibri"/>
              <a:cs typeface="Calibri"/>
              <a:sym typeface="Calibri"/>
            </a:endParaRPr>
          </a:p>
        </p:txBody>
      </p:sp>
      <p:sp>
        <p:nvSpPr>
          <p:cNvPr id="463" name="Google Shape;463;p10"/>
          <p:cNvSpPr/>
          <p:nvPr/>
        </p:nvSpPr>
        <p:spPr>
          <a:xfrm>
            <a:off x="6665975" y="4032950"/>
            <a:ext cx="1984200" cy="95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10"/>
          <p:cNvSpPr/>
          <p:nvPr/>
        </p:nvSpPr>
        <p:spPr>
          <a:xfrm>
            <a:off x="4608550" y="4032950"/>
            <a:ext cx="91500" cy="9585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10"/>
          <p:cNvSpPr/>
          <p:nvPr/>
        </p:nvSpPr>
        <p:spPr>
          <a:xfrm>
            <a:off x="6830567" y="4091130"/>
            <a:ext cx="1783200" cy="433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2200"/>
              <a:buFont typeface="Georgia"/>
              <a:buNone/>
            </a:pPr>
            <a:r>
              <a:rPr lang="en-US" sz="2200" b="1" i="0" u="none" strike="noStrike" cap="none">
                <a:solidFill>
                  <a:srgbClr val="0F766E"/>
                </a:solidFill>
                <a:latin typeface="Georgia"/>
                <a:ea typeface="Georgia"/>
                <a:cs typeface="Georgia"/>
                <a:sym typeface="Georgia"/>
              </a:rPr>
              <a:t>37/39</a:t>
            </a:r>
            <a:endParaRPr sz="2200" b="1" i="0" u="none" strike="noStrike" cap="none">
              <a:solidFill>
                <a:srgbClr val="B91C1C"/>
              </a:solidFill>
              <a:latin typeface="Georgia"/>
              <a:ea typeface="Georgia"/>
              <a:cs typeface="Georgia"/>
              <a:sym typeface="Georgia"/>
            </a:endParaRPr>
          </a:p>
        </p:txBody>
      </p:sp>
      <p:sp>
        <p:nvSpPr>
          <p:cNvPr id="466" name="Google Shape;466;p10"/>
          <p:cNvSpPr/>
          <p:nvPr/>
        </p:nvSpPr>
        <p:spPr>
          <a:xfrm>
            <a:off x="6830567" y="4533124"/>
            <a:ext cx="1783200" cy="249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chemeClr val="dk1"/>
                </a:solidFill>
                <a:latin typeface="Calibri"/>
                <a:ea typeface="Calibri"/>
                <a:cs typeface="Calibri"/>
                <a:sym typeface="Calibri"/>
              </a:rPr>
              <a:t>Short-term events that Recover Meaningfully</a:t>
            </a:r>
            <a:endParaRPr sz="105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050"/>
              <a:buFont typeface="Calibri"/>
              <a:buNone/>
            </a:pPr>
            <a:endParaRPr sz="1050" b="1" i="0" u="none" strike="noStrike" cap="none">
              <a:solidFill>
                <a:srgbClr val="1E293B"/>
              </a:solidFill>
              <a:latin typeface="Calibri"/>
              <a:ea typeface="Calibri"/>
              <a:cs typeface="Calibri"/>
              <a:sym typeface="Calibri"/>
            </a:endParaRPr>
          </a:p>
        </p:txBody>
      </p:sp>
      <p:sp>
        <p:nvSpPr>
          <p:cNvPr id="467" name="Google Shape;467;p10"/>
          <p:cNvSpPr/>
          <p:nvPr/>
        </p:nvSpPr>
        <p:spPr>
          <a:xfrm>
            <a:off x="6830567" y="4766472"/>
            <a:ext cx="1783200" cy="183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900"/>
              <a:buFont typeface="Calibri"/>
              <a:buNone/>
            </a:pPr>
            <a:endParaRPr sz="900" b="0" i="0" u="none" strike="noStrike" cap="none">
              <a:solidFill>
                <a:schemeClr val="dk1"/>
              </a:solidFill>
              <a:latin typeface="Calibri"/>
              <a:ea typeface="Calibri"/>
              <a:cs typeface="Calibri"/>
              <a:sym typeface="Calibri"/>
            </a:endParaRPr>
          </a:p>
        </p:txBody>
      </p:sp>
      <p:sp>
        <p:nvSpPr>
          <p:cNvPr id="468" name="Google Shape;468;p10"/>
          <p:cNvSpPr/>
          <p:nvPr/>
        </p:nvSpPr>
        <p:spPr>
          <a:xfrm>
            <a:off x="6665925" y="4032950"/>
            <a:ext cx="91500" cy="9585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10"/>
          <p:cNvSpPr/>
          <p:nvPr/>
        </p:nvSpPr>
        <p:spPr>
          <a:xfrm>
            <a:off x="457200" y="1133934"/>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4"/>
        <p:cNvGrpSpPr/>
        <p:nvPr/>
      </p:nvGrpSpPr>
      <p:grpSpPr>
        <a:xfrm>
          <a:off x="0" y="0"/>
          <a:ext cx="0" cy="0"/>
          <a:chOff x="0" y="0"/>
          <a:chExt cx="0" cy="0"/>
        </a:xfrm>
      </p:grpSpPr>
      <p:sp>
        <p:nvSpPr>
          <p:cNvPr id="475" name="Google Shape;475;p11"/>
          <p:cNvSpPr/>
          <p:nvPr/>
        </p:nvSpPr>
        <p:spPr>
          <a:xfrm>
            <a:off x="365700" y="4737350"/>
            <a:ext cx="8412600" cy="388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11"/>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11"/>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950" b="1" i="0" u="none" strike="noStrike" cap="none">
                <a:solidFill>
                  <a:srgbClr val="FFFFFF"/>
                </a:solidFill>
                <a:latin typeface="Calibri"/>
                <a:ea typeface="Calibri"/>
                <a:cs typeface="Calibri"/>
                <a:sym typeface="Calibri"/>
              </a:rPr>
              <a:t>MODEL 3 — OLS ON TROUGH RETURNS</a:t>
            </a:r>
            <a:endParaRPr sz="950" b="0" i="0" u="none" strike="noStrike" cap="none">
              <a:solidFill>
                <a:schemeClr val="dk1"/>
              </a:solidFill>
              <a:latin typeface="Calibri"/>
              <a:ea typeface="Calibri"/>
              <a:cs typeface="Calibri"/>
              <a:sym typeface="Calibri"/>
            </a:endParaRPr>
          </a:p>
        </p:txBody>
      </p:sp>
      <p:sp>
        <p:nvSpPr>
          <p:cNvPr id="478" name="Google Shape;478;p11"/>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2900"/>
              <a:buFont typeface="Georgia"/>
              <a:buNone/>
            </a:pPr>
            <a:r>
              <a:rPr lang="en-US" sz="2900" b="1" i="0" u="none" strike="noStrike" cap="none">
                <a:solidFill>
                  <a:srgbClr val="0C1A35"/>
                </a:solidFill>
                <a:latin typeface="Georgia"/>
                <a:ea typeface="Georgia"/>
                <a:cs typeface="Georgia"/>
                <a:sym typeface="Georgia"/>
              </a:rPr>
              <a:t>Does VIX Spike Size Predict Return Size?</a:t>
            </a:r>
            <a:endParaRPr sz="2900" b="0" i="0" u="none" strike="noStrike" cap="none">
              <a:solidFill>
                <a:schemeClr val="dk1"/>
              </a:solidFill>
              <a:latin typeface="Calibri"/>
              <a:ea typeface="Calibri"/>
              <a:cs typeface="Calibri"/>
              <a:sym typeface="Calibri"/>
            </a:endParaRPr>
          </a:p>
        </p:txBody>
      </p:sp>
      <p:sp>
        <p:nvSpPr>
          <p:cNvPr id="479" name="Google Shape;479;p11"/>
          <p:cNvSpPr/>
          <p:nvPr/>
        </p:nvSpPr>
        <p:spPr>
          <a:xfrm>
            <a:off x="457200" y="1207008"/>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11"/>
          <p:cNvSpPr/>
          <p:nvPr/>
        </p:nvSpPr>
        <p:spPr>
          <a:xfrm>
            <a:off x="493775" y="3941485"/>
            <a:ext cx="2670000" cy="73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481" name="Google Shape;481;p11"/>
          <p:cNvSpPr/>
          <p:nvPr/>
        </p:nvSpPr>
        <p:spPr>
          <a:xfrm>
            <a:off x="493775" y="3941485"/>
            <a:ext cx="91500" cy="7323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482" name="Google Shape;482;p11"/>
          <p:cNvSpPr/>
          <p:nvPr/>
        </p:nvSpPr>
        <p:spPr>
          <a:xfrm>
            <a:off x="658367" y="3956121"/>
            <a:ext cx="2469000" cy="331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2200"/>
              <a:buFont typeface="Georgia"/>
              <a:buNone/>
            </a:pPr>
            <a:r>
              <a:rPr lang="en-US" sz="1900" b="1" i="0" u="none" strike="noStrike" cap="none">
                <a:solidFill>
                  <a:srgbClr val="B91C1C"/>
                </a:solidFill>
                <a:latin typeface="Georgia"/>
                <a:ea typeface="Georgia"/>
                <a:cs typeface="Georgia"/>
                <a:sym typeface="Georgia"/>
              </a:rPr>
              <a:t>≈ 0</a:t>
            </a:r>
            <a:endParaRPr sz="1900" b="0" i="0" u="none" strike="noStrike" cap="none">
              <a:solidFill>
                <a:schemeClr val="dk1"/>
              </a:solidFill>
              <a:latin typeface="Calibri"/>
              <a:ea typeface="Calibri"/>
              <a:cs typeface="Calibri"/>
              <a:sym typeface="Calibri"/>
            </a:endParaRPr>
          </a:p>
        </p:txBody>
      </p:sp>
      <p:sp>
        <p:nvSpPr>
          <p:cNvPr id="483" name="Google Shape;483;p11"/>
          <p:cNvSpPr/>
          <p:nvPr/>
        </p:nvSpPr>
        <p:spPr>
          <a:xfrm>
            <a:off x="658367" y="4287304"/>
            <a:ext cx="2469000" cy="19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950" b="1" i="0" u="none" strike="noStrike" cap="none">
                <a:solidFill>
                  <a:srgbClr val="1E293B"/>
                </a:solidFill>
                <a:latin typeface="Calibri"/>
                <a:ea typeface="Calibri"/>
                <a:cs typeface="Calibri"/>
                <a:sym typeface="Calibri"/>
              </a:rPr>
              <a:t>R-squared (OLS on returns)</a:t>
            </a:r>
            <a:endParaRPr sz="950" b="0" i="0" u="none" strike="noStrike" cap="none">
              <a:solidFill>
                <a:schemeClr val="dk1"/>
              </a:solidFill>
              <a:latin typeface="Calibri"/>
              <a:ea typeface="Calibri"/>
              <a:cs typeface="Calibri"/>
              <a:sym typeface="Calibri"/>
            </a:endParaRPr>
          </a:p>
        </p:txBody>
      </p:sp>
      <p:sp>
        <p:nvSpPr>
          <p:cNvPr id="484" name="Google Shape;484;p11"/>
          <p:cNvSpPr/>
          <p:nvPr/>
        </p:nvSpPr>
        <p:spPr>
          <a:xfrm>
            <a:off x="658367" y="4465633"/>
            <a:ext cx="2469000" cy="14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900"/>
              <a:buFont typeface="Calibri"/>
              <a:buNone/>
            </a:pPr>
            <a:r>
              <a:rPr lang="en-US" sz="800" b="0" i="0" u="none" strike="noStrike" cap="none">
                <a:solidFill>
                  <a:srgbClr val="475569"/>
                </a:solidFill>
                <a:latin typeface="Calibri"/>
                <a:ea typeface="Calibri"/>
                <a:cs typeface="Calibri"/>
                <a:sym typeface="Calibri"/>
              </a:rPr>
              <a:t>No predictive power</a:t>
            </a:r>
            <a:endParaRPr sz="800" b="0" i="0" u="none" strike="noStrike" cap="none">
              <a:solidFill>
                <a:schemeClr val="dk1"/>
              </a:solidFill>
              <a:latin typeface="Calibri"/>
              <a:ea typeface="Calibri"/>
              <a:cs typeface="Calibri"/>
              <a:sym typeface="Calibri"/>
            </a:endParaRPr>
          </a:p>
        </p:txBody>
      </p:sp>
      <p:sp>
        <p:nvSpPr>
          <p:cNvPr id="485" name="Google Shape;485;p11"/>
          <p:cNvSpPr/>
          <p:nvPr/>
        </p:nvSpPr>
        <p:spPr>
          <a:xfrm>
            <a:off x="3236975" y="3941485"/>
            <a:ext cx="2670000" cy="73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486" name="Google Shape;486;p11"/>
          <p:cNvSpPr/>
          <p:nvPr/>
        </p:nvSpPr>
        <p:spPr>
          <a:xfrm>
            <a:off x="3236975" y="3941485"/>
            <a:ext cx="91500" cy="7323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487" name="Google Shape;487;p11"/>
          <p:cNvSpPr/>
          <p:nvPr/>
        </p:nvSpPr>
        <p:spPr>
          <a:xfrm>
            <a:off x="3401567" y="3958901"/>
            <a:ext cx="2469000" cy="331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2200"/>
              <a:buFont typeface="Georgia"/>
              <a:buNone/>
            </a:pPr>
            <a:r>
              <a:rPr lang="en-US" sz="1900" b="1" i="0" u="none" strike="noStrike" cap="none">
                <a:solidFill>
                  <a:srgbClr val="B91C1C"/>
                </a:solidFill>
                <a:latin typeface="Georgia"/>
                <a:ea typeface="Georgia"/>
                <a:cs typeface="Georgia"/>
                <a:sym typeface="Georgia"/>
              </a:rPr>
              <a:t>0.956</a:t>
            </a:r>
            <a:endParaRPr sz="1900" b="0" i="0" u="none" strike="noStrike" cap="none">
              <a:solidFill>
                <a:schemeClr val="dk1"/>
              </a:solidFill>
              <a:latin typeface="Calibri"/>
              <a:ea typeface="Calibri"/>
              <a:cs typeface="Calibri"/>
              <a:sym typeface="Calibri"/>
            </a:endParaRPr>
          </a:p>
        </p:txBody>
      </p:sp>
      <p:sp>
        <p:nvSpPr>
          <p:cNvPr id="488" name="Google Shape;488;p11"/>
          <p:cNvSpPr/>
          <p:nvPr/>
        </p:nvSpPr>
        <p:spPr>
          <a:xfrm>
            <a:off x="3401567" y="4290083"/>
            <a:ext cx="2469000" cy="19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950" b="1" i="0" u="none" strike="noStrike" cap="none">
                <a:solidFill>
                  <a:srgbClr val="1E293B"/>
                </a:solidFill>
                <a:latin typeface="Calibri"/>
                <a:ea typeface="Calibri"/>
                <a:cs typeface="Calibri"/>
                <a:sym typeface="Calibri"/>
              </a:rPr>
              <a:t>ΔVIX coefficient (p-value)</a:t>
            </a:r>
            <a:endParaRPr sz="950" b="0" i="0" u="none" strike="noStrike" cap="none">
              <a:solidFill>
                <a:schemeClr val="dk1"/>
              </a:solidFill>
              <a:latin typeface="Calibri"/>
              <a:ea typeface="Calibri"/>
              <a:cs typeface="Calibri"/>
              <a:sym typeface="Calibri"/>
            </a:endParaRPr>
          </a:p>
        </p:txBody>
      </p:sp>
      <p:sp>
        <p:nvSpPr>
          <p:cNvPr id="489" name="Google Shape;489;p11"/>
          <p:cNvSpPr/>
          <p:nvPr/>
        </p:nvSpPr>
        <p:spPr>
          <a:xfrm>
            <a:off x="3401567" y="4468412"/>
            <a:ext cx="2469000" cy="14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900"/>
              <a:buFont typeface="Calibri"/>
              <a:buNone/>
            </a:pPr>
            <a:r>
              <a:rPr lang="en-US" sz="800" b="0" i="0" u="none" strike="noStrike" cap="none">
                <a:solidFill>
                  <a:srgbClr val="475569"/>
                </a:solidFill>
                <a:latin typeface="Calibri"/>
                <a:ea typeface="Calibri"/>
                <a:cs typeface="Calibri"/>
                <a:sym typeface="Calibri"/>
              </a:rPr>
              <a:t>Not significant</a:t>
            </a:r>
            <a:endParaRPr sz="800" b="0" i="0" u="none" strike="noStrike" cap="none">
              <a:solidFill>
                <a:schemeClr val="dk1"/>
              </a:solidFill>
              <a:latin typeface="Calibri"/>
              <a:ea typeface="Calibri"/>
              <a:cs typeface="Calibri"/>
              <a:sym typeface="Calibri"/>
            </a:endParaRPr>
          </a:p>
        </p:txBody>
      </p:sp>
      <p:sp>
        <p:nvSpPr>
          <p:cNvPr id="490" name="Google Shape;490;p11"/>
          <p:cNvSpPr/>
          <p:nvPr/>
        </p:nvSpPr>
        <p:spPr>
          <a:xfrm>
            <a:off x="5980175" y="3941485"/>
            <a:ext cx="2670000" cy="73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491" name="Google Shape;491;p11"/>
          <p:cNvSpPr/>
          <p:nvPr/>
        </p:nvSpPr>
        <p:spPr>
          <a:xfrm>
            <a:off x="5980175" y="3941485"/>
            <a:ext cx="91500" cy="732300"/>
          </a:xfrm>
          <a:prstGeom prst="rect">
            <a:avLst/>
          </a:prstGeom>
          <a:solidFill>
            <a:srgbClr val="166534"/>
          </a:solidFill>
          <a:ln w="9525" cap="flat" cmpd="sng">
            <a:solidFill>
              <a:srgbClr val="16653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p:txBody>
      </p:sp>
      <p:sp>
        <p:nvSpPr>
          <p:cNvPr id="492" name="Google Shape;492;p11"/>
          <p:cNvSpPr/>
          <p:nvPr/>
        </p:nvSpPr>
        <p:spPr>
          <a:xfrm>
            <a:off x="6144767" y="3962501"/>
            <a:ext cx="2469000" cy="331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6534"/>
              </a:buClr>
              <a:buSzPts val="2200"/>
              <a:buFont typeface="Georgia"/>
              <a:buNone/>
            </a:pPr>
            <a:r>
              <a:rPr lang="en-US" sz="1900" b="1" i="0" u="none" strike="noStrike" cap="none">
                <a:solidFill>
                  <a:srgbClr val="166534"/>
                </a:solidFill>
                <a:latin typeface="Georgia"/>
                <a:ea typeface="Georgia"/>
                <a:cs typeface="Georgia"/>
                <a:sym typeface="Georgia"/>
              </a:rPr>
              <a:t>7.58%</a:t>
            </a:r>
            <a:endParaRPr sz="1900" b="0" i="0" u="none" strike="noStrike" cap="none">
              <a:solidFill>
                <a:schemeClr val="dk1"/>
              </a:solidFill>
              <a:latin typeface="Calibri"/>
              <a:ea typeface="Calibri"/>
              <a:cs typeface="Calibri"/>
              <a:sym typeface="Calibri"/>
            </a:endParaRPr>
          </a:p>
        </p:txBody>
      </p:sp>
      <p:sp>
        <p:nvSpPr>
          <p:cNvPr id="493" name="Google Shape;493;p11"/>
          <p:cNvSpPr/>
          <p:nvPr/>
        </p:nvSpPr>
        <p:spPr>
          <a:xfrm>
            <a:off x="6144767" y="4293683"/>
            <a:ext cx="2469000" cy="19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950" b="1" i="0" u="none" strike="noStrike" cap="none">
                <a:solidFill>
                  <a:srgbClr val="1E293B"/>
                </a:solidFill>
                <a:latin typeface="Calibri"/>
                <a:ea typeface="Calibri"/>
                <a:cs typeface="Calibri"/>
                <a:sym typeface="Calibri"/>
              </a:rPr>
              <a:t>Intercept (const)</a:t>
            </a:r>
            <a:endParaRPr sz="950" b="0" i="0" u="none" strike="noStrike" cap="none">
              <a:solidFill>
                <a:schemeClr val="dk1"/>
              </a:solidFill>
              <a:latin typeface="Calibri"/>
              <a:ea typeface="Calibri"/>
              <a:cs typeface="Calibri"/>
              <a:sym typeface="Calibri"/>
            </a:endParaRPr>
          </a:p>
        </p:txBody>
      </p:sp>
      <p:sp>
        <p:nvSpPr>
          <p:cNvPr id="494" name="Google Shape;494;p11"/>
          <p:cNvSpPr/>
          <p:nvPr/>
        </p:nvSpPr>
        <p:spPr>
          <a:xfrm>
            <a:off x="6144767" y="4472012"/>
            <a:ext cx="2469000" cy="14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900"/>
              <a:buFont typeface="Calibri"/>
              <a:buNone/>
            </a:pPr>
            <a:r>
              <a:rPr lang="en-US" sz="800" b="0" i="0" u="none" strike="noStrike" cap="none">
                <a:solidFill>
                  <a:srgbClr val="475569"/>
                </a:solidFill>
                <a:latin typeface="Calibri"/>
                <a:ea typeface="Calibri"/>
                <a:cs typeface="Calibri"/>
                <a:sym typeface="Calibri"/>
              </a:rPr>
              <a:t>p &lt; 0.001 — significant</a:t>
            </a:r>
            <a:endParaRPr sz="800" b="0" i="0" u="none" strike="noStrike" cap="none">
              <a:solidFill>
                <a:schemeClr val="dk1"/>
              </a:solidFill>
              <a:latin typeface="Calibri"/>
              <a:ea typeface="Calibri"/>
              <a:cs typeface="Calibri"/>
              <a:sym typeface="Calibri"/>
            </a:endParaRPr>
          </a:p>
        </p:txBody>
      </p:sp>
      <p:sp>
        <p:nvSpPr>
          <p:cNvPr id="495" name="Google Shape;495;p11"/>
          <p:cNvSpPr/>
          <p:nvPr/>
        </p:nvSpPr>
        <p:spPr>
          <a:xfrm>
            <a:off x="457200" y="4785340"/>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Key insight: VIX spike SIZE is irrelevant to return size once the threshold is met. Being in the trade at all (after any top-20% spike) earns ~7.6% on average as shown by the intercept. Our trading rule will thus just be based on the presence of spikes and not on the size of them after our threshold js met.</a:t>
            </a:r>
            <a:endParaRPr sz="1000" b="0" i="0" u="none" strike="noStrike" cap="none">
              <a:solidFill>
                <a:schemeClr val="dk1"/>
              </a:solidFill>
              <a:latin typeface="Calibri"/>
              <a:ea typeface="Calibri"/>
              <a:cs typeface="Calibri"/>
              <a:sym typeface="Calibri"/>
            </a:endParaRPr>
          </a:p>
        </p:txBody>
      </p:sp>
      <p:grpSp>
        <p:nvGrpSpPr>
          <p:cNvPr id="496" name="Google Shape;496;p11"/>
          <p:cNvGrpSpPr/>
          <p:nvPr/>
        </p:nvGrpSpPr>
        <p:grpSpPr>
          <a:xfrm>
            <a:off x="517218" y="1314338"/>
            <a:ext cx="8109557" cy="2583895"/>
            <a:chOff x="517218" y="1314338"/>
            <a:chExt cx="8109557" cy="2583895"/>
          </a:xfrm>
        </p:grpSpPr>
        <p:pic>
          <p:nvPicPr>
            <p:cNvPr id="497" name="Google Shape;497;p11" descr="preencoded.png"/>
            <p:cNvPicPr preferRelativeResize="0"/>
            <p:nvPr/>
          </p:nvPicPr>
          <p:blipFill rotWithShape="1">
            <a:blip r:embed="rId3">
              <a:alphaModFix/>
            </a:blip>
            <a:srcRect/>
            <a:stretch/>
          </p:blipFill>
          <p:spPr>
            <a:xfrm>
              <a:off x="800193" y="1314338"/>
              <a:ext cx="3274650" cy="2428150"/>
            </a:xfrm>
            <a:prstGeom prst="rect">
              <a:avLst/>
            </a:prstGeom>
            <a:noFill/>
            <a:ln>
              <a:noFill/>
            </a:ln>
          </p:spPr>
        </p:pic>
        <p:sp>
          <p:nvSpPr>
            <p:cNvPr id="498" name="Google Shape;498;p11"/>
            <p:cNvSpPr/>
            <p:nvPr/>
          </p:nvSpPr>
          <p:spPr>
            <a:xfrm>
              <a:off x="517218" y="3696933"/>
              <a:ext cx="38406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950"/>
                <a:buFont typeface="Calibri"/>
                <a:buNone/>
              </a:pPr>
              <a:r>
                <a:rPr lang="en-US" sz="950" b="0" i="1" u="none" strike="noStrike" cap="none">
                  <a:solidFill>
                    <a:srgbClr val="475569"/>
                  </a:solidFill>
                  <a:latin typeface="Calibri"/>
                  <a:ea typeface="Calibri"/>
                  <a:cs typeface="Calibri"/>
                  <a:sym typeface="Calibri"/>
                </a:rPr>
                <a:t>Actual vs Predicted return (OLS, ΔVix predictor)</a:t>
              </a:r>
              <a:endParaRPr sz="950" b="0" i="0" u="none" strike="noStrike" cap="none">
                <a:solidFill>
                  <a:schemeClr val="dk1"/>
                </a:solidFill>
                <a:latin typeface="Calibri"/>
                <a:ea typeface="Calibri"/>
                <a:cs typeface="Calibri"/>
                <a:sym typeface="Calibri"/>
              </a:endParaRPr>
            </a:p>
          </p:txBody>
        </p:sp>
        <p:sp>
          <p:nvSpPr>
            <p:cNvPr id="499" name="Google Shape;499;p11"/>
            <p:cNvSpPr/>
            <p:nvPr/>
          </p:nvSpPr>
          <p:spPr>
            <a:xfrm>
              <a:off x="4191875" y="3689781"/>
              <a:ext cx="4434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950"/>
                <a:buFont typeface="Calibri"/>
                <a:buNone/>
              </a:pPr>
              <a:r>
                <a:rPr lang="en-US" sz="950" b="0" i="1" u="none" strike="noStrike" cap="none">
                  <a:solidFill>
                    <a:srgbClr val="475569"/>
                  </a:solidFill>
                  <a:latin typeface="Calibri"/>
                  <a:ea typeface="Calibri"/>
                  <a:cs typeface="Calibri"/>
                  <a:sym typeface="Calibri"/>
                </a:rPr>
                <a:t>Return After Trough vs Δ VIX magnitude</a:t>
              </a:r>
              <a:endParaRPr sz="950" b="0" i="0" u="none" strike="noStrike" cap="none">
                <a:solidFill>
                  <a:schemeClr val="dk1"/>
                </a:solidFill>
                <a:latin typeface="Calibri"/>
                <a:ea typeface="Calibri"/>
                <a:cs typeface="Calibri"/>
                <a:sym typeface="Calibri"/>
              </a:endParaRPr>
            </a:p>
          </p:txBody>
        </p:sp>
        <p:pic>
          <p:nvPicPr>
            <p:cNvPr id="500" name="Google Shape;500;p11"/>
            <p:cNvPicPr preferRelativeResize="0"/>
            <p:nvPr/>
          </p:nvPicPr>
          <p:blipFill rotWithShape="1">
            <a:blip r:embed="rId4">
              <a:alphaModFix/>
            </a:blip>
            <a:srcRect t="2047"/>
            <a:stretch/>
          </p:blipFill>
          <p:spPr>
            <a:xfrm>
              <a:off x="4697700" y="1350413"/>
              <a:ext cx="3423250" cy="2235325"/>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5"/>
        <p:cNvGrpSpPr/>
        <p:nvPr/>
      </p:nvGrpSpPr>
      <p:grpSpPr>
        <a:xfrm>
          <a:off x="0" y="0"/>
          <a:ext cx="0" cy="0"/>
          <a:chOff x="0" y="0"/>
          <a:chExt cx="0" cy="0"/>
        </a:xfrm>
      </p:grpSpPr>
      <p:sp>
        <p:nvSpPr>
          <p:cNvPr id="506" name="Google Shape;506;p12"/>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12"/>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950" b="1" i="0" u="none" strike="noStrike" cap="none">
                <a:solidFill>
                  <a:srgbClr val="FFFFFF"/>
                </a:solidFill>
                <a:latin typeface="Calibri"/>
                <a:ea typeface="Calibri"/>
                <a:cs typeface="Calibri"/>
                <a:sym typeface="Calibri"/>
              </a:rPr>
              <a:t>MODEL 3 — BACKTEST &amp; SHARPE RATIO</a:t>
            </a:r>
            <a:endParaRPr sz="950" b="0" i="0" u="none" strike="noStrike" cap="none">
              <a:solidFill>
                <a:schemeClr val="dk1"/>
              </a:solidFill>
              <a:latin typeface="Calibri"/>
              <a:ea typeface="Calibri"/>
              <a:cs typeface="Calibri"/>
              <a:sym typeface="Calibri"/>
            </a:endParaRPr>
          </a:p>
        </p:txBody>
      </p:sp>
      <p:sp>
        <p:nvSpPr>
          <p:cNvPr id="508" name="Google Shape;508;p12"/>
          <p:cNvSpPr/>
          <p:nvPr/>
        </p:nvSpPr>
        <p:spPr>
          <a:xfrm>
            <a:off x="493776" y="1380285"/>
            <a:ext cx="26700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12"/>
          <p:cNvSpPr/>
          <p:nvPr/>
        </p:nvSpPr>
        <p:spPr>
          <a:xfrm>
            <a:off x="493776" y="1383599"/>
            <a:ext cx="91500" cy="1051500"/>
          </a:xfrm>
          <a:prstGeom prst="rect">
            <a:avLst/>
          </a:prstGeom>
          <a:solidFill>
            <a:srgbClr val="166534"/>
          </a:solidFill>
          <a:ln w="9525" cap="flat" cmpd="sng">
            <a:solidFill>
              <a:srgbClr val="16653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12"/>
          <p:cNvSpPr/>
          <p:nvPr/>
        </p:nvSpPr>
        <p:spPr>
          <a:xfrm>
            <a:off x="676631" y="1546132"/>
            <a:ext cx="2469000" cy="475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6534"/>
              </a:buClr>
              <a:buSzPts val="2200"/>
              <a:buFont typeface="Georgia"/>
              <a:buNone/>
            </a:pPr>
            <a:r>
              <a:rPr lang="en-US" sz="2200" b="1" i="0" u="none" strike="noStrike" cap="none">
                <a:solidFill>
                  <a:srgbClr val="166534"/>
                </a:solidFill>
                <a:latin typeface="Georgia"/>
                <a:ea typeface="Georgia"/>
                <a:cs typeface="Georgia"/>
                <a:sym typeface="Georgia"/>
              </a:rPr>
              <a:t>5.15%</a:t>
            </a:r>
            <a:endParaRPr sz="2200" b="0" i="0" u="none" strike="noStrike" cap="none">
              <a:solidFill>
                <a:schemeClr val="dk1"/>
              </a:solidFill>
              <a:latin typeface="Calibri"/>
              <a:ea typeface="Calibri"/>
              <a:cs typeface="Calibri"/>
              <a:sym typeface="Calibri"/>
            </a:endParaRPr>
          </a:p>
        </p:txBody>
      </p:sp>
      <p:sp>
        <p:nvSpPr>
          <p:cNvPr id="511" name="Google Shape;511;p12"/>
          <p:cNvSpPr/>
          <p:nvPr/>
        </p:nvSpPr>
        <p:spPr>
          <a:xfrm>
            <a:off x="676631" y="2001617"/>
            <a:ext cx="2469000" cy="27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rgbClr val="1E293B"/>
                </a:solidFill>
                <a:latin typeface="Calibri"/>
                <a:ea typeface="Calibri"/>
                <a:cs typeface="Calibri"/>
                <a:sym typeface="Calibri"/>
              </a:rPr>
              <a:t>Median return / trade</a:t>
            </a:r>
            <a:endParaRPr sz="1050" b="0" i="0" u="none" strike="noStrike" cap="none">
              <a:solidFill>
                <a:schemeClr val="dk1"/>
              </a:solidFill>
              <a:latin typeface="Calibri"/>
              <a:ea typeface="Calibri"/>
              <a:cs typeface="Calibri"/>
              <a:sym typeface="Calibri"/>
            </a:endParaRPr>
          </a:p>
        </p:txBody>
      </p:sp>
      <p:sp>
        <p:nvSpPr>
          <p:cNvPr id="512" name="Google Shape;512;p12"/>
          <p:cNvSpPr/>
          <p:nvPr/>
        </p:nvSpPr>
        <p:spPr>
          <a:xfrm>
            <a:off x="3236963" y="1384560"/>
            <a:ext cx="26700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12"/>
          <p:cNvSpPr/>
          <p:nvPr/>
        </p:nvSpPr>
        <p:spPr>
          <a:xfrm>
            <a:off x="3236976" y="1382651"/>
            <a:ext cx="91500" cy="10515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12"/>
          <p:cNvSpPr/>
          <p:nvPr/>
        </p:nvSpPr>
        <p:spPr>
          <a:xfrm>
            <a:off x="3419831" y="1546112"/>
            <a:ext cx="2469000" cy="475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6CB0"/>
              </a:buClr>
              <a:buSzPts val="2200"/>
              <a:buFont typeface="Georgia"/>
              <a:buNone/>
            </a:pPr>
            <a:r>
              <a:rPr lang="en-US" sz="2200" b="1" i="0" u="none" strike="noStrike" cap="none">
                <a:solidFill>
                  <a:srgbClr val="2B6CB0"/>
                </a:solidFill>
                <a:latin typeface="Georgia"/>
                <a:ea typeface="Georgia"/>
                <a:cs typeface="Georgia"/>
                <a:sym typeface="Georgia"/>
              </a:rPr>
              <a:t>2.44%</a:t>
            </a:r>
            <a:endParaRPr sz="2200" b="0" i="0" u="none" strike="noStrike" cap="none">
              <a:solidFill>
                <a:schemeClr val="dk1"/>
              </a:solidFill>
              <a:latin typeface="Calibri"/>
              <a:ea typeface="Calibri"/>
              <a:cs typeface="Calibri"/>
              <a:sym typeface="Calibri"/>
            </a:endParaRPr>
          </a:p>
        </p:txBody>
      </p:sp>
      <p:sp>
        <p:nvSpPr>
          <p:cNvPr id="515" name="Google Shape;515;p12"/>
          <p:cNvSpPr/>
          <p:nvPr/>
        </p:nvSpPr>
        <p:spPr>
          <a:xfrm>
            <a:off x="3419831" y="2021625"/>
            <a:ext cx="2469000" cy="27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rgbClr val="1E293B"/>
                </a:solidFill>
                <a:latin typeface="Calibri"/>
                <a:ea typeface="Calibri"/>
                <a:cs typeface="Calibri"/>
                <a:sym typeface="Calibri"/>
              </a:rPr>
              <a:t>Mean return / trade</a:t>
            </a:r>
            <a:endParaRPr sz="1050" b="0" i="0" u="none" strike="noStrike" cap="none">
              <a:solidFill>
                <a:schemeClr val="dk1"/>
              </a:solidFill>
              <a:latin typeface="Calibri"/>
              <a:ea typeface="Calibri"/>
              <a:cs typeface="Calibri"/>
              <a:sym typeface="Calibri"/>
            </a:endParaRPr>
          </a:p>
        </p:txBody>
      </p:sp>
      <p:sp>
        <p:nvSpPr>
          <p:cNvPr id="516" name="Google Shape;516;p12"/>
          <p:cNvSpPr/>
          <p:nvPr/>
        </p:nvSpPr>
        <p:spPr>
          <a:xfrm>
            <a:off x="5980176" y="1383060"/>
            <a:ext cx="2670000" cy="1051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12"/>
          <p:cNvSpPr/>
          <p:nvPr/>
        </p:nvSpPr>
        <p:spPr>
          <a:xfrm>
            <a:off x="5980176" y="1377487"/>
            <a:ext cx="91500" cy="1051500"/>
          </a:xfrm>
          <a:prstGeom prst="rect">
            <a:avLst/>
          </a:prstGeom>
          <a:solidFill>
            <a:srgbClr val="475569"/>
          </a:solidFill>
          <a:ln w="9525" cap="flat" cmpd="sng">
            <a:solidFill>
              <a:srgbClr val="4755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12"/>
          <p:cNvSpPr/>
          <p:nvPr/>
        </p:nvSpPr>
        <p:spPr>
          <a:xfrm>
            <a:off x="6144875" y="1546111"/>
            <a:ext cx="2469000" cy="475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2200"/>
              <a:buFont typeface="Georgia"/>
              <a:buNone/>
            </a:pPr>
            <a:r>
              <a:rPr lang="en-US" sz="2200" b="1" i="0" u="none" strike="noStrike" cap="none">
                <a:solidFill>
                  <a:srgbClr val="475569"/>
                </a:solidFill>
                <a:latin typeface="Georgia"/>
                <a:ea typeface="Georgia"/>
                <a:cs typeface="Georgia"/>
                <a:sym typeface="Georgia"/>
              </a:rPr>
              <a:t>8.76%</a:t>
            </a:r>
            <a:endParaRPr sz="2200" b="0" i="0" u="none" strike="noStrike" cap="none">
              <a:solidFill>
                <a:schemeClr val="dk1"/>
              </a:solidFill>
              <a:latin typeface="Calibri"/>
              <a:ea typeface="Calibri"/>
              <a:cs typeface="Calibri"/>
              <a:sym typeface="Calibri"/>
            </a:endParaRPr>
          </a:p>
        </p:txBody>
      </p:sp>
      <p:sp>
        <p:nvSpPr>
          <p:cNvPr id="519" name="Google Shape;519;p12"/>
          <p:cNvSpPr/>
          <p:nvPr/>
        </p:nvSpPr>
        <p:spPr>
          <a:xfrm>
            <a:off x="6144868" y="2021625"/>
            <a:ext cx="2469000" cy="27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050" b="1" i="0" u="none" strike="noStrike" cap="none">
                <a:solidFill>
                  <a:srgbClr val="1E293B"/>
                </a:solidFill>
                <a:latin typeface="Calibri"/>
                <a:ea typeface="Calibri"/>
                <a:cs typeface="Calibri"/>
                <a:sym typeface="Calibri"/>
              </a:rPr>
              <a:t>Std deviation / trade</a:t>
            </a:r>
            <a:endParaRPr sz="1050" b="0" i="0" u="none" strike="noStrike" cap="none">
              <a:solidFill>
                <a:schemeClr val="dk1"/>
              </a:solidFill>
              <a:latin typeface="Calibri"/>
              <a:ea typeface="Calibri"/>
              <a:cs typeface="Calibri"/>
              <a:sym typeface="Calibri"/>
            </a:endParaRPr>
          </a:p>
        </p:txBody>
      </p:sp>
      <p:sp>
        <p:nvSpPr>
          <p:cNvPr id="520" name="Google Shape;520;p12"/>
          <p:cNvSpPr/>
          <p:nvPr/>
        </p:nvSpPr>
        <p:spPr>
          <a:xfrm>
            <a:off x="4718250" y="2611343"/>
            <a:ext cx="3931800" cy="2377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12"/>
          <p:cNvSpPr/>
          <p:nvPr/>
        </p:nvSpPr>
        <p:spPr>
          <a:xfrm>
            <a:off x="4901130" y="2684495"/>
            <a:ext cx="35661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50"/>
              <a:buFont typeface="Calibri"/>
              <a:buNone/>
            </a:pPr>
            <a:r>
              <a:rPr lang="en-US" sz="1250" b="1" i="0" u="none" strike="noStrike" cap="none">
                <a:solidFill>
                  <a:srgbClr val="1E293B"/>
                </a:solidFill>
                <a:latin typeface="Calibri"/>
                <a:ea typeface="Calibri"/>
                <a:cs typeface="Calibri"/>
                <a:sym typeface="Calibri"/>
              </a:rPr>
              <a:t>Sharpe Ratio Calculation</a:t>
            </a:r>
            <a:endParaRPr sz="1250" b="0" i="0" u="none" strike="noStrike" cap="none">
              <a:solidFill>
                <a:schemeClr val="dk1"/>
              </a:solidFill>
              <a:latin typeface="Calibri"/>
              <a:ea typeface="Calibri"/>
              <a:cs typeface="Calibri"/>
              <a:sym typeface="Calibri"/>
            </a:endParaRPr>
          </a:p>
        </p:txBody>
      </p:sp>
      <p:sp>
        <p:nvSpPr>
          <p:cNvPr id="522" name="Google Shape;522;p12"/>
          <p:cNvSpPr/>
          <p:nvPr/>
        </p:nvSpPr>
        <p:spPr>
          <a:xfrm>
            <a:off x="4901130" y="3050255"/>
            <a:ext cx="3657600" cy="1170300"/>
          </a:xfrm>
          <a:prstGeom prst="rect">
            <a:avLst/>
          </a:prstGeom>
          <a:noFill/>
          <a:ln>
            <a:noFill/>
          </a:ln>
        </p:spPr>
        <p:txBody>
          <a:bodyPr spcFirstLastPara="1" wrap="square" lIns="25400" tIns="50800" rIns="0" bIns="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Hold period: Day 74 → 202 = 128 trading days</a:t>
            </a:r>
            <a:endParaRPr sz="10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Rf per trade: 5.25% × (128÷252) = 2.67%</a:t>
            </a:r>
            <a:endParaRPr sz="10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Excess return (median): 5.15% − 2.67% = 2.49%</a:t>
            </a:r>
            <a:endParaRPr sz="10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Annualization: × √(252÷128) = × 1.403</a:t>
            </a:r>
            <a:endParaRPr sz="1050" b="0" i="0" u="none" strike="noStrike" cap="none">
              <a:solidFill>
                <a:schemeClr val="dk1"/>
              </a:solidFill>
              <a:latin typeface="Calibri"/>
              <a:ea typeface="Calibri"/>
              <a:cs typeface="Calibri"/>
              <a:sym typeface="Calibri"/>
            </a:endParaRPr>
          </a:p>
        </p:txBody>
      </p:sp>
      <p:grpSp>
        <p:nvGrpSpPr>
          <p:cNvPr id="523" name="Google Shape;523;p12"/>
          <p:cNvGrpSpPr/>
          <p:nvPr/>
        </p:nvGrpSpPr>
        <p:grpSpPr>
          <a:xfrm>
            <a:off x="4887384" y="4095678"/>
            <a:ext cx="3593532" cy="658500"/>
            <a:chOff x="4869221" y="3908580"/>
            <a:chExt cx="3593532" cy="658500"/>
          </a:xfrm>
        </p:grpSpPr>
        <p:sp>
          <p:nvSpPr>
            <p:cNvPr id="524" name="Google Shape;524;p12"/>
            <p:cNvSpPr/>
            <p:nvPr/>
          </p:nvSpPr>
          <p:spPr>
            <a:xfrm>
              <a:off x="4869221" y="3908580"/>
              <a:ext cx="1737300" cy="6585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12"/>
            <p:cNvSpPr/>
            <p:nvPr/>
          </p:nvSpPr>
          <p:spPr>
            <a:xfrm>
              <a:off x="4869221" y="3972588"/>
              <a:ext cx="1737300" cy="3687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166534"/>
                </a:buClr>
                <a:buSzPts val="2800"/>
                <a:buFont typeface="Georgia"/>
                <a:buNone/>
              </a:pPr>
              <a:r>
                <a:rPr lang="en-US" sz="2800" b="1" i="0" u="none" strike="noStrike" cap="none">
                  <a:solidFill>
                    <a:srgbClr val="166534"/>
                  </a:solidFill>
                  <a:latin typeface="Georgia"/>
                  <a:ea typeface="Georgia"/>
                  <a:cs typeface="Georgia"/>
                  <a:sym typeface="Georgia"/>
                </a:rPr>
                <a:t>0.40</a:t>
              </a:r>
              <a:endParaRPr sz="2800" b="0" i="0" u="none" strike="noStrike" cap="none">
                <a:solidFill>
                  <a:schemeClr val="dk1"/>
                </a:solidFill>
                <a:latin typeface="Calibri"/>
                <a:ea typeface="Calibri"/>
                <a:cs typeface="Calibri"/>
                <a:sym typeface="Calibri"/>
              </a:endParaRPr>
            </a:p>
          </p:txBody>
        </p:sp>
        <p:sp>
          <p:nvSpPr>
            <p:cNvPr id="526" name="Google Shape;526;p12"/>
            <p:cNvSpPr/>
            <p:nvPr/>
          </p:nvSpPr>
          <p:spPr>
            <a:xfrm>
              <a:off x="4869221" y="4303601"/>
              <a:ext cx="1737300" cy="237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Sharpe (median)</a:t>
              </a:r>
              <a:endParaRPr sz="1000" b="0" i="0" u="none" strike="noStrike" cap="none">
                <a:solidFill>
                  <a:schemeClr val="dk1"/>
                </a:solidFill>
                <a:latin typeface="Calibri"/>
                <a:ea typeface="Calibri"/>
                <a:cs typeface="Calibri"/>
                <a:sym typeface="Calibri"/>
              </a:endParaRPr>
            </a:p>
          </p:txBody>
        </p:sp>
        <p:sp>
          <p:nvSpPr>
            <p:cNvPr id="527" name="Google Shape;527;p12"/>
            <p:cNvSpPr/>
            <p:nvPr/>
          </p:nvSpPr>
          <p:spPr>
            <a:xfrm>
              <a:off x="6725453" y="3908580"/>
              <a:ext cx="1737300" cy="6585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12"/>
            <p:cNvSpPr/>
            <p:nvPr/>
          </p:nvSpPr>
          <p:spPr>
            <a:xfrm>
              <a:off x="6725453" y="3972588"/>
              <a:ext cx="1737300" cy="3687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2B6CB0"/>
                </a:buClr>
                <a:buSzPts val="2800"/>
                <a:buFont typeface="Georgia"/>
                <a:buNone/>
              </a:pPr>
              <a:r>
                <a:rPr lang="en-US" sz="2800" b="1" i="0" u="none" strike="noStrike" cap="none">
                  <a:solidFill>
                    <a:srgbClr val="2B6CB0"/>
                  </a:solidFill>
                  <a:latin typeface="Georgia"/>
                  <a:ea typeface="Georgia"/>
                  <a:cs typeface="Georgia"/>
                  <a:sym typeface="Georgia"/>
                </a:rPr>
                <a:t>0.75</a:t>
              </a:r>
              <a:endParaRPr sz="2800" b="0" i="0" u="none" strike="noStrike" cap="none">
                <a:solidFill>
                  <a:schemeClr val="dk1"/>
                </a:solidFill>
                <a:latin typeface="Calibri"/>
                <a:ea typeface="Calibri"/>
                <a:cs typeface="Calibri"/>
                <a:sym typeface="Calibri"/>
              </a:endParaRPr>
            </a:p>
          </p:txBody>
        </p:sp>
        <p:sp>
          <p:nvSpPr>
            <p:cNvPr id="529" name="Google Shape;529;p12"/>
            <p:cNvSpPr/>
            <p:nvPr/>
          </p:nvSpPr>
          <p:spPr>
            <a:xfrm>
              <a:off x="6725453" y="4303601"/>
              <a:ext cx="1737300" cy="237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Sharpe (mean)</a:t>
              </a:r>
              <a:endParaRPr sz="1000" b="0" i="0" u="none" strike="noStrike" cap="none">
                <a:solidFill>
                  <a:schemeClr val="dk1"/>
                </a:solidFill>
                <a:latin typeface="Calibri"/>
                <a:ea typeface="Calibri"/>
                <a:cs typeface="Calibri"/>
                <a:sym typeface="Calibri"/>
              </a:endParaRPr>
            </a:p>
          </p:txBody>
        </p:sp>
      </p:grpSp>
      <p:sp>
        <p:nvSpPr>
          <p:cNvPr id="530" name="Google Shape;530;p12"/>
          <p:cNvSpPr/>
          <p:nvPr/>
        </p:nvSpPr>
        <p:spPr>
          <a:xfrm>
            <a:off x="499697" y="2618393"/>
            <a:ext cx="3931800" cy="23775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12"/>
          <p:cNvSpPr/>
          <p:nvPr/>
        </p:nvSpPr>
        <p:spPr>
          <a:xfrm>
            <a:off x="686800" y="2752108"/>
            <a:ext cx="1737300" cy="2098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12"/>
          <p:cNvSpPr/>
          <p:nvPr/>
        </p:nvSpPr>
        <p:spPr>
          <a:xfrm>
            <a:off x="2507100" y="2763983"/>
            <a:ext cx="1737300" cy="2098200"/>
          </a:xfrm>
          <a:prstGeom prst="rect">
            <a:avLst/>
          </a:prstGeom>
          <a:solidFill>
            <a:srgbClr val="FFFFFF"/>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12"/>
          <p:cNvSpPr/>
          <p:nvPr/>
        </p:nvSpPr>
        <p:spPr>
          <a:xfrm>
            <a:off x="783350" y="2752098"/>
            <a:ext cx="1513800" cy="2098200"/>
          </a:xfrm>
          <a:prstGeom prst="rect">
            <a:avLst/>
          </a:prstGeom>
          <a:noFill/>
          <a:ln>
            <a:noFill/>
          </a:ln>
        </p:spPr>
        <p:txBody>
          <a:bodyPr spcFirstLastPara="1" wrap="square" lIns="25400" tIns="50800" rIns="0" bIns="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sng" strike="noStrike" cap="none">
                <a:solidFill>
                  <a:srgbClr val="1E293B"/>
                </a:solidFill>
                <a:latin typeface="Calibri"/>
                <a:ea typeface="Calibri"/>
                <a:cs typeface="Calibri"/>
                <a:sym typeface="Calibri"/>
              </a:rPr>
              <a:t>ENTER</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rgbClr val="1E293B"/>
                </a:solidFill>
                <a:latin typeface="Calibri"/>
                <a:ea typeface="Calibri"/>
                <a:cs typeface="Calibri"/>
                <a:sym typeface="Calibri"/>
              </a:rPr>
              <a:t>Day 74 post-spike only if EMB has fallen by more than 5% and prices are still not accelerating down</a:t>
            </a:r>
            <a:endParaRPr sz="1050" b="0" i="0" u="none" strike="noStrike" cap="none">
              <a:solidFill>
                <a:schemeClr val="dk1"/>
              </a:solidFill>
              <a:latin typeface="Calibri"/>
              <a:ea typeface="Calibri"/>
              <a:cs typeface="Calibri"/>
              <a:sym typeface="Calibri"/>
            </a:endParaRPr>
          </a:p>
        </p:txBody>
      </p:sp>
      <p:sp>
        <p:nvSpPr>
          <p:cNvPr id="534" name="Google Shape;534;p12"/>
          <p:cNvSpPr/>
          <p:nvPr/>
        </p:nvSpPr>
        <p:spPr>
          <a:xfrm>
            <a:off x="2651750" y="2798348"/>
            <a:ext cx="1465500" cy="2063700"/>
          </a:xfrm>
          <a:prstGeom prst="rect">
            <a:avLst/>
          </a:prstGeom>
          <a:noFill/>
          <a:ln>
            <a:noFill/>
          </a:ln>
        </p:spPr>
        <p:txBody>
          <a:bodyPr spcFirstLastPara="1" wrap="square" lIns="25400" tIns="50800" rIns="0" bIns="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sng" strike="noStrike" cap="none">
                <a:solidFill>
                  <a:srgbClr val="1E293B"/>
                </a:solidFill>
                <a:latin typeface="Calibri"/>
                <a:ea typeface="Calibri"/>
                <a:cs typeface="Calibri"/>
                <a:sym typeface="Calibri"/>
              </a:rPr>
              <a:t>EXIT</a:t>
            </a:r>
            <a:endParaRPr sz="1500" b="1" i="0" u="sng" strike="noStrike" cap="none">
              <a:solidFill>
                <a:srgbClr val="1E293B"/>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rgbClr val="1E293B"/>
                </a:solidFill>
                <a:latin typeface="Calibri"/>
                <a:ea typeface="Calibri"/>
                <a:cs typeface="Calibri"/>
                <a:sym typeface="Calibri"/>
              </a:rPr>
              <a:t>Day 202 post-spike, holding for 128 days since that’s the median recovery time for early troughs </a:t>
            </a:r>
            <a:endParaRPr sz="1050" b="0" i="0" u="none" strike="noStrike" cap="none">
              <a:solidFill>
                <a:schemeClr val="dk1"/>
              </a:solidFill>
              <a:latin typeface="Calibri"/>
              <a:ea typeface="Calibri"/>
              <a:cs typeface="Calibri"/>
              <a:sym typeface="Calibri"/>
            </a:endParaRPr>
          </a:p>
        </p:txBody>
      </p:sp>
      <p:sp>
        <p:nvSpPr>
          <p:cNvPr id="535" name="Google Shape;535;p12"/>
          <p:cNvSpPr/>
          <p:nvPr/>
        </p:nvSpPr>
        <p:spPr>
          <a:xfrm>
            <a:off x="457200" y="502925"/>
            <a:ext cx="80100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2900"/>
              <a:buFont typeface="Georgia"/>
              <a:buNone/>
            </a:pPr>
            <a:r>
              <a:rPr lang="en-US" sz="2900" b="1" i="0" u="none" strike="noStrike" cap="none">
                <a:solidFill>
                  <a:srgbClr val="0C1A35"/>
                </a:solidFill>
                <a:latin typeface="Georgia"/>
                <a:ea typeface="Georgia"/>
                <a:cs typeface="Georgia"/>
                <a:sym typeface="Georgia"/>
              </a:rPr>
              <a:t>Trading Rule and Final Performance</a:t>
            </a:r>
            <a:endParaRPr sz="2900" b="0" i="0" u="none" strike="noStrike" cap="none">
              <a:solidFill>
                <a:schemeClr val="dk1"/>
              </a:solidFill>
              <a:latin typeface="Calibri"/>
              <a:ea typeface="Calibri"/>
              <a:cs typeface="Calibri"/>
              <a:sym typeface="Calibri"/>
            </a:endParaRPr>
          </a:p>
        </p:txBody>
      </p:sp>
      <p:sp>
        <p:nvSpPr>
          <p:cNvPr id="536" name="Google Shape;536;p12"/>
          <p:cNvSpPr/>
          <p:nvPr/>
        </p:nvSpPr>
        <p:spPr>
          <a:xfrm>
            <a:off x="457200" y="1207008"/>
            <a:ext cx="8229600" cy="27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1"/>
        <p:cNvGrpSpPr/>
        <p:nvPr/>
      </p:nvGrpSpPr>
      <p:grpSpPr>
        <a:xfrm>
          <a:off x="0" y="0"/>
          <a:ext cx="0" cy="0"/>
          <a:chOff x="0" y="0"/>
          <a:chExt cx="0" cy="0"/>
        </a:xfrm>
      </p:grpSpPr>
      <p:sp>
        <p:nvSpPr>
          <p:cNvPr id="542" name="Google Shape;542;p13"/>
          <p:cNvSpPr/>
          <p:nvPr/>
        </p:nvSpPr>
        <p:spPr>
          <a:xfrm>
            <a:off x="402350" y="4461800"/>
            <a:ext cx="8412600" cy="515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13"/>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13"/>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3 — RETURN DISTRIBUTION</a:t>
            </a:r>
            <a:endParaRPr sz="1050" b="0" i="0" u="none" strike="noStrike" cap="none">
              <a:solidFill>
                <a:schemeClr val="dk1"/>
              </a:solidFill>
              <a:latin typeface="Calibri"/>
              <a:ea typeface="Calibri"/>
              <a:cs typeface="Calibri"/>
              <a:sym typeface="Calibri"/>
            </a:endParaRPr>
          </a:p>
        </p:txBody>
      </p:sp>
      <p:sp>
        <p:nvSpPr>
          <p:cNvPr id="545" name="Google Shape;545;p13"/>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2900"/>
              <a:buFont typeface="Georgia"/>
              <a:buNone/>
            </a:pPr>
            <a:r>
              <a:rPr lang="en-US" sz="2900" b="1" i="0" u="none" strike="noStrike" cap="none">
                <a:solidFill>
                  <a:srgbClr val="0C1A35"/>
                </a:solidFill>
                <a:latin typeface="Georgia"/>
                <a:ea typeface="Georgia"/>
                <a:cs typeface="Georgia"/>
                <a:sym typeface="Georgia"/>
              </a:rPr>
              <a:t>What Does the Return Profile Look Like?</a:t>
            </a:r>
            <a:endParaRPr sz="2900" b="0" i="0" u="none" strike="noStrike" cap="none">
              <a:solidFill>
                <a:schemeClr val="dk1"/>
              </a:solidFill>
              <a:latin typeface="Calibri"/>
              <a:ea typeface="Calibri"/>
              <a:cs typeface="Calibri"/>
              <a:sym typeface="Calibri"/>
            </a:endParaRPr>
          </a:p>
        </p:txBody>
      </p:sp>
      <p:sp>
        <p:nvSpPr>
          <p:cNvPr id="546" name="Google Shape;546;p13"/>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47" name="Google Shape;547;p13"/>
          <p:cNvGrpSpPr/>
          <p:nvPr/>
        </p:nvGrpSpPr>
        <p:grpSpPr>
          <a:xfrm>
            <a:off x="4805000" y="2516342"/>
            <a:ext cx="3474600" cy="786300"/>
            <a:chOff x="4805000" y="2418848"/>
            <a:chExt cx="3474600" cy="786300"/>
          </a:xfrm>
        </p:grpSpPr>
        <p:sp>
          <p:nvSpPr>
            <p:cNvPr id="548" name="Google Shape;548;p13"/>
            <p:cNvSpPr/>
            <p:nvPr/>
          </p:nvSpPr>
          <p:spPr>
            <a:xfrm>
              <a:off x="4805000" y="2418848"/>
              <a:ext cx="3474600" cy="78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13"/>
            <p:cNvSpPr/>
            <p:nvPr/>
          </p:nvSpPr>
          <p:spPr>
            <a:xfrm>
              <a:off x="4805000" y="2418848"/>
              <a:ext cx="91500" cy="7863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13"/>
            <p:cNvSpPr/>
            <p:nvPr/>
          </p:nvSpPr>
          <p:spPr>
            <a:xfrm>
              <a:off x="4987880" y="2455424"/>
              <a:ext cx="1280100" cy="7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6CB0"/>
                </a:buClr>
                <a:buSzPts val="2200"/>
                <a:buFont typeface="Georgia"/>
                <a:buNone/>
              </a:pPr>
              <a:r>
                <a:rPr lang="en-US" sz="2200" b="1" i="0" u="none" strike="noStrike" cap="none">
                  <a:solidFill>
                    <a:srgbClr val="2B6CB0"/>
                  </a:solidFill>
                  <a:latin typeface="Georgia"/>
                  <a:ea typeface="Georgia"/>
                  <a:cs typeface="Georgia"/>
                  <a:sym typeface="Georgia"/>
                </a:rPr>
                <a:t>Left</a:t>
              </a:r>
              <a:endParaRPr sz="2200" b="0" i="0" u="none" strike="noStrike" cap="none">
                <a:solidFill>
                  <a:schemeClr val="dk1"/>
                </a:solidFill>
                <a:latin typeface="Calibri"/>
                <a:ea typeface="Calibri"/>
                <a:cs typeface="Calibri"/>
                <a:sym typeface="Calibri"/>
              </a:endParaRPr>
            </a:p>
          </p:txBody>
        </p:sp>
        <p:sp>
          <p:nvSpPr>
            <p:cNvPr id="551" name="Google Shape;551;p13"/>
            <p:cNvSpPr/>
            <p:nvPr/>
          </p:nvSpPr>
          <p:spPr>
            <a:xfrm>
              <a:off x="6332048" y="2455424"/>
              <a:ext cx="1828800" cy="3291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1E293B"/>
                </a:buClr>
                <a:buSzPts val="1150"/>
                <a:buFont typeface="Calibri"/>
                <a:buNone/>
              </a:pPr>
              <a:r>
                <a:rPr lang="en-US" sz="1150" b="1" i="0" u="none" strike="noStrike" cap="none">
                  <a:solidFill>
                    <a:srgbClr val="1E293B"/>
                  </a:solidFill>
                  <a:latin typeface="Calibri"/>
                  <a:ea typeface="Calibri"/>
                  <a:cs typeface="Calibri"/>
                  <a:sym typeface="Calibri"/>
                </a:rPr>
                <a:t>Skew</a:t>
              </a:r>
              <a:endParaRPr sz="1150" b="0" i="0" u="none" strike="noStrike" cap="none">
                <a:solidFill>
                  <a:schemeClr val="dk1"/>
                </a:solidFill>
                <a:latin typeface="Calibri"/>
                <a:ea typeface="Calibri"/>
                <a:cs typeface="Calibri"/>
                <a:sym typeface="Calibri"/>
              </a:endParaRPr>
            </a:p>
          </p:txBody>
        </p:sp>
        <p:sp>
          <p:nvSpPr>
            <p:cNvPr id="552" name="Google Shape;552;p13"/>
            <p:cNvSpPr/>
            <p:nvPr/>
          </p:nvSpPr>
          <p:spPr>
            <a:xfrm>
              <a:off x="6332048" y="2802896"/>
              <a:ext cx="18288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Mean &lt; Median → Fat left tail</a:t>
              </a:r>
              <a:endParaRPr sz="1000" b="0" i="0" u="none" strike="noStrike" cap="none">
                <a:solidFill>
                  <a:srgbClr val="475569"/>
                </a:solidFill>
                <a:latin typeface="Calibri"/>
                <a:ea typeface="Calibri"/>
                <a:cs typeface="Calibri"/>
                <a:sym typeface="Calibri"/>
              </a:endParaRPr>
            </a:p>
            <a:p>
              <a:pPr marL="0" marR="0" lvl="0" indent="0" algn="l" rtl="0">
                <a:lnSpc>
                  <a:spcPct val="100000"/>
                </a:lnSpc>
                <a:spcBef>
                  <a:spcPts val="0"/>
                </a:spcBef>
                <a:spcAft>
                  <a:spcPts val="0"/>
                </a:spcAft>
                <a:buClr>
                  <a:srgbClr val="475569"/>
                </a:buClr>
                <a:buSzPts val="1000"/>
                <a:buFont typeface="Calibri"/>
                <a:buNone/>
              </a:pPr>
              <a:endParaRPr sz="1000" b="0" i="0" u="none" strike="noStrike" cap="none">
                <a:solidFill>
                  <a:srgbClr val="475569"/>
                </a:solidFill>
                <a:latin typeface="Calibri"/>
                <a:ea typeface="Calibri"/>
                <a:cs typeface="Calibri"/>
                <a:sym typeface="Calibri"/>
              </a:endParaRPr>
            </a:p>
          </p:txBody>
        </p:sp>
      </p:grpSp>
      <p:grpSp>
        <p:nvGrpSpPr>
          <p:cNvPr id="553" name="Google Shape;553;p13"/>
          <p:cNvGrpSpPr/>
          <p:nvPr/>
        </p:nvGrpSpPr>
        <p:grpSpPr>
          <a:xfrm>
            <a:off x="4805000" y="3519085"/>
            <a:ext cx="3474600" cy="786300"/>
            <a:chOff x="4805000" y="3519085"/>
            <a:chExt cx="3474600" cy="786300"/>
          </a:xfrm>
        </p:grpSpPr>
        <p:sp>
          <p:nvSpPr>
            <p:cNvPr id="554" name="Google Shape;554;p13"/>
            <p:cNvSpPr/>
            <p:nvPr/>
          </p:nvSpPr>
          <p:spPr>
            <a:xfrm>
              <a:off x="4805000" y="3519085"/>
              <a:ext cx="3474600" cy="78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13"/>
            <p:cNvSpPr/>
            <p:nvPr/>
          </p:nvSpPr>
          <p:spPr>
            <a:xfrm>
              <a:off x="4805000" y="3519085"/>
              <a:ext cx="91500" cy="7863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13"/>
            <p:cNvSpPr/>
            <p:nvPr/>
          </p:nvSpPr>
          <p:spPr>
            <a:xfrm>
              <a:off x="4987880" y="3555661"/>
              <a:ext cx="1280100" cy="7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766E"/>
                </a:buClr>
                <a:buSzPts val="2200"/>
                <a:buFont typeface="Georgia"/>
                <a:buNone/>
              </a:pPr>
              <a:r>
                <a:rPr lang="en-US" sz="2200" b="1" i="0" u="none" strike="noStrike" cap="none">
                  <a:solidFill>
                    <a:srgbClr val="0F766E"/>
                  </a:solidFill>
                  <a:latin typeface="Georgia"/>
                  <a:ea typeface="Georgia"/>
                  <a:cs typeface="Georgia"/>
                  <a:sym typeface="Georgia"/>
                </a:rPr>
                <a:t>Loss </a:t>
              </a:r>
              <a:endParaRPr sz="2200" b="0" i="0" u="none" strike="noStrike" cap="none">
                <a:solidFill>
                  <a:schemeClr val="dk1"/>
                </a:solidFill>
                <a:latin typeface="Calibri"/>
                <a:ea typeface="Calibri"/>
                <a:cs typeface="Calibri"/>
                <a:sym typeface="Calibri"/>
              </a:endParaRPr>
            </a:p>
          </p:txBody>
        </p:sp>
        <p:sp>
          <p:nvSpPr>
            <p:cNvPr id="557" name="Google Shape;557;p13"/>
            <p:cNvSpPr/>
            <p:nvPr/>
          </p:nvSpPr>
          <p:spPr>
            <a:xfrm>
              <a:off x="6332048" y="3555661"/>
              <a:ext cx="1828800" cy="3291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1E293B"/>
                </a:buClr>
                <a:buSzPts val="1150"/>
                <a:buFont typeface="Calibri"/>
                <a:buNone/>
              </a:pPr>
              <a:r>
                <a:rPr lang="en-US" sz="1150" b="1" i="0" u="none" strike="noStrike" cap="none">
                  <a:solidFill>
                    <a:srgbClr val="1E293B"/>
                  </a:solidFill>
                  <a:latin typeface="Calibri"/>
                  <a:ea typeface="Calibri"/>
                  <a:cs typeface="Calibri"/>
                  <a:sym typeface="Calibri"/>
                </a:rPr>
                <a:t>Rate</a:t>
              </a:r>
              <a:endParaRPr sz="1150" b="0" i="0" u="none" strike="noStrike" cap="none">
                <a:solidFill>
                  <a:schemeClr val="dk1"/>
                </a:solidFill>
                <a:latin typeface="Calibri"/>
                <a:ea typeface="Calibri"/>
                <a:cs typeface="Calibri"/>
                <a:sym typeface="Calibri"/>
              </a:endParaRPr>
            </a:p>
          </p:txBody>
        </p:sp>
        <p:sp>
          <p:nvSpPr>
            <p:cNvPr id="558" name="Google Shape;558;p13"/>
            <p:cNvSpPr/>
            <p:nvPr/>
          </p:nvSpPr>
          <p:spPr>
            <a:xfrm>
              <a:off x="6332048" y="3903133"/>
              <a:ext cx="18288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24% of trades lose money</a:t>
              </a:r>
              <a:endParaRPr sz="1000" b="0" i="0" u="none" strike="noStrike" cap="none">
                <a:solidFill>
                  <a:schemeClr val="dk1"/>
                </a:solidFill>
                <a:latin typeface="Calibri"/>
                <a:ea typeface="Calibri"/>
                <a:cs typeface="Calibri"/>
                <a:sym typeface="Calibri"/>
              </a:endParaRPr>
            </a:p>
          </p:txBody>
        </p:sp>
      </p:grpSp>
      <p:sp>
        <p:nvSpPr>
          <p:cNvPr id="559" name="Google Shape;559;p13"/>
          <p:cNvSpPr/>
          <p:nvPr/>
        </p:nvSpPr>
        <p:spPr>
          <a:xfrm>
            <a:off x="628650" y="4481708"/>
            <a:ext cx="7886700" cy="477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1000"/>
              <a:buFont typeface="Calibri"/>
              <a:buNone/>
            </a:pPr>
            <a:r>
              <a:rPr lang="en-US" sz="1000" b="0" i="1" u="none" strike="noStrike" cap="none">
                <a:solidFill>
                  <a:srgbClr val="475569"/>
                </a:solidFill>
                <a:latin typeface="Calibri"/>
                <a:ea typeface="Calibri"/>
                <a:cs typeface="Calibri"/>
                <a:sym typeface="Calibri"/>
              </a:rPr>
              <a:t>The left skew represents a danger even though most returns are clustered around a healthy 5%-10%. In rare events where we time the bottom incorrectly or assume we’re trading on news instead of realy structural issues, we can lose upwards of 10-15%. This shows that more components need to be made in our model to account for this.</a:t>
            </a:r>
            <a:endParaRPr sz="1000" b="0" i="0" u="none" strike="noStrike" cap="none">
              <a:solidFill>
                <a:schemeClr val="dk1"/>
              </a:solidFill>
              <a:latin typeface="Calibri"/>
              <a:ea typeface="Calibri"/>
              <a:cs typeface="Calibri"/>
              <a:sym typeface="Calibri"/>
            </a:endParaRPr>
          </a:p>
        </p:txBody>
      </p:sp>
      <p:pic>
        <p:nvPicPr>
          <p:cNvPr id="560" name="Google Shape;560;p13" descr="preencoded.png"/>
          <p:cNvPicPr preferRelativeResize="0"/>
          <p:nvPr/>
        </p:nvPicPr>
        <p:blipFill rotWithShape="1">
          <a:blip r:embed="rId3">
            <a:alphaModFix/>
          </a:blip>
          <a:srcRect/>
          <a:stretch/>
        </p:blipFill>
        <p:spPr>
          <a:xfrm>
            <a:off x="913786" y="1323250"/>
            <a:ext cx="3429050" cy="2788925"/>
          </a:xfrm>
          <a:prstGeom prst="rect">
            <a:avLst/>
          </a:prstGeom>
          <a:noFill/>
          <a:ln>
            <a:noFill/>
          </a:ln>
        </p:spPr>
      </p:pic>
      <p:sp>
        <p:nvSpPr>
          <p:cNvPr id="561" name="Google Shape;561;p13"/>
          <p:cNvSpPr/>
          <p:nvPr/>
        </p:nvSpPr>
        <p:spPr>
          <a:xfrm>
            <a:off x="502361" y="4121214"/>
            <a:ext cx="42519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75569"/>
              </a:buClr>
              <a:buSzPts val="950"/>
              <a:buFont typeface="Calibri"/>
              <a:buNone/>
            </a:pPr>
            <a:r>
              <a:rPr lang="en-US" sz="950" b="0" i="1" u="none" strike="noStrike" cap="none">
                <a:solidFill>
                  <a:srgbClr val="475569"/>
                </a:solidFill>
                <a:latin typeface="Calibri"/>
                <a:ea typeface="Calibri"/>
                <a:cs typeface="Calibri"/>
                <a:sym typeface="Calibri"/>
              </a:rPr>
              <a:t>Return distribution with KDE (filtered strategy, price returns only)</a:t>
            </a:r>
            <a:endParaRPr sz="950" b="0" i="0" u="none" strike="noStrike" cap="none">
              <a:solidFill>
                <a:schemeClr val="dk1"/>
              </a:solidFill>
              <a:latin typeface="Calibri"/>
              <a:ea typeface="Calibri"/>
              <a:cs typeface="Calibri"/>
              <a:sym typeface="Calibri"/>
            </a:endParaRPr>
          </a:p>
        </p:txBody>
      </p:sp>
      <p:sp>
        <p:nvSpPr>
          <p:cNvPr id="562" name="Google Shape;562;p13"/>
          <p:cNvSpPr/>
          <p:nvPr/>
        </p:nvSpPr>
        <p:spPr>
          <a:xfrm>
            <a:off x="4805009" y="1509036"/>
            <a:ext cx="3474600" cy="786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3" name="Google Shape;563;p13"/>
          <p:cNvSpPr/>
          <p:nvPr/>
        </p:nvSpPr>
        <p:spPr>
          <a:xfrm>
            <a:off x="4803825" y="1513599"/>
            <a:ext cx="91500" cy="786300"/>
          </a:xfrm>
          <a:prstGeom prst="rect">
            <a:avLst/>
          </a:prstGeom>
          <a:solidFill>
            <a:srgbClr val="166534"/>
          </a:solidFill>
          <a:ln w="9525" cap="flat" cmpd="sng">
            <a:solidFill>
              <a:srgbClr val="16653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p13"/>
          <p:cNvSpPr/>
          <p:nvPr/>
        </p:nvSpPr>
        <p:spPr>
          <a:xfrm>
            <a:off x="4986725" y="1563962"/>
            <a:ext cx="1446600" cy="7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6CB0"/>
              </a:buClr>
              <a:buSzPts val="2200"/>
              <a:buFont typeface="Georgia"/>
              <a:buNone/>
            </a:pPr>
            <a:r>
              <a:rPr lang="en-US" sz="2200" b="1" i="0" u="none" strike="noStrike" cap="none">
                <a:solidFill>
                  <a:srgbClr val="2B6CB0"/>
                </a:solidFill>
                <a:latin typeface="Georgia"/>
                <a:ea typeface="Georgia"/>
                <a:cs typeface="Georgia"/>
                <a:sym typeface="Georgia"/>
              </a:rPr>
              <a:t>Upside</a:t>
            </a:r>
            <a:endParaRPr sz="2200" b="0" i="0" u="none" strike="noStrike" cap="none">
              <a:solidFill>
                <a:schemeClr val="dk1"/>
              </a:solidFill>
              <a:latin typeface="Calibri"/>
              <a:ea typeface="Calibri"/>
              <a:cs typeface="Calibri"/>
              <a:sym typeface="Calibri"/>
            </a:endParaRPr>
          </a:p>
        </p:txBody>
      </p:sp>
      <p:sp>
        <p:nvSpPr>
          <p:cNvPr id="565" name="Google Shape;565;p13"/>
          <p:cNvSpPr/>
          <p:nvPr/>
        </p:nvSpPr>
        <p:spPr>
          <a:xfrm>
            <a:off x="6339785" y="1503095"/>
            <a:ext cx="1828800" cy="3291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1E293B"/>
              </a:buClr>
              <a:buSzPts val="1150"/>
              <a:buFont typeface="Calibri"/>
              <a:buNone/>
            </a:pPr>
            <a:r>
              <a:rPr lang="en-US" sz="1150" b="1" i="0" u="none" strike="noStrike" cap="none">
                <a:solidFill>
                  <a:srgbClr val="1E293B"/>
                </a:solidFill>
                <a:latin typeface="Calibri"/>
                <a:ea typeface="Calibri"/>
                <a:cs typeface="Calibri"/>
                <a:sym typeface="Calibri"/>
              </a:rPr>
              <a:t>Clustering</a:t>
            </a:r>
            <a:endParaRPr sz="1150" b="0" i="0" u="none" strike="noStrike" cap="none">
              <a:solidFill>
                <a:schemeClr val="dk1"/>
              </a:solidFill>
              <a:latin typeface="Calibri"/>
              <a:ea typeface="Calibri"/>
              <a:cs typeface="Calibri"/>
              <a:sym typeface="Calibri"/>
            </a:endParaRPr>
          </a:p>
        </p:txBody>
      </p:sp>
      <p:sp>
        <p:nvSpPr>
          <p:cNvPr id="566" name="Google Shape;566;p13"/>
          <p:cNvSpPr/>
          <p:nvPr/>
        </p:nvSpPr>
        <p:spPr>
          <a:xfrm>
            <a:off x="6339785" y="1850555"/>
            <a:ext cx="18288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A massive % of positive gains are concentrated around each other</a:t>
            </a:r>
            <a:endParaRPr sz="1000" b="0" i="0" u="none" strike="noStrike" cap="none">
              <a:solidFill>
                <a:srgbClr val="475569"/>
              </a:solidFill>
              <a:latin typeface="Calibri"/>
              <a:ea typeface="Calibri"/>
              <a:cs typeface="Calibri"/>
              <a:sym typeface="Calibri"/>
            </a:endParaRPr>
          </a:p>
          <a:p>
            <a:pPr marL="0" marR="0" lvl="0" indent="0" algn="l" rtl="0">
              <a:lnSpc>
                <a:spcPct val="100000"/>
              </a:lnSpc>
              <a:spcBef>
                <a:spcPts val="0"/>
              </a:spcBef>
              <a:spcAft>
                <a:spcPts val="0"/>
              </a:spcAft>
              <a:buClr>
                <a:srgbClr val="475569"/>
              </a:buClr>
              <a:buSzPts val="1000"/>
              <a:buFont typeface="Calibri"/>
              <a:buNone/>
            </a:pPr>
            <a:endParaRPr sz="1000" b="0" i="0" u="none" strike="noStrike" cap="none">
              <a:solidFill>
                <a:srgbClr val="475569"/>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1"/>
        <p:cNvGrpSpPr/>
        <p:nvPr/>
      </p:nvGrpSpPr>
      <p:grpSpPr>
        <a:xfrm>
          <a:off x="0" y="0"/>
          <a:ext cx="0" cy="0"/>
          <a:chOff x="0" y="0"/>
          <a:chExt cx="0" cy="0"/>
        </a:xfrm>
      </p:grpSpPr>
      <p:sp>
        <p:nvSpPr>
          <p:cNvPr id="572" name="Google Shape;572;p15"/>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15"/>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COMPARISON</a:t>
            </a:r>
            <a:endParaRPr sz="1050" b="0" i="0" u="none" strike="noStrike" cap="none">
              <a:solidFill>
                <a:schemeClr val="dk1"/>
              </a:solidFill>
              <a:latin typeface="Calibri"/>
              <a:ea typeface="Calibri"/>
              <a:cs typeface="Calibri"/>
              <a:sym typeface="Calibri"/>
            </a:endParaRPr>
          </a:p>
        </p:txBody>
      </p:sp>
      <p:sp>
        <p:nvSpPr>
          <p:cNvPr id="574" name="Google Shape;574;p15"/>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3000"/>
              <a:buFont typeface="Georgia"/>
              <a:buNone/>
            </a:pPr>
            <a:r>
              <a:rPr lang="en-US" sz="3000" b="1" i="0" u="none" strike="noStrike" cap="none">
                <a:solidFill>
                  <a:srgbClr val="0C1A35"/>
                </a:solidFill>
                <a:latin typeface="Georgia"/>
                <a:ea typeface="Georgia"/>
                <a:cs typeface="Georgia"/>
                <a:sym typeface="Georgia"/>
              </a:rPr>
              <a:t>Overview of the Three Models</a:t>
            </a:r>
            <a:endParaRPr sz="3000" b="0" i="0" u="none" strike="noStrike" cap="none">
              <a:solidFill>
                <a:schemeClr val="dk1"/>
              </a:solidFill>
              <a:latin typeface="Calibri"/>
              <a:ea typeface="Calibri"/>
              <a:cs typeface="Calibri"/>
              <a:sym typeface="Calibri"/>
            </a:endParaRPr>
          </a:p>
        </p:txBody>
      </p:sp>
      <p:sp>
        <p:nvSpPr>
          <p:cNvPr id="575" name="Google Shape;575;p15"/>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15"/>
          <p:cNvSpPr/>
          <p:nvPr/>
        </p:nvSpPr>
        <p:spPr>
          <a:xfrm>
            <a:off x="1377896" y="1353300"/>
            <a:ext cx="2349900" cy="5670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15"/>
          <p:cNvSpPr/>
          <p:nvPr/>
        </p:nvSpPr>
        <p:spPr>
          <a:xfrm>
            <a:off x="1377896" y="1371589"/>
            <a:ext cx="2349900" cy="53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Model 1</a:t>
            </a:r>
            <a:endParaRPr sz="1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OLS (1-factor)</a:t>
            </a:r>
            <a:endParaRPr sz="1200" b="0" i="0" u="none" strike="noStrike" cap="none">
              <a:solidFill>
                <a:schemeClr val="dk1"/>
              </a:solidFill>
              <a:latin typeface="Calibri"/>
              <a:ea typeface="Calibri"/>
              <a:cs typeface="Calibri"/>
              <a:sym typeface="Calibri"/>
            </a:endParaRPr>
          </a:p>
        </p:txBody>
      </p:sp>
      <p:sp>
        <p:nvSpPr>
          <p:cNvPr id="578" name="Google Shape;578;p15"/>
          <p:cNvSpPr/>
          <p:nvPr/>
        </p:nvSpPr>
        <p:spPr>
          <a:xfrm>
            <a:off x="3866615" y="1353300"/>
            <a:ext cx="2349900" cy="56700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15"/>
          <p:cNvSpPr/>
          <p:nvPr/>
        </p:nvSpPr>
        <p:spPr>
          <a:xfrm>
            <a:off x="3866615" y="1371589"/>
            <a:ext cx="2349900" cy="53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Model 3</a:t>
            </a:r>
            <a:endParaRPr sz="1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Threshold</a:t>
            </a:r>
            <a:endParaRPr sz="1200" b="0" i="0" u="none" strike="noStrike" cap="none">
              <a:solidFill>
                <a:schemeClr val="dk1"/>
              </a:solidFill>
              <a:latin typeface="Calibri"/>
              <a:ea typeface="Calibri"/>
              <a:cs typeface="Calibri"/>
              <a:sym typeface="Calibri"/>
            </a:endParaRPr>
          </a:p>
        </p:txBody>
      </p:sp>
      <p:sp>
        <p:nvSpPr>
          <p:cNvPr id="580" name="Google Shape;580;p15"/>
          <p:cNvSpPr/>
          <p:nvPr/>
        </p:nvSpPr>
        <p:spPr>
          <a:xfrm>
            <a:off x="6355333" y="1353300"/>
            <a:ext cx="2349900" cy="567000"/>
          </a:xfrm>
          <a:prstGeom prst="rect">
            <a:avLst/>
          </a:prstGeom>
          <a:solidFill>
            <a:srgbClr val="0F766E"/>
          </a:solidFill>
          <a:ln w="9525" cap="flat" cmpd="sng">
            <a:solidFill>
              <a:srgbClr val="0F76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15"/>
          <p:cNvSpPr/>
          <p:nvPr/>
        </p:nvSpPr>
        <p:spPr>
          <a:xfrm>
            <a:off x="6355333" y="1371589"/>
            <a:ext cx="2349900" cy="530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Model 2</a:t>
            </a:r>
            <a:endParaRPr sz="1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OLS (3-factor)</a:t>
            </a:r>
            <a:endParaRPr sz="1200" b="0" i="0" u="none" strike="noStrike" cap="none">
              <a:solidFill>
                <a:schemeClr val="dk1"/>
              </a:solidFill>
              <a:latin typeface="Calibri"/>
              <a:ea typeface="Calibri"/>
              <a:cs typeface="Calibri"/>
              <a:sym typeface="Calibri"/>
            </a:endParaRPr>
          </a:p>
        </p:txBody>
      </p:sp>
      <p:sp>
        <p:nvSpPr>
          <p:cNvPr id="582" name="Google Shape;582;p15"/>
          <p:cNvSpPr/>
          <p:nvPr/>
        </p:nvSpPr>
        <p:spPr>
          <a:xfrm>
            <a:off x="430450" y="2029975"/>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15"/>
          <p:cNvSpPr/>
          <p:nvPr/>
        </p:nvSpPr>
        <p:spPr>
          <a:xfrm>
            <a:off x="447286" y="202997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Approach</a:t>
            </a:r>
            <a:endParaRPr sz="1050" b="0" i="0" u="none" strike="noStrike" cap="none">
              <a:solidFill>
                <a:schemeClr val="dk1"/>
              </a:solidFill>
              <a:latin typeface="Calibri"/>
              <a:ea typeface="Calibri"/>
              <a:cs typeface="Calibri"/>
              <a:sym typeface="Calibri"/>
            </a:endParaRPr>
          </a:p>
        </p:txBody>
      </p:sp>
      <p:sp>
        <p:nvSpPr>
          <p:cNvPr id="584" name="Google Shape;584;p15"/>
          <p:cNvSpPr/>
          <p:nvPr/>
        </p:nvSpPr>
        <p:spPr>
          <a:xfrm>
            <a:off x="1377897" y="2029975"/>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15"/>
          <p:cNvSpPr/>
          <p:nvPr/>
        </p:nvSpPr>
        <p:spPr>
          <a:xfrm>
            <a:off x="1426855" y="20299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Regression</a:t>
            </a:r>
            <a:endParaRPr sz="1050" b="0" i="0" u="none" strike="noStrike" cap="none">
              <a:solidFill>
                <a:schemeClr val="dk1"/>
              </a:solidFill>
              <a:latin typeface="Calibri"/>
              <a:ea typeface="Calibri"/>
              <a:cs typeface="Calibri"/>
              <a:sym typeface="Calibri"/>
            </a:endParaRPr>
          </a:p>
        </p:txBody>
      </p:sp>
      <p:sp>
        <p:nvSpPr>
          <p:cNvPr id="586" name="Google Shape;586;p15"/>
          <p:cNvSpPr/>
          <p:nvPr/>
        </p:nvSpPr>
        <p:spPr>
          <a:xfrm>
            <a:off x="3866623" y="2029975"/>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15"/>
          <p:cNvSpPr/>
          <p:nvPr/>
        </p:nvSpPr>
        <p:spPr>
          <a:xfrm>
            <a:off x="3915582" y="20299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Event study + rule</a:t>
            </a:r>
            <a:endParaRPr sz="1050" b="0" i="0" u="none" strike="noStrike" cap="none">
              <a:solidFill>
                <a:schemeClr val="dk1"/>
              </a:solidFill>
              <a:latin typeface="Calibri"/>
              <a:ea typeface="Calibri"/>
              <a:cs typeface="Calibri"/>
              <a:sym typeface="Calibri"/>
            </a:endParaRPr>
          </a:p>
        </p:txBody>
      </p:sp>
      <p:sp>
        <p:nvSpPr>
          <p:cNvPr id="588" name="Google Shape;588;p15"/>
          <p:cNvSpPr/>
          <p:nvPr/>
        </p:nvSpPr>
        <p:spPr>
          <a:xfrm>
            <a:off x="6355350" y="2029975"/>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15"/>
          <p:cNvSpPr/>
          <p:nvPr/>
        </p:nvSpPr>
        <p:spPr>
          <a:xfrm>
            <a:off x="6404309" y="20299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Regression</a:t>
            </a:r>
            <a:endParaRPr sz="1050" b="0" i="0" u="none" strike="noStrike" cap="none">
              <a:solidFill>
                <a:schemeClr val="dk1"/>
              </a:solidFill>
              <a:latin typeface="Calibri"/>
              <a:ea typeface="Calibri"/>
              <a:cs typeface="Calibri"/>
              <a:sym typeface="Calibri"/>
            </a:endParaRPr>
          </a:p>
        </p:txBody>
      </p:sp>
      <p:sp>
        <p:nvSpPr>
          <p:cNvPr id="590" name="Google Shape;590;p15"/>
          <p:cNvSpPr/>
          <p:nvPr/>
        </p:nvSpPr>
        <p:spPr>
          <a:xfrm>
            <a:off x="430450" y="2368300"/>
            <a:ext cx="8085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15"/>
          <p:cNvSpPr/>
          <p:nvPr/>
        </p:nvSpPr>
        <p:spPr>
          <a:xfrm>
            <a:off x="447286" y="236830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Signal</a:t>
            </a:r>
            <a:endParaRPr sz="1050" b="0" i="0" u="none" strike="noStrike" cap="none">
              <a:solidFill>
                <a:schemeClr val="dk1"/>
              </a:solidFill>
              <a:latin typeface="Calibri"/>
              <a:ea typeface="Calibri"/>
              <a:cs typeface="Calibri"/>
              <a:sym typeface="Calibri"/>
            </a:endParaRPr>
          </a:p>
        </p:txBody>
      </p:sp>
      <p:sp>
        <p:nvSpPr>
          <p:cNvPr id="592" name="Google Shape;592;p15"/>
          <p:cNvSpPr/>
          <p:nvPr/>
        </p:nvSpPr>
        <p:spPr>
          <a:xfrm>
            <a:off x="1377897" y="2368304"/>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15"/>
          <p:cNvSpPr/>
          <p:nvPr/>
        </p:nvSpPr>
        <p:spPr>
          <a:xfrm>
            <a:off x="1426855" y="236830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Δ VIX</a:t>
            </a:r>
            <a:endParaRPr sz="1050" b="0" i="0" u="none" strike="noStrike" cap="none">
              <a:solidFill>
                <a:schemeClr val="dk1"/>
              </a:solidFill>
              <a:latin typeface="Calibri"/>
              <a:ea typeface="Calibri"/>
              <a:cs typeface="Calibri"/>
              <a:sym typeface="Calibri"/>
            </a:endParaRPr>
          </a:p>
        </p:txBody>
      </p:sp>
      <p:sp>
        <p:nvSpPr>
          <p:cNvPr id="594" name="Google Shape;594;p15"/>
          <p:cNvSpPr/>
          <p:nvPr/>
        </p:nvSpPr>
        <p:spPr>
          <a:xfrm>
            <a:off x="3866623" y="2368304"/>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15"/>
          <p:cNvSpPr/>
          <p:nvPr/>
        </p:nvSpPr>
        <p:spPr>
          <a:xfrm>
            <a:off x="3915582" y="236830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Top 20% VIX spikes</a:t>
            </a:r>
            <a:endParaRPr sz="1050" b="0" i="0" u="none" strike="noStrike" cap="none">
              <a:solidFill>
                <a:schemeClr val="dk1"/>
              </a:solidFill>
              <a:latin typeface="Calibri"/>
              <a:ea typeface="Calibri"/>
              <a:cs typeface="Calibri"/>
              <a:sym typeface="Calibri"/>
            </a:endParaRPr>
          </a:p>
        </p:txBody>
      </p:sp>
      <p:sp>
        <p:nvSpPr>
          <p:cNvPr id="596" name="Google Shape;596;p15"/>
          <p:cNvSpPr/>
          <p:nvPr/>
        </p:nvSpPr>
        <p:spPr>
          <a:xfrm>
            <a:off x="6355350" y="2368304"/>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15"/>
          <p:cNvSpPr/>
          <p:nvPr/>
        </p:nvSpPr>
        <p:spPr>
          <a:xfrm>
            <a:off x="6404309" y="2368304"/>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Δ VIX + Spreads + Oil</a:t>
            </a:r>
            <a:endParaRPr sz="1050" b="0" i="0" u="none" strike="noStrike" cap="none">
              <a:solidFill>
                <a:schemeClr val="dk1"/>
              </a:solidFill>
              <a:latin typeface="Calibri"/>
              <a:ea typeface="Calibri"/>
              <a:cs typeface="Calibri"/>
              <a:sym typeface="Calibri"/>
            </a:endParaRPr>
          </a:p>
        </p:txBody>
      </p:sp>
      <p:sp>
        <p:nvSpPr>
          <p:cNvPr id="598" name="Google Shape;598;p15"/>
          <p:cNvSpPr/>
          <p:nvPr/>
        </p:nvSpPr>
        <p:spPr>
          <a:xfrm>
            <a:off x="430450" y="2706625"/>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15"/>
          <p:cNvSpPr/>
          <p:nvPr/>
        </p:nvSpPr>
        <p:spPr>
          <a:xfrm>
            <a:off x="447286" y="270662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Prediction</a:t>
            </a:r>
            <a:endParaRPr sz="1050" b="0" i="0" u="none" strike="noStrike" cap="none">
              <a:solidFill>
                <a:schemeClr val="dk1"/>
              </a:solidFill>
              <a:latin typeface="Calibri"/>
              <a:ea typeface="Calibri"/>
              <a:cs typeface="Calibri"/>
              <a:sym typeface="Calibri"/>
            </a:endParaRPr>
          </a:p>
        </p:txBody>
      </p:sp>
      <p:sp>
        <p:nvSpPr>
          <p:cNvPr id="600" name="Google Shape;600;p15"/>
          <p:cNvSpPr/>
          <p:nvPr/>
        </p:nvSpPr>
        <p:spPr>
          <a:xfrm>
            <a:off x="1377897" y="2706632"/>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15"/>
          <p:cNvSpPr/>
          <p:nvPr/>
        </p:nvSpPr>
        <p:spPr>
          <a:xfrm>
            <a:off x="1426855" y="2706632"/>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Tomorrow's return</a:t>
            </a:r>
            <a:endParaRPr sz="1050" b="0" i="0" u="none" strike="noStrike" cap="none">
              <a:solidFill>
                <a:schemeClr val="dk1"/>
              </a:solidFill>
              <a:latin typeface="Calibri"/>
              <a:ea typeface="Calibri"/>
              <a:cs typeface="Calibri"/>
              <a:sym typeface="Calibri"/>
            </a:endParaRPr>
          </a:p>
        </p:txBody>
      </p:sp>
      <p:sp>
        <p:nvSpPr>
          <p:cNvPr id="602" name="Google Shape;602;p15"/>
          <p:cNvSpPr/>
          <p:nvPr/>
        </p:nvSpPr>
        <p:spPr>
          <a:xfrm>
            <a:off x="3866623" y="2706632"/>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15"/>
          <p:cNvSpPr/>
          <p:nvPr/>
        </p:nvSpPr>
        <p:spPr>
          <a:xfrm>
            <a:off x="3915582" y="2706632"/>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Trough timing</a:t>
            </a:r>
            <a:endParaRPr sz="1050" b="0" i="0" u="none" strike="noStrike" cap="none">
              <a:solidFill>
                <a:schemeClr val="dk1"/>
              </a:solidFill>
              <a:latin typeface="Calibri"/>
              <a:ea typeface="Calibri"/>
              <a:cs typeface="Calibri"/>
              <a:sym typeface="Calibri"/>
            </a:endParaRPr>
          </a:p>
        </p:txBody>
      </p:sp>
      <p:sp>
        <p:nvSpPr>
          <p:cNvPr id="604" name="Google Shape;604;p15"/>
          <p:cNvSpPr/>
          <p:nvPr/>
        </p:nvSpPr>
        <p:spPr>
          <a:xfrm>
            <a:off x="6355350" y="2706632"/>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15"/>
          <p:cNvSpPr/>
          <p:nvPr/>
        </p:nvSpPr>
        <p:spPr>
          <a:xfrm>
            <a:off x="6404309" y="2706632"/>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Tomorrow's return</a:t>
            </a:r>
            <a:endParaRPr sz="1050" b="0" i="0" u="none" strike="noStrike" cap="none">
              <a:solidFill>
                <a:schemeClr val="dk1"/>
              </a:solidFill>
              <a:latin typeface="Calibri"/>
              <a:ea typeface="Calibri"/>
              <a:cs typeface="Calibri"/>
              <a:sym typeface="Calibri"/>
            </a:endParaRPr>
          </a:p>
        </p:txBody>
      </p:sp>
      <p:sp>
        <p:nvSpPr>
          <p:cNvPr id="606" name="Google Shape;606;p15"/>
          <p:cNvSpPr/>
          <p:nvPr/>
        </p:nvSpPr>
        <p:spPr>
          <a:xfrm>
            <a:off x="430450" y="3044950"/>
            <a:ext cx="8085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15"/>
          <p:cNvSpPr/>
          <p:nvPr/>
        </p:nvSpPr>
        <p:spPr>
          <a:xfrm>
            <a:off x="447286" y="304495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Key Stat</a:t>
            </a:r>
            <a:endParaRPr sz="1050" b="0" i="0" u="none" strike="noStrike" cap="none">
              <a:solidFill>
                <a:schemeClr val="dk1"/>
              </a:solidFill>
              <a:latin typeface="Calibri"/>
              <a:ea typeface="Calibri"/>
              <a:cs typeface="Calibri"/>
              <a:sym typeface="Calibri"/>
            </a:endParaRPr>
          </a:p>
        </p:txBody>
      </p:sp>
      <p:sp>
        <p:nvSpPr>
          <p:cNvPr id="608" name="Google Shape;608;p15"/>
          <p:cNvSpPr/>
          <p:nvPr/>
        </p:nvSpPr>
        <p:spPr>
          <a:xfrm>
            <a:off x="1377897" y="3044961"/>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15"/>
          <p:cNvSpPr/>
          <p:nvPr/>
        </p:nvSpPr>
        <p:spPr>
          <a:xfrm>
            <a:off x="1426855" y="3044961"/>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p = 0.01 ✓</a:t>
            </a:r>
            <a:endParaRPr sz="1050" b="0" i="0" u="none" strike="noStrike" cap="none">
              <a:solidFill>
                <a:schemeClr val="dk1"/>
              </a:solidFill>
              <a:latin typeface="Calibri"/>
              <a:ea typeface="Calibri"/>
              <a:cs typeface="Calibri"/>
              <a:sym typeface="Calibri"/>
            </a:endParaRPr>
          </a:p>
        </p:txBody>
      </p:sp>
      <p:sp>
        <p:nvSpPr>
          <p:cNvPr id="610" name="Google Shape;610;p15"/>
          <p:cNvSpPr/>
          <p:nvPr/>
        </p:nvSpPr>
        <p:spPr>
          <a:xfrm>
            <a:off x="3866623" y="3044961"/>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15"/>
          <p:cNvSpPr/>
          <p:nvPr/>
        </p:nvSpPr>
        <p:spPr>
          <a:xfrm>
            <a:off x="3915582" y="3044961"/>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54% recovery rate</a:t>
            </a:r>
            <a:endParaRPr sz="1050" b="0" i="0" u="none" strike="noStrike" cap="none">
              <a:solidFill>
                <a:schemeClr val="dk1"/>
              </a:solidFill>
              <a:latin typeface="Calibri"/>
              <a:ea typeface="Calibri"/>
              <a:cs typeface="Calibri"/>
              <a:sym typeface="Calibri"/>
            </a:endParaRPr>
          </a:p>
        </p:txBody>
      </p:sp>
      <p:sp>
        <p:nvSpPr>
          <p:cNvPr id="612" name="Google Shape;612;p15"/>
          <p:cNvSpPr/>
          <p:nvPr/>
        </p:nvSpPr>
        <p:spPr>
          <a:xfrm>
            <a:off x="6355350" y="3044961"/>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15"/>
          <p:cNvSpPr/>
          <p:nvPr/>
        </p:nvSpPr>
        <p:spPr>
          <a:xfrm>
            <a:off x="6404309" y="3044961"/>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Condition Number = 84</a:t>
            </a:r>
            <a:endParaRPr sz="1050" b="0" i="0" u="none" strike="noStrike" cap="none">
              <a:solidFill>
                <a:schemeClr val="dk1"/>
              </a:solidFill>
              <a:latin typeface="Calibri"/>
              <a:ea typeface="Calibri"/>
              <a:cs typeface="Calibri"/>
              <a:sym typeface="Calibri"/>
            </a:endParaRPr>
          </a:p>
        </p:txBody>
      </p:sp>
      <p:sp>
        <p:nvSpPr>
          <p:cNvPr id="614" name="Google Shape;614;p15"/>
          <p:cNvSpPr/>
          <p:nvPr/>
        </p:nvSpPr>
        <p:spPr>
          <a:xfrm>
            <a:off x="430450" y="3383275"/>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15"/>
          <p:cNvSpPr/>
          <p:nvPr/>
        </p:nvSpPr>
        <p:spPr>
          <a:xfrm>
            <a:off x="447286" y="338327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R²</a:t>
            </a:r>
            <a:endParaRPr sz="1050" b="0" i="0" u="none" strike="noStrike" cap="none">
              <a:solidFill>
                <a:schemeClr val="dk1"/>
              </a:solidFill>
              <a:latin typeface="Calibri"/>
              <a:ea typeface="Calibri"/>
              <a:cs typeface="Calibri"/>
              <a:sym typeface="Calibri"/>
            </a:endParaRPr>
          </a:p>
        </p:txBody>
      </p:sp>
      <p:sp>
        <p:nvSpPr>
          <p:cNvPr id="616" name="Google Shape;616;p15"/>
          <p:cNvSpPr/>
          <p:nvPr/>
        </p:nvSpPr>
        <p:spPr>
          <a:xfrm>
            <a:off x="1377897" y="3383289"/>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15"/>
          <p:cNvSpPr/>
          <p:nvPr/>
        </p:nvSpPr>
        <p:spPr>
          <a:xfrm>
            <a:off x="1426855" y="3383289"/>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0.6%</a:t>
            </a:r>
            <a:endParaRPr sz="1050" b="0" i="0" u="none" strike="noStrike" cap="none">
              <a:solidFill>
                <a:schemeClr val="dk1"/>
              </a:solidFill>
              <a:latin typeface="Calibri"/>
              <a:ea typeface="Calibri"/>
              <a:cs typeface="Calibri"/>
              <a:sym typeface="Calibri"/>
            </a:endParaRPr>
          </a:p>
        </p:txBody>
      </p:sp>
      <p:sp>
        <p:nvSpPr>
          <p:cNvPr id="618" name="Google Shape;618;p15"/>
          <p:cNvSpPr/>
          <p:nvPr/>
        </p:nvSpPr>
        <p:spPr>
          <a:xfrm>
            <a:off x="3866623" y="3383289"/>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15"/>
          <p:cNvSpPr/>
          <p:nvPr/>
        </p:nvSpPr>
        <p:spPr>
          <a:xfrm>
            <a:off x="3915582" y="3383289"/>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N/A (event study)</a:t>
            </a:r>
            <a:endParaRPr sz="1050" b="0" i="0" u="none" strike="noStrike" cap="none">
              <a:solidFill>
                <a:schemeClr val="dk1"/>
              </a:solidFill>
              <a:latin typeface="Calibri"/>
              <a:ea typeface="Calibri"/>
              <a:cs typeface="Calibri"/>
              <a:sym typeface="Calibri"/>
            </a:endParaRPr>
          </a:p>
        </p:txBody>
      </p:sp>
      <p:sp>
        <p:nvSpPr>
          <p:cNvPr id="620" name="Google Shape;620;p15"/>
          <p:cNvSpPr/>
          <p:nvPr/>
        </p:nvSpPr>
        <p:spPr>
          <a:xfrm>
            <a:off x="6355350" y="3383289"/>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15"/>
          <p:cNvSpPr/>
          <p:nvPr/>
        </p:nvSpPr>
        <p:spPr>
          <a:xfrm>
            <a:off x="6404309" y="3383289"/>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0.8%</a:t>
            </a:r>
            <a:endParaRPr sz="1050" b="0" i="0" u="none" strike="noStrike" cap="none">
              <a:solidFill>
                <a:schemeClr val="dk1"/>
              </a:solidFill>
              <a:latin typeface="Calibri"/>
              <a:ea typeface="Calibri"/>
              <a:cs typeface="Calibri"/>
              <a:sym typeface="Calibri"/>
            </a:endParaRPr>
          </a:p>
        </p:txBody>
      </p:sp>
      <p:sp>
        <p:nvSpPr>
          <p:cNvPr id="622" name="Google Shape;622;p15"/>
          <p:cNvSpPr/>
          <p:nvPr/>
        </p:nvSpPr>
        <p:spPr>
          <a:xfrm>
            <a:off x="430450" y="3721600"/>
            <a:ext cx="8085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15"/>
          <p:cNvSpPr/>
          <p:nvPr/>
        </p:nvSpPr>
        <p:spPr>
          <a:xfrm>
            <a:off x="447286" y="372160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Sharpe</a:t>
            </a:r>
            <a:endParaRPr sz="1050" b="0" i="0" u="none" strike="noStrike" cap="none">
              <a:solidFill>
                <a:schemeClr val="dk1"/>
              </a:solidFill>
              <a:latin typeface="Calibri"/>
              <a:ea typeface="Calibri"/>
              <a:cs typeface="Calibri"/>
              <a:sym typeface="Calibri"/>
            </a:endParaRPr>
          </a:p>
        </p:txBody>
      </p:sp>
      <p:sp>
        <p:nvSpPr>
          <p:cNvPr id="624" name="Google Shape;624;p15"/>
          <p:cNvSpPr/>
          <p:nvPr/>
        </p:nvSpPr>
        <p:spPr>
          <a:xfrm>
            <a:off x="1377897" y="3721618"/>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15"/>
          <p:cNvSpPr/>
          <p:nvPr/>
        </p:nvSpPr>
        <p:spPr>
          <a:xfrm>
            <a:off x="1426855" y="3721618"/>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N/A</a:t>
            </a:r>
            <a:endParaRPr sz="1050" b="0" i="0" u="none" strike="noStrike" cap="none">
              <a:solidFill>
                <a:schemeClr val="dk1"/>
              </a:solidFill>
              <a:latin typeface="Calibri"/>
              <a:ea typeface="Calibri"/>
              <a:cs typeface="Calibri"/>
              <a:sym typeface="Calibri"/>
            </a:endParaRPr>
          </a:p>
        </p:txBody>
      </p:sp>
      <p:sp>
        <p:nvSpPr>
          <p:cNvPr id="626" name="Google Shape;626;p15"/>
          <p:cNvSpPr/>
          <p:nvPr/>
        </p:nvSpPr>
        <p:spPr>
          <a:xfrm>
            <a:off x="3866623" y="3721618"/>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15"/>
          <p:cNvSpPr/>
          <p:nvPr/>
        </p:nvSpPr>
        <p:spPr>
          <a:xfrm>
            <a:off x="3891109" y="3721618"/>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0.40–0.75</a:t>
            </a:r>
            <a:endParaRPr sz="1050" b="0" i="0" u="none" strike="noStrike" cap="none">
              <a:solidFill>
                <a:schemeClr val="dk1"/>
              </a:solidFill>
              <a:latin typeface="Calibri"/>
              <a:ea typeface="Calibri"/>
              <a:cs typeface="Calibri"/>
              <a:sym typeface="Calibri"/>
            </a:endParaRPr>
          </a:p>
        </p:txBody>
      </p:sp>
      <p:sp>
        <p:nvSpPr>
          <p:cNvPr id="628" name="Google Shape;628;p15"/>
          <p:cNvSpPr/>
          <p:nvPr/>
        </p:nvSpPr>
        <p:spPr>
          <a:xfrm>
            <a:off x="6355350" y="3721618"/>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15"/>
          <p:cNvSpPr/>
          <p:nvPr/>
        </p:nvSpPr>
        <p:spPr>
          <a:xfrm>
            <a:off x="6404309" y="3721618"/>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0.053</a:t>
            </a:r>
            <a:endParaRPr sz="1050" b="0" i="0" u="none" strike="noStrike" cap="none">
              <a:solidFill>
                <a:schemeClr val="dk1"/>
              </a:solidFill>
              <a:latin typeface="Calibri"/>
              <a:ea typeface="Calibri"/>
              <a:cs typeface="Calibri"/>
              <a:sym typeface="Calibri"/>
            </a:endParaRPr>
          </a:p>
        </p:txBody>
      </p:sp>
      <p:sp>
        <p:nvSpPr>
          <p:cNvPr id="630" name="Google Shape;630;p15"/>
          <p:cNvSpPr/>
          <p:nvPr/>
        </p:nvSpPr>
        <p:spPr>
          <a:xfrm>
            <a:off x="430450" y="4059925"/>
            <a:ext cx="8085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15"/>
          <p:cNvSpPr/>
          <p:nvPr/>
        </p:nvSpPr>
        <p:spPr>
          <a:xfrm>
            <a:off x="447286" y="4059925"/>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Best Feature</a:t>
            </a:r>
            <a:endParaRPr sz="1050" b="0" i="0" u="none" strike="noStrike" cap="none">
              <a:solidFill>
                <a:schemeClr val="dk1"/>
              </a:solidFill>
              <a:latin typeface="Calibri"/>
              <a:ea typeface="Calibri"/>
              <a:cs typeface="Calibri"/>
              <a:sym typeface="Calibri"/>
            </a:endParaRPr>
          </a:p>
        </p:txBody>
      </p:sp>
      <p:sp>
        <p:nvSpPr>
          <p:cNvPr id="632" name="Google Shape;632;p15"/>
          <p:cNvSpPr/>
          <p:nvPr/>
        </p:nvSpPr>
        <p:spPr>
          <a:xfrm>
            <a:off x="1377897" y="4059946"/>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15"/>
          <p:cNvSpPr/>
          <p:nvPr/>
        </p:nvSpPr>
        <p:spPr>
          <a:xfrm>
            <a:off x="1426855" y="4059946"/>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Stat. significance</a:t>
            </a:r>
            <a:endParaRPr sz="1050" b="0" i="0" u="none" strike="noStrike" cap="none">
              <a:solidFill>
                <a:schemeClr val="dk1"/>
              </a:solidFill>
              <a:latin typeface="Calibri"/>
              <a:ea typeface="Calibri"/>
              <a:cs typeface="Calibri"/>
              <a:sym typeface="Calibri"/>
            </a:endParaRPr>
          </a:p>
        </p:txBody>
      </p:sp>
      <p:sp>
        <p:nvSpPr>
          <p:cNvPr id="634" name="Google Shape;634;p15"/>
          <p:cNvSpPr/>
          <p:nvPr/>
        </p:nvSpPr>
        <p:spPr>
          <a:xfrm>
            <a:off x="3866623" y="4059946"/>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15"/>
          <p:cNvSpPr/>
          <p:nvPr/>
        </p:nvSpPr>
        <p:spPr>
          <a:xfrm>
            <a:off x="3915582" y="4059946"/>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Real backtest trades</a:t>
            </a:r>
            <a:endParaRPr sz="1050" b="0" i="0" u="none" strike="noStrike" cap="none">
              <a:solidFill>
                <a:schemeClr val="dk1"/>
              </a:solidFill>
              <a:latin typeface="Calibri"/>
              <a:ea typeface="Calibri"/>
              <a:cs typeface="Calibri"/>
              <a:sym typeface="Calibri"/>
            </a:endParaRPr>
          </a:p>
        </p:txBody>
      </p:sp>
      <p:sp>
        <p:nvSpPr>
          <p:cNvPr id="636" name="Google Shape;636;p15"/>
          <p:cNvSpPr/>
          <p:nvPr/>
        </p:nvSpPr>
        <p:spPr>
          <a:xfrm>
            <a:off x="6355350" y="4059946"/>
            <a:ext cx="2349900" cy="320100"/>
          </a:xfrm>
          <a:prstGeom prst="rect">
            <a:avLst/>
          </a:prstGeom>
          <a:solidFill>
            <a:srgbClr val="F7F9FC"/>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15"/>
          <p:cNvSpPr/>
          <p:nvPr/>
        </p:nvSpPr>
        <p:spPr>
          <a:xfrm>
            <a:off x="6404309" y="4059946"/>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Beats buy-and-hold</a:t>
            </a:r>
            <a:endParaRPr sz="1050" b="0" i="0" u="none" strike="noStrike" cap="none">
              <a:solidFill>
                <a:schemeClr val="dk1"/>
              </a:solidFill>
              <a:latin typeface="Calibri"/>
              <a:ea typeface="Calibri"/>
              <a:cs typeface="Calibri"/>
              <a:sym typeface="Calibri"/>
            </a:endParaRPr>
          </a:p>
        </p:txBody>
      </p:sp>
      <p:sp>
        <p:nvSpPr>
          <p:cNvPr id="638" name="Google Shape;638;p15"/>
          <p:cNvSpPr/>
          <p:nvPr/>
        </p:nvSpPr>
        <p:spPr>
          <a:xfrm>
            <a:off x="430450" y="4398250"/>
            <a:ext cx="8085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15"/>
          <p:cNvSpPr/>
          <p:nvPr/>
        </p:nvSpPr>
        <p:spPr>
          <a:xfrm>
            <a:off x="447286" y="4398250"/>
            <a:ext cx="7749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1A35"/>
              </a:buClr>
              <a:buSzPts val="1050"/>
              <a:buFont typeface="Calibri"/>
              <a:buNone/>
            </a:pPr>
            <a:r>
              <a:rPr lang="en-US" sz="1050" b="1" i="0" u="none" strike="noStrike" cap="none">
                <a:solidFill>
                  <a:srgbClr val="0C1A35"/>
                </a:solidFill>
                <a:latin typeface="Calibri"/>
                <a:ea typeface="Calibri"/>
                <a:cs typeface="Calibri"/>
                <a:sym typeface="Calibri"/>
              </a:rPr>
              <a:t>Limitation</a:t>
            </a:r>
            <a:endParaRPr sz="1050" b="0" i="0" u="none" strike="noStrike" cap="none">
              <a:solidFill>
                <a:schemeClr val="dk1"/>
              </a:solidFill>
              <a:latin typeface="Calibri"/>
              <a:ea typeface="Calibri"/>
              <a:cs typeface="Calibri"/>
              <a:sym typeface="Calibri"/>
            </a:endParaRPr>
          </a:p>
        </p:txBody>
      </p:sp>
      <p:sp>
        <p:nvSpPr>
          <p:cNvPr id="640" name="Google Shape;640;p15"/>
          <p:cNvSpPr/>
          <p:nvPr/>
        </p:nvSpPr>
        <p:spPr>
          <a:xfrm>
            <a:off x="1377897" y="4398275"/>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15"/>
          <p:cNvSpPr/>
          <p:nvPr/>
        </p:nvSpPr>
        <p:spPr>
          <a:xfrm>
            <a:off x="1426855" y="43982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Single factor</a:t>
            </a:r>
            <a:endParaRPr sz="1050" b="0" i="0" u="none" strike="noStrike" cap="none">
              <a:solidFill>
                <a:schemeClr val="dk1"/>
              </a:solidFill>
              <a:latin typeface="Calibri"/>
              <a:ea typeface="Calibri"/>
              <a:cs typeface="Calibri"/>
              <a:sym typeface="Calibri"/>
            </a:endParaRPr>
          </a:p>
        </p:txBody>
      </p:sp>
      <p:sp>
        <p:nvSpPr>
          <p:cNvPr id="642" name="Google Shape;642;p15"/>
          <p:cNvSpPr/>
          <p:nvPr/>
        </p:nvSpPr>
        <p:spPr>
          <a:xfrm>
            <a:off x="3866623" y="4398275"/>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15"/>
          <p:cNvSpPr/>
          <p:nvPr/>
        </p:nvSpPr>
        <p:spPr>
          <a:xfrm>
            <a:off x="3915582" y="4398275"/>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46% Windows Fail or Need Long-Term Recoveries</a:t>
            </a:r>
            <a:endParaRPr sz="1050" b="0" i="0" u="none" strike="noStrike" cap="none">
              <a:solidFill>
                <a:schemeClr val="dk1"/>
              </a:solidFill>
              <a:latin typeface="Calibri"/>
              <a:ea typeface="Calibri"/>
              <a:cs typeface="Calibri"/>
              <a:sym typeface="Calibri"/>
            </a:endParaRPr>
          </a:p>
        </p:txBody>
      </p:sp>
      <p:sp>
        <p:nvSpPr>
          <p:cNvPr id="644" name="Google Shape;644;p15"/>
          <p:cNvSpPr/>
          <p:nvPr/>
        </p:nvSpPr>
        <p:spPr>
          <a:xfrm>
            <a:off x="6355350" y="4398275"/>
            <a:ext cx="2349900" cy="320100"/>
          </a:xfrm>
          <a:prstGeom prst="rect">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15"/>
          <p:cNvSpPr/>
          <p:nvPr/>
        </p:nvSpPr>
        <p:spPr>
          <a:xfrm>
            <a:off x="6404184" y="4398309"/>
            <a:ext cx="2252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Multicollinearity</a:t>
            </a:r>
            <a:endParaRPr sz="1050" b="0" i="0" u="none" strike="noStrike" cap="none">
              <a:solidFill>
                <a:schemeClr val="dk1"/>
              </a:solidFill>
              <a:latin typeface="Calibri"/>
              <a:ea typeface="Calibri"/>
              <a:cs typeface="Calibri"/>
              <a:sym typeface="Calibri"/>
            </a:endParaRPr>
          </a:p>
        </p:txBody>
      </p:sp>
      <p:sp>
        <p:nvSpPr>
          <p:cNvPr id="646" name="Google Shape;646;p15"/>
          <p:cNvSpPr/>
          <p:nvPr/>
        </p:nvSpPr>
        <p:spPr>
          <a:xfrm>
            <a:off x="1355900" y="3693450"/>
            <a:ext cx="7373400" cy="381000"/>
          </a:xfrm>
          <a:prstGeom prst="ellipse">
            <a:avLst/>
          </a:prstGeom>
          <a:no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B91C1C"/>
              </a:solidFill>
              <a:highlight>
                <a:srgbClr val="B91C1C"/>
              </a:highlight>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1"/>
        <p:cNvGrpSpPr/>
        <p:nvPr/>
      </p:nvGrpSpPr>
      <p:grpSpPr>
        <a:xfrm>
          <a:off x="0" y="0"/>
          <a:ext cx="0" cy="0"/>
          <a:chOff x="0" y="0"/>
          <a:chExt cx="0" cy="0"/>
        </a:xfrm>
      </p:grpSpPr>
      <p:sp>
        <p:nvSpPr>
          <p:cNvPr id="652" name="Google Shape;652;p16"/>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16"/>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RISKS &amp; LIMITATIONS</a:t>
            </a:r>
            <a:endParaRPr sz="1050" b="0" i="0" u="none" strike="noStrike" cap="none">
              <a:solidFill>
                <a:schemeClr val="dk1"/>
              </a:solidFill>
              <a:latin typeface="Calibri"/>
              <a:ea typeface="Calibri"/>
              <a:cs typeface="Calibri"/>
              <a:sym typeface="Calibri"/>
            </a:endParaRPr>
          </a:p>
        </p:txBody>
      </p:sp>
      <p:sp>
        <p:nvSpPr>
          <p:cNvPr id="654" name="Google Shape;654;p16"/>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2900"/>
              <a:buFont typeface="Georgia"/>
              <a:buNone/>
            </a:pPr>
            <a:r>
              <a:rPr lang="en-US" sz="2400" b="1" i="0" u="none" strike="noStrike" cap="none">
                <a:solidFill>
                  <a:srgbClr val="0C1A35"/>
                </a:solidFill>
                <a:latin typeface="Georgia"/>
                <a:ea typeface="Georgia"/>
                <a:cs typeface="Georgia"/>
                <a:sym typeface="Georgia"/>
              </a:rPr>
              <a:t>Key Risks in the Trade &amp; Limitations in the Models</a:t>
            </a:r>
            <a:endParaRPr sz="2400" b="0" i="0" u="none" strike="noStrike" cap="none">
              <a:solidFill>
                <a:schemeClr val="dk1"/>
              </a:solidFill>
              <a:latin typeface="Calibri"/>
              <a:ea typeface="Calibri"/>
              <a:cs typeface="Calibri"/>
              <a:sym typeface="Calibri"/>
            </a:endParaRPr>
          </a:p>
        </p:txBody>
      </p:sp>
      <p:sp>
        <p:nvSpPr>
          <p:cNvPr id="655" name="Google Shape;655;p16"/>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16"/>
          <p:cNvSpPr/>
          <p:nvPr/>
        </p:nvSpPr>
        <p:spPr>
          <a:xfrm>
            <a:off x="365750" y="1371600"/>
            <a:ext cx="4103100" cy="100290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396"/>
              <a:buFont typeface="Arial"/>
              <a:buNone/>
            </a:pPr>
            <a:endParaRPr sz="1396" b="0" i="0" u="none" strike="noStrike" cap="none">
              <a:solidFill>
                <a:srgbClr val="000000"/>
              </a:solidFill>
              <a:latin typeface="Arial"/>
              <a:ea typeface="Arial"/>
              <a:cs typeface="Arial"/>
              <a:sym typeface="Arial"/>
            </a:endParaRPr>
          </a:p>
        </p:txBody>
      </p:sp>
      <p:sp>
        <p:nvSpPr>
          <p:cNvPr id="657" name="Google Shape;657;p16"/>
          <p:cNvSpPr/>
          <p:nvPr/>
        </p:nvSpPr>
        <p:spPr>
          <a:xfrm>
            <a:off x="365750" y="1371600"/>
            <a:ext cx="91200" cy="10029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396"/>
              <a:buFont typeface="Arial"/>
              <a:buNone/>
            </a:pPr>
            <a:endParaRPr sz="1396" b="0" i="0" u="none" strike="noStrike" cap="none">
              <a:solidFill>
                <a:srgbClr val="000000"/>
              </a:solidFill>
              <a:latin typeface="Arial"/>
              <a:ea typeface="Arial"/>
              <a:cs typeface="Arial"/>
              <a:sym typeface="Arial"/>
            </a:endParaRPr>
          </a:p>
        </p:txBody>
      </p:sp>
      <p:pic>
        <p:nvPicPr>
          <p:cNvPr id="658" name="Google Shape;658;p16" descr="preencoded.png"/>
          <p:cNvPicPr preferRelativeResize="0"/>
          <p:nvPr/>
        </p:nvPicPr>
        <p:blipFill rotWithShape="1">
          <a:blip r:embed="rId3">
            <a:alphaModFix/>
          </a:blip>
          <a:srcRect/>
          <a:stretch/>
        </p:blipFill>
        <p:spPr>
          <a:xfrm>
            <a:off x="548119" y="1704208"/>
            <a:ext cx="364708" cy="364708"/>
          </a:xfrm>
          <a:prstGeom prst="rect">
            <a:avLst/>
          </a:prstGeom>
          <a:noFill/>
          <a:ln>
            <a:noFill/>
          </a:ln>
        </p:spPr>
      </p:pic>
      <p:sp>
        <p:nvSpPr>
          <p:cNvPr id="659" name="Google Shape;659;p16"/>
          <p:cNvSpPr/>
          <p:nvPr/>
        </p:nvSpPr>
        <p:spPr>
          <a:xfrm>
            <a:off x="1003989" y="1426306"/>
            <a:ext cx="3373500" cy="346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197"/>
              <a:buFont typeface="Calibri"/>
              <a:buNone/>
            </a:pPr>
            <a:r>
              <a:rPr lang="en-US" sz="1197" b="1" i="0" u="none" strike="noStrike" cap="none">
                <a:solidFill>
                  <a:srgbClr val="B91C1C"/>
                </a:solidFill>
                <a:latin typeface="Calibri"/>
                <a:ea typeface="Calibri"/>
                <a:cs typeface="Calibri"/>
                <a:sym typeface="Calibri"/>
              </a:rPr>
              <a:t>46% of Events Don't Recover Meaningfully</a:t>
            </a:r>
            <a:endParaRPr sz="1197" b="0" i="0" u="none" strike="noStrike" cap="none">
              <a:solidFill>
                <a:schemeClr val="dk1"/>
              </a:solidFill>
              <a:latin typeface="Calibri"/>
              <a:ea typeface="Calibri"/>
              <a:cs typeface="Calibri"/>
              <a:sym typeface="Calibri"/>
            </a:endParaRPr>
          </a:p>
        </p:txBody>
      </p:sp>
      <p:sp>
        <p:nvSpPr>
          <p:cNvPr id="660" name="Google Shape;660;p16"/>
          <p:cNvSpPr/>
          <p:nvPr/>
        </p:nvSpPr>
        <p:spPr>
          <a:xfrm>
            <a:off x="1003989" y="1791014"/>
            <a:ext cx="3373500" cy="5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a:solidFill>
                  <a:srgbClr val="1E293B"/>
                </a:solidFill>
                <a:latin typeface="Calibri"/>
                <a:ea typeface="Calibri"/>
                <a:cs typeface="Calibri"/>
                <a:sym typeface="Calibri"/>
              </a:rPr>
              <a:t>Nearly half of VIX spikes don’t produce a meaningful price recovery within a 240-day window. This impacts models 1 and 2 since they don’t attempt to filter out less impactful spikes.</a:t>
            </a:r>
            <a:endParaRPr sz="997" b="0" i="0" u="none" strike="noStrike" cap="none">
              <a:solidFill>
                <a:schemeClr val="dk1"/>
              </a:solidFill>
              <a:latin typeface="Calibri"/>
              <a:ea typeface="Calibri"/>
              <a:cs typeface="Calibri"/>
              <a:sym typeface="Calibri"/>
            </a:endParaRPr>
          </a:p>
        </p:txBody>
      </p:sp>
      <p:sp>
        <p:nvSpPr>
          <p:cNvPr id="661" name="Google Shape;661;p16"/>
          <p:cNvSpPr/>
          <p:nvPr/>
        </p:nvSpPr>
        <p:spPr>
          <a:xfrm>
            <a:off x="4696659" y="1371600"/>
            <a:ext cx="4103100" cy="100290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16"/>
          <p:cNvSpPr/>
          <p:nvPr/>
        </p:nvSpPr>
        <p:spPr>
          <a:xfrm>
            <a:off x="4696659" y="1371600"/>
            <a:ext cx="91200" cy="10029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16"/>
          <p:cNvSpPr/>
          <p:nvPr/>
        </p:nvSpPr>
        <p:spPr>
          <a:xfrm>
            <a:off x="5334898" y="1426306"/>
            <a:ext cx="3373500" cy="346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197"/>
              <a:buFont typeface="Calibri"/>
              <a:buNone/>
            </a:pPr>
            <a:r>
              <a:rPr lang="en-US" sz="1197" b="1" i="0" u="none" strike="noStrike" cap="none">
                <a:solidFill>
                  <a:srgbClr val="B91C1C"/>
                </a:solidFill>
                <a:latin typeface="Calibri"/>
                <a:ea typeface="Calibri"/>
                <a:cs typeface="Calibri"/>
                <a:sym typeface="Calibri"/>
              </a:rPr>
              <a:t>Rates Shock vs Risk Shock</a:t>
            </a:r>
            <a:endParaRPr sz="1197" b="0" i="0" u="none" strike="noStrike" cap="none">
              <a:solidFill>
                <a:schemeClr val="dk1"/>
              </a:solidFill>
              <a:latin typeface="Calibri"/>
              <a:ea typeface="Calibri"/>
              <a:cs typeface="Calibri"/>
              <a:sym typeface="Calibri"/>
            </a:endParaRPr>
          </a:p>
        </p:txBody>
      </p:sp>
      <p:sp>
        <p:nvSpPr>
          <p:cNvPr id="664" name="Google Shape;664;p16"/>
          <p:cNvSpPr/>
          <p:nvPr/>
        </p:nvSpPr>
        <p:spPr>
          <a:xfrm>
            <a:off x="5334898" y="1791014"/>
            <a:ext cx="3373500" cy="5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a:solidFill>
                  <a:srgbClr val="1E293B"/>
                </a:solidFill>
                <a:latin typeface="Calibri"/>
                <a:ea typeface="Calibri"/>
                <a:cs typeface="Calibri"/>
                <a:sym typeface="Calibri"/>
              </a:rPr>
              <a:t>The model treats all VIX spikes identically. Fed rate hikes hurt EM bonds permanently. Pure panic recovers. These have to be separated further.</a:t>
            </a:r>
            <a:endParaRPr sz="997" b="0" i="0" u="none" strike="noStrike" cap="none">
              <a:solidFill>
                <a:schemeClr val="dk1"/>
              </a:solidFill>
              <a:latin typeface="Calibri"/>
              <a:ea typeface="Calibri"/>
              <a:cs typeface="Calibri"/>
              <a:sym typeface="Calibri"/>
            </a:endParaRPr>
          </a:p>
        </p:txBody>
      </p:sp>
      <p:sp>
        <p:nvSpPr>
          <p:cNvPr id="665" name="Google Shape;665;p16"/>
          <p:cNvSpPr/>
          <p:nvPr/>
        </p:nvSpPr>
        <p:spPr>
          <a:xfrm>
            <a:off x="365750" y="2538664"/>
            <a:ext cx="4103100" cy="100290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16"/>
          <p:cNvSpPr/>
          <p:nvPr/>
        </p:nvSpPr>
        <p:spPr>
          <a:xfrm>
            <a:off x="365750" y="2538664"/>
            <a:ext cx="91200" cy="1002900"/>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67" name="Google Shape;667;p16" descr="preencoded.png"/>
          <p:cNvPicPr preferRelativeResize="0"/>
          <p:nvPr/>
        </p:nvPicPr>
        <p:blipFill rotWithShape="1">
          <a:blip r:embed="rId4">
            <a:alphaModFix/>
          </a:blip>
          <a:srcRect/>
          <a:stretch/>
        </p:blipFill>
        <p:spPr>
          <a:xfrm>
            <a:off x="548119" y="2857754"/>
            <a:ext cx="364708" cy="364708"/>
          </a:xfrm>
          <a:prstGeom prst="rect">
            <a:avLst/>
          </a:prstGeom>
          <a:noFill/>
          <a:ln>
            <a:noFill/>
          </a:ln>
        </p:spPr>
      </p:pic>
      <p:sp>
        <p:nvSpPr>
          <p:cNvPr id="668" name="Google Shape;668;p16"/>
          <p:cNvSpPr/>
          <p:nvPr/>
        </p:nvSpPr>
        <p:spPr>
          <a:xfrm>
            <a:off x="1003989" y="2593371"/>
            <a:ext cx="3373500" cy="346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197"/>
              <a:buFont typeface="Calibri"/>
              <a:buNone/>
            </a:pPr>
            <a:r>
              <a:rPr lang="en-US" sz="1197" b="1" i="0" u="none" strike="noStrike" cap="none">
                <a:solidFill>
                  <a:srgbClr val="E8A020"/>
                </a:solidFill>
                <a:latin typeface="Calibri"/>
                <a:ea typeface="Calibri"/>
                <a:cs typeface="Calibri"/>
                <a:sym typeface="Calibri"/>
              </a:rPr>
              <a:t>OLS Assumptions are Violated, Meaning We Can’t Conclusively Prove Correlation</a:t>
            </a:r>
            <a:endParaRPr sz="1197" b="0" i="0" u="none" strike="noStrike" cap="none">
              <a:solidFill>
                <a:schemeClr val="dk1"/>
              </a:solidFill>
              <a:latin typeface="Calibri"/>
              <a:ea typeface="Calibri"/>
              <a:cs typeface="Calibri"/>
              <a:sym typeface="Calibri"/>
            </a:endParaRPr>
          </a:p>
        </p:txBody>
      </p:sp>
      <p:sp>
        <p:nvSpPr>
          <p:cNvPr id="669" name="Google Shape;669;p16"/>
          <p:cNvSpPr/>
          <p:nvPr/>
        </p:nvSpPr>
        <p:spPr>
          <a:xfrm>
            <a:off x="1003989" y="2958078"/>
            <a:ext cx="3373500" cy="5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a:solidFill>
                  <a:srgbClr val="1E293B"/>
                </a:solidFill>
                <a:latin typeface="Calibri"/>
                <a:ea typeface="Calibri"/>
                <a:cs typeface="Calibri"/>
                <a:sym typeface="Calibri"/>
              </a:rPr>
              <a:t>Autocorrelation, heteroskedasticity, and fat tails are all present in the first two models. HC3 helps but doesn't fully solve the problem.</a:t>
            </a:r>
            <a:endParaRPr sz="997" b="0" i="0" u="none" strike="noStrike" cap="none">
              <a:solidFill>
                <a:schemeClr val="dk1"/>
              </a:solidFill>
              <a:latin typeface="Calibri"/>
              <a:ea typeface="Calibri"/>
              <a:cs typeface="Calibri"/>
              <a:sym typeface="Calibri"/>
            </a:endParaRPr>
          </a:p>
        </p:txBody>
      </p:sp>
      <p:sp>
        <p:nvSpPr>
          <p:cNvPr id="670" name="Google Shape;670;p16"/>
          <p:cNvSpPr/>
          <p:nvPr/>
        </p:nvSpPr>
        <p:spPr>
          <a:xfrm>
            <a:off x="4696659" y="2538664"/>
            <a:ext cx="4103100" cy="100290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16"/>
          <p:cNvSpPr/>
          <p:nvPr/>
        </p:nvSpPr>
        <p:spPr>
          <a:xfrm>
            <a:off x="4696659" y="2538664"/>
            <a:ext cx="91200" cy="1002900"/>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72" name="Google Shape;672;p16" descr="preencoded.png"/>
          <p:cNvPicPr preferRelativeResize="0"/>
          <p:nvPr/>
        </p:nvPicPr>
        <p:blipFill rotWithShape="1">
          <a:blip r:embed="rId3">
            <a:alphaModFix/>
          </a:blip>
          <a:srcRect/>
          <a:stretch/>
        </p:blipFill>
        <p:spPr>
          <a:xfrm>
            <a:off x="4860777" y="1704208"/>
            <a:ext cx="364708" cy="364708"/>
          </a:xfrm>
          <a:prstGeom prst="rect">
            <a:avLst/>
          </a:prstGeom>
          <a:noFill/>
          <a:ln>
            <a:noFill/>
          </a:ln>
        </p:spPr>
      </p:pic>
      <p:sp>
        <p:nvSpPr>
          <p:cNvPr id="673" name="Google Shape;673;p16"/>
          <p:cNvSpPr/>
          <p:nvPr/>
        </p:nvSpPr>
        <p:spPr>
          <a:xfrm>
            <a:off x="5334898" y="2593371"/>
            <a:ext cx="3373500" cy="346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197"/>
              <a:buFont typeface="Calibri"/>
              <a:buNone/>
            </a:pPr>
            <a:r>
              <a:rPr lang="en-US" sz="1197" b="1" i="0" u="none" strike="noStrike" cap="none">
                <a:solidFill>
                  <a:srgbClr val="E8A020"/>
                </a:solidFill>
                <a:latin typeface="Calibri"/>
                <a:ea typeface="Calibri"/>
                <a:cs typeface="Calibri"/>
                <a:sym typeface="Calibri"/>
              </a:rPr>
              <a:t>Spike Size Irrelevant</a:t>
            </a:r>
            <a:endParaRPr sz="1197" b="0" i="0" u="none" strike="noStrike" cap="none">
              <a:solidFill>
                <a:schemeClr val="dk1"/>
              </a:solidFill>
              <a:latin typeface="Calibri"/>
              <a:ea typeface="Calibri"/>
              <a:cs typeface="Calibri"/>
              <a:sym typeface="Calibri"/>
            </a:endParaRPr>
          </a:p>
        </p:txBody>
      </p:sp>
      <p:sp>
        <p:nvSpPr>
          <p:cNvPr id="674" name="Google Shape;674;p16"/>
          <p:cNvSpPr/>
          <p:nvPr/>
        </p:nvSpPr>
        <p:spPr>
          <a:xfrm>
            <a:off x="5334898" y="2958078"/>
            <a:ext cx="3373500" cy="5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a:solidFill>
                  <a:srgbClr val="1E293B"/>
                </a:solidFill>
                <a:latin typeface="Calibri"/>
                <a:ea typeface="Calibri"/>
                <a:cs typeface="Calibri"/>
                <a:sym typeface="Calibri"/>
              </a:rPr>
              <a:t>ΔVIX magnitude predicts nothing about return size (Test R²≈0). Signal is binary, you either see a big spike cross the threshold or you don't.</a:t>
            </a:r>
            <a:endParaRPr sz="997" b="0" i="0" u="none" strike="noStrike" cap="none">
              <a:solidFill>
                <a:schemeClr val="dk1"/>
              </a:solidFill>
              <a:latin typeface="Calibri"/>
              <a:ea typeface="Calibri"/>
              <a:cs typeface="Calibri"/>
              <a:sym typeface="Calibri"/>
            </a:endParaRPr>
          </a:p>
        </p:txBody>
      </p:sp>
      <p:sp>
        <p:nvSpPr>
          <p:cNvPr id="675" name="Google Shape;675;p16"/>
          <p:cNvSpPr/>
          <p:nvPr/>
        </p:nvSpPr>
        <p:spPr>
          <a:xfrm>
            <a:off x="365750" y="3705724"/>
            <a:ext cx="4103100" cy="123900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16"/>
          <p:cNvSpPr/>
          <p:nvPr/>
        </p:nvSpPr>
        <p:spPr>
          <a:xfrm>
            <a:off x="365750" y="3705724"/>
            <a:ext cx="91200" cy="12390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77" name="Google Shape;677;p16" descr="preencoded.png"/>
          <p:cNvPicPr preferRelativeResize="0"/>
          <p:nvPr/>
        </p:nvPicPr>
        <p:blipFill rotWithShape="1">
          <a:blip r:embed="rId5">
            <a:alphaModFix/>
          </a:blip>
          <a:srcRect/>
          <a:stretch/>
        </p:blipFill>
        <p:spPr>
          <a:xfrm>
            <a:off x="548119" y="4142874"/>
            <a:ext cx="364708" cy="364708"/>
          </a:xfrm>
          <a:prstGeom prst="rect">
            <a:avLst/>
          </a:prstGeom>
          <a:noFill/>
          <a:ln>
            <a:noFill/>
          </a:ln>
        </p:spPr>
      </p:pic>
      <p:sp>
        <p:nvSpPr>
          <p:cNvPr id="678" name="Google Shape;678;p16"/>
          <p:cNvSpPr/>
          <p:nvPr/>
        </p:nvSpPr>
        <p:spPr>
          <a:xfrm>
            <a:off x="1003989" y="3760435"/>
            <a:ext cx="3373500" cy="346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197"/>
              <a:buFont typeface="Calibri"/>
              <a:buNone/>
            </a:pPr>
            <a:r>
              <a:rPr lang="en-US" sz="1197" b="1" i="0" u="none" strike="noStrike" cap="none">
                <a:solidFill>
                  <a:srgbClr val="1A3F7A"/>
                </a:solidFill>
                <a:latin typeface="Calibri"/>
                <a:ea typeface="Calibri"/>
                <a:cs typeface="Calibri"/>
                <a:sym typeface="Calibri"/>
              </a:rPr>
              <a:t>We Didn’t Hedge FX Risk</a:t>
            </a:r>
            <a:endParaRPr sz="1197" b="0" i="0" u="none" strike="noStrike" cap="none">
              <a:solidFill>
                <a:schemeClr val="dk1"/>
              </a:solidFill>
              <a:latin typeface="Calibri"/>
              <a:ea typeface="Calibri"/>
              <a:cs typeface="Calibri"/>
              <a:sym typeface="Calibri"/>
            </a:endParaRPr>
          </a:p>
        </p:txBody>
      </p:sp>
      <p:sp>
        <p:nvSpPr>
          <p:cNvPr id="679" name="Google Shape;679;p16"/>
          <p:cNvSpPr/>
          <p:nvPr/>
        </p:nvSpPr>
        <p:spPr>
          <a:xfrm>
            <a:off x="1003989" y="4125143"/>
            <a:ext cx="3373500" cy="5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a:solidFill>
                  <a:srgbClr val="1E293B"/>
                </a:solidFill>
                <a:latin typeface="Calibri"/>
                <a:ea typeface="Calibri"/>
                <a:cs typeface="Calibri"/>
                <a:sym typeface="Calibri"/>
              </a:rPr>
              <a:t>Even though our index avoids direct risk, a rising dollar greatly impacts the ability of countries to repay their debt. Additionally, if you hold a basket of EM bonds, you would have direct FX risk exposure, which you’d need to pay a premium to hedge against.</a:t>
            </a:r>
            <a:endParaRPr sz="997" b="0" i="0" u="none" strike="noStrike" cap="none">
              <a:solidFill>
                <a:srgbClr val="1E293B"/>
              </a:solidFill>
              <a:latin typeface="Calibri"/>
              <a:ea typeface="Calibri"/>
              <a:cs typeface="Calibri"/>
              <a:sym typeface="Calibri"/>
            </a:endParaRPr>
          </a:p>
        </p:txBody>
      </p:sp>
      <p:sp>
        <p:nvSpPr>
          <p:cNvPr id="680" name="Google Shape;680;p16"/>
          <p:cNvSpPr/>
          <p:nvPr/>
        </p:nvSpPr>
        <p:spPr>
          <a:xfrm>
            <a:off x="4696650" y="3705724"/>
            <a:ext cx="4103100" cy="1239000"/>
          </a:xfrm>
          <a:prstGeom prst="rect">
            <a:avLst/>
          </a:prstGeom>
          <a:solidFill>
            <a:srgbClr val="F7F9FC"/>
          </a:solidFill>
          <a:ln w="9525" cap="flat" cmpd="sng">
            <a:solidFill>
              <a:srgbClr val="CBD5E1"/>
            </a:solidFill>
            <a:prstDash val="solid"/>
            <a:round/>
            <a:headEnd type="none" w="sm" len="sm"/>
            <a:tailEnd type="none" w="sm" len="sm"/>
          </a:ln>
          <a:effectLst>
            <a:outerShdw blurRad="126635" dist="25327" dir="8100000" algn="bl" rotWithShape="0">
              <a:srgbClr val="000000">
                <a:alpha val="10196"/>
              </a:srgbClr>
            </a:outerShdw>
          </a:effectLst>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16"/>
          <p:cNvSpPr/>
          <p:nvPr/>
        </p:nvSpPr>
        <p:spPr>
          <a:xfrm>
            <a:off x="4696650" y="3705724"/>
            <a:ext cx="91200" cy="12390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150" tIns="91150" rIns="91150" bIns="91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82" name="Google Shape;682;p16" descr="preencoded.png"/>
          <p:cNvPicPr preferRelativeResize="0"/>
          <p:nvPr/>
        </p:nvPicPr>
        <p:blipFill rotWithShape="1">
          <a:blip r:embed="rId5">
            <a:alphaModFix/>
          </a:blip>
          <a:srcRect/>
          <a:stretch/>
        </p:blipFill>
        <p:spPr>
          <a:xfrm>
            <a:off x="4860777" y="4142874"/>
            <a:ext cx="364708" cy="364708"/>
          </a:xfrm>
          <a:prstGeom prst="rect">
            <a:avLst/>
          </a:prstGeom>
          <a:noFill/>
          <a:ln>
            <a:noFill/>
          </a:ln>
        </p:spPr>
      </p:pic>
      <p:sp>
        <p:nvSpPr>
          <p:cNvPr id="683" name="Google Shape;683;p16"/>
          <p:cNvSpPr/>
          <p:nvPr/>
        </p:nvSpPr>
        <p:spPr>
          <a:xfrm>
            <a:off x="5334898" y="3760435"/>
            <a:ext cx="3373500" cy="346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F7A"/>
              </a:buClr>
              <a:buSzPts val="1197"/>
              <a:buFont typeface="Calibri"/>
              <a:buNone/>
            </a:pPr>
            <a:r>
              <a:rPr lang="en-US" sz="1197" b="1" i="0" u="none" strike="noStrike" cap="none">
                <a:solidFill>
                  <a:srgbClr val="1A3F7A"/>
                </a:solidFill>
                <a:latin typeface="Calibri"/>
                <a:ea typeface="Calibri"/>
                <a:cs typeface="Calibri"/>
                <a:sym typeface="Calibri"/>
              </a:rPr>
              <a:t>Yield Excluded from Backtest</a:t>
            </a:r>
            <a:endParaRPr sz="1197" b="0" i="0" u="none" strike="noStrike" cap="none">
              <a:solidFill>
                <a:schemeClr val="dk1"/>
              </a:solidFill>
              <a:latin typeface="Calibri"/>
              <a:ea typeface="Calibri"/>
              <a:cs typeface="Calibri"/>
              <a:sym typeface="Calibri"/>
            </a:endParaRPr>
          </a:p>
        </p:txBody>
      </p:sp>
      <p:sp>
        <p:nvSpPr>
          <p:cNvPr id="684" name="Google Shape;684;p16"/>
          <p:cNvSpPr/>
          <p:nvPr/>
        </p:nvSpPr>
        <p:spPr>
          <a:xfrm>
            <a:off x="5334898" y="4125143"/>
            <a:ext cx="3373500" cy="5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997"/>
              <a:buFont typeface="Calibri"/>
              <a:buNone/>
            </a:pPr>
            <a:r>
              <a:rPr lang="en-US" sz="997" b="0" i="0" u="none" strike="noStrike" cap="none">
                <a:solidFill>
                  <a:srgbClr val="1E293B"/>
                </a:solidFill>
                <a:latin typeface="Calibri"/>
                <a:ea typeface="Calibri"/>
                <a:cs typeface="Calibri"/>
                <a:sym typeface="Calibri"/>
              </a:rPr>
              <a:t>Coupon income, from holding bonds, is NOT counted. Real P&amp;L is materially higher, with Sharpe ratios near or above 1.0 in the threshold model once yield is included.</a:t>
            </a:r>
            <a:endParaRPr sz="997" b="0" i="0" u="none" strike="noStrike" cap="none">
              <a:solidFill>
                <a:schemeClr val="dk1"/>
              </a:solidFill>
              <a:latin typeface="Calibri"/>
              <a:ea typeface="Calibri"/>
              <a:cs typeface="Calibri"/>
              <a:sym typeface="Calibri"/>
            </a:endParaRPr>
          </a:p>
        </p:txBody>
      </p:sp>
      <p:pic>
        <p:nvPicPr>
          <p:cNvPr id="685" name="Google Shape;685;p16" descr="preencoded.png"/>
          <p:cNvPicPr preferRelativeResize="0"/>
          <p:nvPr/>
        </p:nvPicPr>
        <p:blipFill rotWithShape="1">
          <a:blip r:embed="rId4">
            <a:alphaModFix/>
          </a:blip>
          <a:srcRect/>
          <a:stretch/>
        </p:blipFill>
        <p:spPr>
          <a:xfrm>
            <a:off x="4879027" y="2857754"/>
            <a:ext cx="364708" cy="36470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0"/>
        <p:cNvGrpSpPr/>
        <p:nvPr/>
      </p:nvGrpSpPr>
      <p:grpSpPr>
        <a:xfrm>
          <a:off x="0" y="0"/>
          <a:ext cx="0" cy="0"/>
          <a:chOff x="0" y="0"/>
          <a:chExt cx="0" cy="0"/>
        </a:xfrm>
      </p:grpSpPr>
      <p:sp>
        <p:nvSpPr>
          <p:cNvPr id="691" name="Google Shape;691;p7"/>
          <p:cNvSpPr/>
          <p:nvPr/>
        </p:nvSpPr>
        <p:spPr>
          <a:xfrm>
            <a:off x="457200" y="146304"/>
            <a:ext cx="2194560" cy="274320"/>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7"/>
          <p:cNvSpPr/>
          <p:nvPr/>
        </p:nvSpPr>
        <p:spPr>
          <a:xfrm>
            <a:off x="457200" y="146304"/>
            <a:ext cx="219456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alibri"/>
              <a:buNone/>
            </a:pPr>
            <a:r>
              <a:rPr lang="en-US" sz="1050" b="1" i="0" u="none" strike="noStrike" cap="none">
                <a:solidFill>
                  <a:srgbClr val="FFFFFF"/>
                </a:solidFill>
                <a:latin typeface="Calibri"/>
                <a:ea typeface="Calibri"/>
                <a:cs typeface="Calibri"/>
                <a:sym typeface="Calibri"/>
              </a:rPr>
              <a:t>MODEL 1 &amp; 2 — OLS ASSUMPTIONS</a:t>
            </a:r>
            <a:endParaRPr sz="1050" b="0" i="0" u="none" strike="noStrike" cap="none">
              <a:solidFill>
                <a:schemeClr val="dk1"/>
              </a:solidFill>
              <a:latin typeface="Calibri"/>
              <a:ea typeface="Calibri"/>
              <a:cs typeface="Calibri"/>
              <a:sym typeface="Calibri"/>
            </a:endParaRPr>
          </a:p>
        </p:txBody>
      </p:sp>
      <p:sp>
        <p:nvSpPr>
          <p:cNvPr id="693" name="Google Shape;693;p7"/>
          <p:cNvSpPr/>
          <p:nvPr/>
        </p:nvSpPr>
        <p:spPr>
          <a:xfrm>
            <a:off x="457200" y="502920"/>
            <a:ext cx="8229600" cy="6583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1A35"/>
              </a:buClr>
              <a:buSzPts val="2900"/>
              <a:buFont typeface="Georgia"/>
              <a:buNone/>
            </a:pPr>
            <a:r>
              <a:rPr lang="en-US" sz="2900" b="1" i="0" u="none" strike="noStrike" cap="none">
                <a:solidFill>
                  <a:srgbClr val="0C1A35"/>
                </a:solidFill>
                <a:latin typeface="Georgia"/>
                <a:ea typeface="Georgia"/>
                <a:cs typeface="Georgia"/>
                <a:sym typeface="Georgia"/>
              </a:rPr>
              <a:t>OLS Assumptions Are Violated in Practice</a:t>
            </a:r>
            <a:endParaRPr sz="2900" b="0" i="0" u="none" strike="noStrike" cap="none">
              <a:solidFill>
                <a:schemeClr val="dk1"/>
              </a:solidFill>
              <a:latin typeface="Calibri"/>
              <a:ea typeface="Calibri"/>
              <a:cs typeface="Calibri"/>
              <a:sym typeface="Calibri"/>
            </a:endParaRPr>
          </a:p>
        </p:txBody>
      </p:sp>
      <p:sp>
        <p:nvSpPr>
          <p:cNvPr id="694" name="Google Shape;694;p7"/>
          <p:cNvSpPr/>
          <p:nvPr/>
        </p:nvSpPr>
        <p:spPr>
          <a:xfrm>
            <a:off x="457200" y="1207008"/>
            <a:ext cx="8229600" cy="27432"/>
          </a:xfrm>
          <a:prstGeom prst="rect">
            <a:avLst/>
          </a:prstGeom>
          <a:solidFill>
            <a:srgbClr val="2B6CB0"/>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7"/>
          <p:cNvSpPr/>
          <p:nvPr/>
        </p:nvSpPr>
        <p:spPr>
          <a:xfrm>
            <a:off x="457250" y="4572000"/>
            <a:ext cx="8229600" cy="4023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7"/>
          <p:cNvSpPr/>
          <p:nvPr/>
        </p:nvSpPr>
        <p:spPr>
          <a:xfrm>
            <a:off x="598800" y="4599449"/>
            <a:ext cx="7946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50"/>
              <a:buFont typeface="Calibri"/>
              <a:buNone/>
            </a:pPr>
            <a:r>
              <a:rPr lang="en-US" sz="1050" b="0" i="1" u="none" strike="noStrike" cap="none">
                <a:solidFill>
                  <a:srgbClr val="1E293B"/>
                </a:solidFill>
                <a:latin typeface="Calibri"/>
                <a:ea typeface="Calibri"/>
                <a:cs typeface="Calibri"/>
                <a:sym typeface="Calibri"/>
              </a:rPr>
              <a:t>Kurtosis reference: Normal distribution has a kurtosis of </a:t>
            </a:r>
            <a:r>
              <a:rPr lang="en-US" sz="1050" b="0" i="1" u="none" strike="noStrike" cap="none">
                <a:solidFill>
                  <a:srgbClr val="1E293B"/>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0"/>
                  </a:ext>
                </a:extLst>
              </a:rPr>
              <a:t>3.</a:t>
            </a:r>
            <a:r>
              <a:rPr lang="en-US" sz="1050" b="0" i="1" u="none" strike="noStrike" cap="none">
                <a:solidFill>
                  <a:srgbClr val="1E293B"/>
                </a:solidFill>
                <a:latin typeface="Calibri"/>
                <a:ea typeface="Calibri"/>
                <a:cs typeface="Calibri"/>
                <a:sym typeface="Calibri"/>
              </a:rPr>
              <a:t> Financial data has kurtosis levels typically around 5–15+, meaning extreme moves are far more common than OLS assumes.</a:t>
            </a:r>
            <a:endParaRPr sz="1050" b="0" i="0" u="none" strike="noStrike" cap="none">
              <a:solidFill>
                <a:schemeClr val="dk1"/>
              </a:solidFill>
              <a:latin typeface="Calibri"/>
              <a:ea typeface="Calibri"/>
              <a:cs typeface="Calibri"/>
              <a:sym typeface="Calibri"/>
            </a:endParaRPr>
          </a:p>
        </p:txBody>
      </p:sp>
      <p:sp>
        <p:nvSpPr>
          <p:cNvPr id="697" name="Google Shape;697;p7"/>
          <p:cNvSpPr/>
          <p:nvPr/>
        </p:nvSpPr>
        <p:spPr>
          <a:xfrm>
            <a:off x="4709150" y="1371600"/>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7"/>
          <p:cNvSpPr/>
          <p:nvPr/>
        </p:nvSpPr>
        <p:spPr>
          <a:xfrm>
            <a:off x="4709160" y="1371600"/>
            <a:ext cx="91500" cy="14631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7"/>
          <p:cNvSpPr/>
          <p:nvPr/>
        </p:nvSpPr>
        <p:spPr>
          <a:xfrm>
            <a:off x="5073350" y="1506360"/>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300" b="1" i="0" u="none" strike="noStrike" cap="none">
                <a:solidFill>
                  <a:srgbClr val="B91C1C"/>
                </a:solidFill>
                <a:latin typeface="Calibri"/>
                <a:ea typeface="Calibri"/>
                <a:cs typeface="Calibri"/>
                <a:sym typeface="Calibri"/>
              </a:rPr>
              <a:t>Heteroskedasticity (1, 2)</a:t>
            </a:r>
            <a:endParaRPr sz="1300" b="0" i="0" u="none" strike="noStrike" cap="none">
              <a:solidFill>
                <a:schemeClr val="dk1"/>
              </a:solidFill>
              <a:latin typeface="Calibri"/>
              <a:ea typeface="Calibri"/>
              <a:cs typeface="Calibri"/>
              <a:sym typeface="Calibri"/>
            </a:endParaRPr>
          </a:p>
        </p:txBody>
      </p:sp>
      <p:sp>
        <p:nvSpPr>
          <p:cNvPr id="700" name="Google Shape;700;p7"/>
          <p:cNvSpPr/>
          <p:nvPr/>
        </p:nvSpPr>
        <p:spPr>
          <a:xfrm>
            <a:off x="5073350" y="1885468"/>
            <a:ext cx="3337500" cy="682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a:solidFill>
                  <a:srgbClr val="1E293B"/>
                </a:solidFill>
                <a:latin typeface="Calibri"/>
                <a:ea typeface="Calibri"/>
                <a:cs typeface="Calibri"/>
                <a:sym typeface="Calibri"/>
              </a:rPr>
              <a:t>Volatility clustering: tiny errors in calm markets, massive errors during crises. Error variance is NOT constant over time.</a:t>
            </a:r>
            <a:endParaRPr sz="1250" b="0" i="0" u="none" strike="noStrike" cap="none">
              <a:solidFill>
                <a:schemeClr val="dk1"/>
              </a:solidFill>
              <a:latin typeface="Calibri"/>
              <a:ea typeface="Calibri"/>
              <a:cs typeface="Calibri"/>
              <a:sym typeface="Calibri"/>
            </a:endParaRPr>
          </a:p>
        </p:txBody>
      </p:sp>
      <p:sp>
        <p:nvSpPr>
          <p:cNvPr id="701" name="Google Shape;701;p7"/>
          <p:cNvSpPr/>
          <p:nvPr/>
        </p:nvSpPr>
        <p:spPr>
          <a:xfrm>
            <a:off x="4709150" y="2985524"/>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7"/>
          <p:cNvSpPr/>
          <p:nvPr/>
        </p:nvSpPr>
        <p:spPr>
          <a:xfrm>
            <a:off x="4709160" y="2990728"/>
            <a:ext cx="91500" cy="1463100"/>
          </a:xfrm>
          <a:prstGeom prst="rect">
            <a:avLst/>
          </a:prstGeom>
          <a:solidFill>
            <a:srgbClr val="B91C1C"/>
          </a:solidFill>
          <a:ln w="9525" cap="flat" cmpd="sng">
            <a:solidFill>
              <a:srgbClr val="E8A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7"/>
          <p:cNvSpPr/>
          <p:nvPr/>
        </p:nvSpPr>
        <p:spPr>
          <a:xfrm>
            <a:off x="5029250" y="3099899"/>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200"/>
              <a:buFont typeface="Calibri"/>
              <a:buNone/>
            </a:pPr>
            <a:r>
              <a:rPr lang="en-US" sz="1300" b="1" i="0" u="none" strike="noStrike" cap="none">
                <a:solidFill>
                  <a:srgbClr val="B91C1C"/>
                </a:solidFill>
                <a:latin typeface="Calibri"/>
                <a:ea typeface="Calibri"/>
                <a:cs typeface="Calibri"/>
                <a:sym typeface="Calibri"/>
              </a:rPr>
              <a:t>Multicollinearity (2)</a:t>
            </a:r>
            <a:endParaRPr sz="1300" b="0" i="0" u="none" strike="noStrike" cap="none">
              <a:solidFill>
                <a:srgbClr val="B91C1C"/>
              </a:solidFill>
              <a:latin typeface="Calibri"/>
              <a:ea typeface="Calibri"/>
              <a:cs typeface="Calibri"/>
              <a:sym typeface="Calibri"/>
            </a:endParaRPr>
          </a:p>
        </p:txBody>
      </p:sp>
      <p:sp>
        <p:nvSpPr>
          <p:cNvPr id="704" name="Google Shape;704;p7"/>
          <p:cNvSpPr/>
          <p:nvPr/>
        </p:nvSpPr>
        <p:spPr>
          <a:xfrm>
            <a:off x="5073350" y="3513093"/>
            <a:ext cx="3337500" cy="682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a:solidFill>
                  <a:srgbClr val="1E293B"/>
                </a:solidFill>
                <a:latin typeface="Calibri"/>
                <a:ea typeface="Calibri"/>
                <a:cs typeface="Calibri"/>
                <a:sym typeface="Calibri"/>
              </a:rPr>
              <a:t>Δ VIX and Δ Credit Spread are 0.46 correlated. They share explanatory power, inflating standard errors in multi-factor models.</a:t>
            </a:r>
            <a:endParaRPr sz="1250" b="0" i="0" u="none" strike="noStrike" cap="none">
              <a:solidFill>
                <a:srgbClr val="1E293B"/>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050"/>
              <a:buFont typeface="Calibri"/>
              <a:buNone/>
            </a:pPr>
            <a:endParaRPr sz="1050" b="0" i="0" u="none" strike="noStrike" cap="none">
              <a:solidFill>
                <a:srgbClr val="1E293B"/>
              </a:solidFill>
              <a:latin typeface="Calibri"/>
              <a:ea typeface="Calibri"/>
              <a:cs typeface="Calibri"/>
              <a:sym typeface="Calibri"/>
            </a:endParaRPr>
          </a:p>
        </p:txBody>
      </p:sp>
      <p:sp>
        <p:nvSpPr>
          <p:cNvPr id="705" name="Google Shape;705;p7"/>
          <p:cNvSpPr/>
          <p:nvPr/>
        </p:nvSpPr>
        <p:spPr>
          <a:xfrm>
            <a:off x="502850" y="1371600"/>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7"/>
          <p:cNvSpPr/>
          <p:nvPr/>
        </p:nvSpPr>
        <p:spPr>
          <a:xfrm>
            <a:off x="844250" y="1506348"/>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300" b="1" i="0" u="none" strike="noStrike" cap="none">
                <a:solidFill>
                  <a:srgbClr val="B91C1C"/>
                </a:solidFill>
                <a:latin typeface="Calibri"/>
                <a:ea typeface="Calibri"/>
                <a:cs typeface="Calibri"/>
                <a:sym typeface="Calibri"/>
              </a:rPr>
              <a:t>Autocorrelation (1,2, &amp; 3)</a:t>
            </a:r>
            <a:endParaRPr sz="1300" b="0" i="0" u="none" strike="noStrike" cap="none">
              <a:solidFill>
                <a:schemeClr val="dk1"/>
              </a:solidFill>
              <a:latin typeface="Calibri"/>
              <a:ea typeface="Calibri"/>
              <a:cs typeface="Calibri"/>
              <a:sym typeface="Calibri"/>
            </a:endParaRPr>
          </a:p>
        </p:txBody>
      </p:sp>
      <p:sp>
        <p:nvSpPr>
          <p:cNvPr id="707" name="Google Shape;707;p7"/>
          <p:cNvSpPr/>
          <p:nvPr/>
        </p:nvSpPr>
        <p:spPr>
          <a:xfrm>
            <a:off x="844250" y="1885468"/>
            <a:ext cx="3337500" cy="682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a:solidFill>
                  <a:srgbClr val="1E293B"/>
                </a:solidFill>
                <a:latin typeface="Calibri"/>
                <a:ea typeface="Calibri"/>
                <a:cs typeface="Calibri"/>
                <a:sym typeface="Calibri"/>
              </a:rPr>
              <a:t>If model underpredicts during a crash, it also underpredicts the next day. Crises cluster and errors are not independent over time.</a:t>
            </a:r>
            <a:endParaRPr sz="1250" b="0" i="0" u="none" strike="noStrike" cap="none">
              <a:solidFill>
                <a:srgbClr val="1E293B"/>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050"/>
              <a:buFont typeface="Calibri"/>
              <a:buNone/>
            </a:pPr>
            <a:endParaRPr sz="1050" b="0" i="0" u="none" strike="noStrike" cap="none">
              <a:solidFill>
                <a:srgbClr val="1E293B"/>
              </a:solidFill>
              <a:latin typeface="Calibri"/>
              <a:ea typeface="Calibri"/>
              <a:cs typeface="Calibri"/>
              <a:sym typeface="Calibri"/>
            </a:endParaRPr>
          </a:p>
        </p:txBody>
      </p:sp>
      <p:sp>
        <p:nvSpPr>
          <p:cNvPr id="708" name="Google Shape;708;p7"/>
          <p:cNvSpPr/>
          <p:nvPr/>
        </p:nvSpPr>
        <p:spPr>
          <a:xfrm>
            <a:off x="457210" y="1371604"/>
            <a:ext cx="91500" cy="14631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7"/>
          <p:cNvSpPr/>
          <p:nvPr/>
        </p:nvSpPr>
        <p:spPr>
          <a:xfrm>
            <a:off x="502850" y="2985524"/>
            <a:ext cx="3977700" cy="1463100"/>
          </a:xfrm>
          <a:prstGeom prst="rect">
            <a:avLst/>
          </a:prstGeom>
          <a:solidFill>
            <a:srgbClr val="F7F9FC"/>
          </a:solidFill>
          <a:ln w="9525" cap="flat" cmpd="sng">
            <a:solidFill>
              <a:srgbClr val="CBD5E1"/>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7"/>
          <p:cNvSpPr/>
          <p:nvPr/>
        </p:nvSpPr>
        <p:spPr>
          <a:xfrm>
            <a:off x="457198" y="2990721"/>
            <a:ext cx="91500" cy="1463100"/>
          </a:xfrm>
          <a:prstGeom prst="rect">
            <a:avLst/>
          </a:prstGeom>
          <a:solidFill>
            <a:srgbClr val="B91C1C"/>
          </a:solidFill>
          <a:ln w="9525" cap="flat" cmpd="sng">
            <a:solidFill>
              <a:srgbClr val="B91C1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7"/>
          <p:cNvSpPr/>
          <p:nvPr/>
        </p:nvSpPr>
        <p:spPr>
          <a:xfrm>
            <a:off x="879550" y="3099899"/>
            <a:ext cx="3337500" cy="29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91C1C"/>
              </a:buClr>
              <a:buSzPts val="1200"/>
              <a:buFont typeface="Calibri"/>
              <a:buNone/>
            </a:pPr>
            <a:r>
              <a:rPr lang="en-US" sz="1300" b="1" i="0" u="none" strike="noStrike" cap="none">
                <a:solidFill>
                  <a:srgbClr val="B91C1C"/>
                </a:solidFill>
                <a:latin typeface="Calibri"/>
                <a:ea typeface="Calibri"/>
                <a:cs typeface="Calibri"/>
                <a:sym typeface="Calibri"/>
              </a:rPr>
              <a:t>Normal Residuals (1,2,3)</a:t>
            </a:r>
            <a:endParaRPr sz="1300" b="0" i="0" u="none" strike="noStrike" cap="none">
              <a:solidFill>
                <a:schemeClr val="dk1"/>
              </a:solidFill>
              <a:latin typeface="Calibri"/>
              <a:ea typeface="Calibri"/>
              <a:cs typeface="Calibri"/>
              <a:sym typeface="Calibri"/>
            </a:endParaRPr>
          </a:p>
        </p:txBody>
      </p:sp>
      <p:sp>
        <p:nvSpPr>
          <p:cNvPr id="712" name="Google Shape;712;p7"/>
          <p:cNvSpPr/>
          <p:nvPr/>
        </p:nvSpPr>
        <p:spPr>
          <a:xfrm>
            <a:off x="879550" y="3513099"/>
            <a:ext cx="3337500" cy="682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E293B"/>
              </a:buClr>
              <a:buSzPts val="1050"/>
              <a:buFont typeface="Calibri"/>
              <a:buNone/>
            </a:pPr>
            <a:r>
              <a:rPr lang="en-US" sz="1250" b="0" i="0" u="none" strike="noStrike" cap="none">
                <a:solidFill>
                  <a:srgbClr val="1E293B"/>
                </a:solidFill>
                <a:latin typeface="Calibri"/>
                <a:ea typeface="Calibri"/>
                <a:cs typeface="Calibri"/>
                <a:sym typeface="Calibri"/>
              </a:rPr>
              <a:t>Financial data has fat tails (high kurtosis &gt; 3). Extreme events happen far more often than a normal distribution predicts.</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7"/>
        <p:cNvGrpSpPr/>
        <p:nvPr/>
      </p:nvGrpSpPr>
      <p:grpSpPr>
        <a:xfrm>
          <a:off x="0" y="0"/>
          <a:ext cx="0" cy="0"/>
          <a:chOff x="0" y="0"/>
          <a:chExt cx="0" cy="0"/>
        </a:xfrm>
      </p:grpSpPr>
      <p:sp>
        <p:nvSpPr>
          <p:cNvPr id="718" name="Google Shape;718;p17"/>
          <p:cNvSpPr/>
          <p:nvPr/>
        </p:nvSpPr>
        <p:spPr>
          <a:xfrm>
            <a:off x="457200" y="108956"/>
            <a:ext cx="82296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3400"/>
              <a:buFont typeface="Georgia"/>
              <a:buNone/>
            </a:pPr>
            <a:r>
              <a:rPr lang="en-US" sz="3400" b="1" i="0" u="none" strike="noStrike" cap="none">
                <a:solidFill>
                  <a:srgbClr val="0C1A35"/>
                </a:solidFill>
                <a:latin typeface="Georgia"/>
                <a:ea typeface="Georgia"/>
                <a:cs typeface="Georgia"/>
                <a:sym typeface="Georgia"/>
              </a:rPr>
              <a:t>What's Next?</a:t>
            </a:r>
            <a:endParaRPr sz="3400" b="0" i="0" u="none" strike="noStrike" cap="none">
              <a:solidFill>
                <a:srgbClr val="0C1A35"/>
              </a:solidFill>
              <a:latin typeface="Calibri"/>
              <a:ea typeface="Calibri"/>
              <a:cs typeface="Calibri"/>
              <a:sym typeface="Calibri"/>
            </a:endParaRPr>
          </a:p>
        </p:txBody>
      </p:sp>
      <p:sp>
        <p:nvSpPr>
          <p:cNvPr id="719" name="Google Shape;719;p17"/>
          <p:cNvSpPr/>
          <p:nvPr/>
        </p:nvSpPr>
        <p:spPr>
          <a:xfrm>
            <a:off x="457200" y="623945"/>
            <a:ext cx="8229600" cy="329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FD7ED"/>
              </a:buClr>
              <a:buSzPts val="1400"/>
              <a:buFont typeface="Calibri"/>
              <a:buNone/>
            </a:pPr>
            <a:r>
              <a:rPr lang="en-US" sz="1400" b="0" i="1" u="none" strike="noStrike" cap="none">
                <a:solidFill>
                  <a:srgbClr val="0C1A35"/>
                </a:solidFill>
                <a:latin typeface="Calibri"/>
                <a:ea typeface="Calibri"/>
                <a:cs typeface="Calibri"/>
                <a:sym typeface="Calibri"/>
              </a:rPr>
              <a:t>Four directions to could make the model materially more powerful</a:t>
            </a:r>
            <a:endParaRPr sz="1400" b="0" i="0" u="none" strike="noStrike" cap="none">
              <a:solidFill>
                <a:srgbClr val="0C1A35"/>
              </a:solidFill>
              <a:latin typeface="Calibri"/>
              <a:ea typeface="Calibri"/>
              <a:cs typeface="Calibri"/>
              <a:sym typeface="Calibri"/>
            </a:endParaRPr>
          </a:p>
        </p:txBody>
      </p:sp>
      <p:sp>
        <p:nvSpPr>
          <p:cNvPr id="720" name="Google Shape;720;p17"/>
          <p:cNvSpPr/>
          <p:nvPr/>
        </p:nvSpPr>
        <p:spPr>
          <a:xfrm>
            <a:off x="342900" y="1000327"/>
            <a:ext cx="4114800" cy="1867500"/>
          </a:xfrm>
          <a:prstGeom prst="rect">
            <a:avLst/>
          </a:prstGeom>
          <a:solidFill>
            <a:schemeClr val="lt1"/>
          </a:solidFill>
          <a:ln w="9525" cap="flat" cmpd="sng">
            <a:solidFill>
              <a:srgbClr val="0F766E"/>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21" name="Google Shape;721;p17" descr="preencoded.png"/>
          <p:cNvPicPr preferRelativeResize="0"/>
          <p:nvPr/>
        </p:nvPicPr>
        <p:blipFill rotWithShape="1">
          <a:blip r:embed="rId3">
            <a:alphaModFix/>
          </a:blip>
          <a:srcRect/>
          <a:stretch/>
        </p:blipFill>
        <p:spPr>
          <a:xfrm>
            <a:off x="520126" y="1108900"/>
            <a:ext cx="475488" cy="475488"/>
          </a:xfrm>
          <a:prstGeom prst="rect">
            <a:avLst/>
          </a:prstGeom>
          <a:noFill/>
          <a:ln>
            <a:noFill/>
          </a:ln>
        </p:spPr>
      </p:pic>
      <p:sp>
        <p:nvSpPr>
          <p:cNvPr id="722" name="Google Shape;722;p17"/>
          <p:cNvSpPr/>
          <p:nvPr/>
        </p:nvSpPr>
        <p:spPr>
          <a:xfrm>
            <a:off x="1120140" y="1000327"/>
            <a:ext cx="3200400" cy="48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i="0" u="none" strike="noStrike" cap="none">
                <a:solidFill>
                  <a:srgbClr val="2B6CB0"/>
                </a:solidFill>
                <a:latin typeface="Calibri"/>
                <a:ea typeface="Calibri"/>
                <a:cs typeface="Calibri"/>
                <a:sym typeface="Calibri"/>
              </a:rPr>
              <a:t>Logistic Regression</a:t>
            </a:r>
            <a:endParaRPr sz="1500" b="0" i="0" u="none" strike="noStrike" cap="none">
              <a:solidFill>
                <a:srgbClr val="2B6CB0"/>
              </a:solidFill>
              <a:latin typeface="Calibri"/>
              <a:ea typeface="Calibri"/>
              <a:cs typeface="Calibri"/>
              <a:sym typeface="Calibri"/>
            </a:endParaRPr>
          </a:p>
        </p:txBody>
      </p:sp>
      <p:sp>
        <p:nvSpPr>
          <p:cNvPr id="723" name="Google Shape;723;p17"/>
          <p:cNvSpPr/>
          <p:nvPr/>
        </p:nvSpPr>
        <p:spPr>
          <a:xfrm>
            <a:off x="4686300" y="1000327"/>
            <a:ext cx="4114800" cy="1867500"/>
          </a:xfrm>
          <a:prstGeom prst="rect">
            <a:avLst/>
          </a:prstGeom>
          <a:solidFill>
            <a:schemeClr val="lt1"/>
          </a:solidFill>
          <a:ln w="9525" cap="flat" cmpd="sng">
            <a:solidFill>
              <a:srgbClr val="0F766E"/>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24" name="Google Shape;724;p17" descr="preencoded.png"/>
          <p:cNvPicPr preferRelativeResize="0"/>
          <p:nvPr/>
        </p:nvPicPr>
        <p:blipFill rotWithShape="1">
          <a:blip r:embed="rId4">
            <a:alphaModFix/>
          </a:blip>
          <a:srcRect/>
          <a:stretch/>
        </p:blipFill>
        <p:spPr>
          <a:xfrm>
            <a:off x="4871026" y="1070962"/>
            <a:ext cx="475488" cy="564588"/>
          </a:xfrm>
          <a:prstGeom prst="rect">
            <a:avLst/>
          </a:prstGeom>
          <a:noFill/>
          <a:ln>
            <a:noFill/>
          </a:ln>
        </p:spPr>
      </p:pic>
      <p:sp>
        <p:nvSpPr>
          <p:cNvPr id="725" name="Google Shape;725;p17"/>
          <p:cNvSpPr/>
          <p:nvPr/>
        </p:nvSpPr>
        <p:spPr>
          <a:xfrm>
            <a:off x="5463540" y="994249"/>
            <a:ext cx="3200400" cy="48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i="0" u="none" strike="noStrike" cap="none">
                <a:solidFill>
                  <a:srgbClr val="2B6CB0"/>
                </a:solidFill>
                <a:latin typeface="Calibri"/>
                <a:ea typeface="Calibri"/>
                <a:cs typeface="Calibri"/>
                <a:sym typeface="Calibri"/>
              </a:rPr>
              <a:t>Overlay DXY &amp; UST Yields with VIX</a:t>
            </a:r>
            <a:r>
              <a:rPr lang="en-US" sz="1300" b="1" i="0" u="none" strike="noStrike" cap="none">
                <a:solidFill>
                  <a:srgbClr val="2B6CB0"/>
                </a:solidFill>
                <a:latin typeface="Calibri"/>
                <a:ea typeface="Calibri"/>
                <a:cs typeface="Calibri"/>
                <a:sym typeface="Calibri"/>
              </a:rPr>
              <a:t> </a:t>
            </a:r>
            <a:endParaRPr sz="1300" b="0" i="0" u="none" strike="noStrike" cap="none">
              <a:solidFill>
                <a:srgbClr val="2B6CB0"/>
              </a:solidFill>
              <a:latin typeface="Calibri"/>
              <a:ea typeface="Calibri"/>
              <a:cs typeface="Calibri"/>
              <a:sym typeface="Calibri"/>
            </a:endParaRPr>
          </a:p>
        </p:txBody>
      </p:sp>
      <p:sp>
        <p:nvSpPr>
          <p:cNvPr id="726" name="Google Shape;726;p17"/>
          <p:cNvSpPr/>
          <p:nvPr/>
        </p:nvSpPr>
        <p:spPr>
          <a:xfrm>
            <a:off x="342900" y="3021025"/>
            <a:ext cx="4114800" cy="1849800"/>
          </a:xfrm>
          <a:prstGeom prst="rect">
            <a:avLst/>
          </a:prstGeom>
          <a:solidFill>
            <a:schemeClr val="lt1"/>
          </a:solidFill>
          <a:ln w="9525" cap="flat" cmpd="sng">
            <a:solidFill>
              <a:srgbClr val="0F766E"/>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27" name="Google Shape;727;p17" descr="preencoded.png"/>
          <p:cNvPicPr preferRelativeResize="0"/>
          <p:nvPr/>
        </p:nvPicPr>
        <p:blipFill rotWithShape="1">
          <a:blip r:embed="rId5">
            <a:alphaModFix/>
          </a:blip>
          <a:srcRect/>
          <a:stretch/>
        </p:blipFill>
        <p:spPr>
          <a:xfrm>
            <a:off x="520126" y="3180381"/>
            <a:ext cx="475488" cy="475488"/>
          </a:xfrm>
          <a:prstGeom prst="rect">
            <a:avLst/>
          </a:prstGeom>
          <a:noFill/>
          <a:ln>
            <a:noFill/>
          </a:ln>
        </p:spPr>
      </p:pic>
      <p:sp>
        <p:nvSpPr>
          <p:cNvPr id="728" name="Google Shape;728;p17"/>
          <p:cNvSpPr/>
          <p:nvPr/>
        </p:nvSpPr>
        <p:spPr>
          <a:xfrm>
            <a:off x="1120140" y="2994847"/>
            <a:ext cx="3200400" cy="48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i="0" u="none" strike="noStrike" cap="none">
                <a:solidFill>
                  <a:srgbClr val="2B6CB0"/>
                </a:solidFill>
                <a:latin typeface="Calibri"/>
                <a:ea typeface="Calibri"/>
                <a:cs typeface="Calibri"/>
                <a:sym typeface="Calibri"/>
              </a:rPr>
              <a:t>Regime Splitting</a:t>
            </a:r>
            <a:endParaRPr sz="1500" b="0" i="0" u="none" strike="noStrike" cap="none">
              <a:solidFill>
                <a:srgbClr val="2B6CB0"/>
              </a:solidFill>
              <a:latin typeface="Calibri"/>
              <a:ea typeface="Calibri"/>
              <a:cs typeface="Calibri"/>
              <a:sym typeface="Calibri"/>
            </a:endParaRPr>
          </a:p>
        </p:txBody>
      </p:sp>
      <p:sp>
        <p:nvSpPr>
          <p:cNvPr id="729" name="Google Shape;729;p17"/>
          <p:cNvSpPr/>
          <p:nvPr/>
        </p:nvSpPr>
        <p:spPr>
          <a:xfrm>
            <a:off x="4686300" y="3021025"/>
            <a:ext cx="4114800" cy="1849800"/>
          </a:xfrm>
          <a:prstGeom prst="rect">
            <a:avLst/>
          </a:prstGeom>
          <a:solidFill>
            <a:schemeClr val="lt1"/>
          </a:solidFill>
          <a:ln w="9525" cap="flat" cmpd="sng">
            <a:solidFill>
              <a:srgbClr val="166534"/>
            </a:solidFill>
            <a:prstDash val="solid"/>
            <a:round/>
            <a:headEnd type="none" w="sm" len="sm"/>
            <a:tailEnd type="none" w="sm" len="sm"/>
          </a:ln>
          <a:effectLst>
            <a:outerShdw blurRad="1270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30" name="Google Shape;730;p17" descr="preencoded.png"/>
          <p:cNvPicPr preferRelativeResize="0"/>
          <p:nvPr/>
        </p:nvPicPr>
        <p:blipFill rotWithShape="1">
          <a:blip r:embed="rId6">
            <a:alphaModFix/>
          </a:blip>
          <a:srcRect/>
          <a:stretch/>
        </p:blipFill>
        <p:spPr>
          <a:xfrm>
            <a:off x="4871026" y="3180381"/>
            <a:ext cx="475488" cy="559203"/>
          </a:xfrm>
          <a:prstGeom prst="rect">
            <a:avLst/>
          </a:prstGeom>
          <a:noFill/>
          <a:ln>
            <a:noFill/>
          </a:ln>
        </p:spPr>
      </p:pic>
      <p:sp>
        <p:nvSpPr>
          <p:cNvPr id="731" name="Google Shape;731;p17"/>
          <p:cNvSpPr/>
          <p:nvPr/>
        </p:nvSpPr>
        <p:spPr>
          <a:xfrm>
            <a:off x="5463540" y="2991302"/>
            <a:ext cx="3200400" cy="48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1300"/>
              <a:buFont typeface="Calibri"/>
              <a:buNone/>
            </a:pPr>
            <a:r>
              <a:rPr lang="en-US" sz="1500" b="1" i="0" u="none" strike="noStrike" cap="none">
                <a:solidFill>
                  <a:srgbClr val="2B6CB0"/>
                </a:solidFill>
                <a:latin typeface="Calibri"/>
                <a:ea typeface="Calibri"/>
                <a:cs typeface="Calibri"/>
                <a:sym typeface="Calibri"/>
              </a:rPr>
              <a:t>Trade Individual Bonds Instead </a:t>
            </a:r>
            <a:endParaRPr sz="1500" b="0" i="0" u="none" strike="noStrike" cap="none">
              <a:solidFill>
                <a:srgbClr val="2B6CB0"/>
              </a:solidFill>
              <a:latin typeface="Calibri"/>
              <a:ea typeface="Calibri"/>
              <a:cs typeface="Calibri"/>
              <a:sym typeface="Calibri"/>
            </a:endParaRPr>
          </a:p>
        </p:txBody>
      </p:sp>
      <p:sp>
        <p:nvSpPr>
          <p:cNvPr id="732" name="Google Shape;732;p17"/>
          <p:cNvSpPr/>
          <p:nvPr/>
        </p:nvSpPr>
        <p:spPr>
          <a:xfrm>
            <a:off x="1120150" y="3413100"/>
            <a:ext cx="32004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The recoveries in high-VIX spikes (&gt;25) vs moderate-VIX spikes are fundamentally different</a:t>
            </a:r>
            <a:endParaRPr sz="1100" b="0" i="0" u="none" strike="noStrike" cap="none">
              <a:solidFill>
                <a:srgbClr val="1E293B"/>
              </a:solidFill>
              <a:latin typeface="Calibri"/>
              <a:ea typeface="Calibri"/>
              <a:cs typeface="Calibri"/>
              <a:sym typeface="Calibri"/>
            </a:endParaRPr>
          </a:p>
          <a:p>
            <a:pPr marL="342900" marR="0" lvl="0" indent="-342900" algn="l" rtl="0">
              <a:lnSpc>
                <a:spcPct val="90000"/>
              </a:lnSpc>
              <a:spcBef>
                <a:spcPts val="100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It seems that higher VIX spikes leave longer impressions and cause price movements to be more choppy.</a:t>
            </a:r>
            <a:endParaRPr sz="1100" b="0" i="0" u="none" strike="noStrike" cap="none">
              <a:solidFill>
                <a:srgbClr val="1E293B"/>
              </a:solidFill>
              <a:latin typeface="Calibri"/>
              <a:ea typeface="Calibri"/>
              <a:cs typeface="Calibri"/>
              <a:sym typeface="Calibri"/>
            </a:endParaRPr>
          </a:p>
          <a:p>
            <a:pPr marL="342900" marR="0" lvl="0" indent="-342900" algn="l" rtl="0">
              <a:lnSpc>
                <a:spcPct val="90000"/>
              </a:lnSpc>
              <a:spcBef>
                <a:spcPts val="1000"/>
              </a:spcBef>
              <a:spcAft>
                <a:spcPts val="100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Bifurcating our model could improve signal quality further.</a:t>
            </a:r>
            <a:endParaRPr sz="1100" b="0" i="0" u="none" strike="noStrike" cap="none">
              <a:solidFill>
                <a:srgbClr val="1E293B"/>
              </a:solidFill>
              <a:latin typeface="Calibri"/>
              <a:ea typeface="Calibri"/>
              <a:cs typeface="Calibri"/>
              <a:sym typeface="Calibri"/>
            </a:endParaRPr>
          </a:p>
        </p:txBody>
      </p:sp>
      <p:sp>
        <p:nvSpPr>
          <p:cNvPr id="733" name="Google Shape;733;p17"/>
          <p:cNvSpPr/>
          <p:nvPr/>
        </p:nvSpPr>
        <p:spPr>
          <a:xfrm>
            <a:off x="1120150" y="1497025"/>
            <a:ext cx="32004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Using a machine learning model, we could predict the probability of recovery per VIX spike. From there, we could only enter trades when the probability &gt; 60%. </a:t>
            </a:r>
            <a:endParaRPr sz="1100" b="0" i="0" u="none" strike="noStrike" cap="none">
              <a:solidFill>
                <a:srgbClr val="1E293B"/>
              </a:solidFill>
              <a:latin typeface="Calibri"/>
              <a:ea typeface="Calibri"/>
              <a:cs typeface="Calibri"/>
              <a:sym typeface="Calibri"/>
            </a:endParaRPr>
          </a:p>
          <a:p>
            <a:pPr marL="342900" marR="0" lvl="0" indent="-342900" algn="l" rtl="0">
              <a:lnSpc>
                <a:spcPct val="90000"/>
              </a:lnSpc>
              <a:spcBef>
                <a:spcPts val="1000"/>
              </a:spcBef>
              <a:spcAft>
                <a:spcPts val="1000"/>
              </a:spcAft>
              <a:buClr>
                <a:srgbClr val="1E293B"/>
              </a:buClr>
              <a:buSzPts val="1100"/>
              <a:buFont typeface="Calibri"/>
              <a:buChar char="•"/>
            </a:pPr>
            <a:r>
              <a:rPr lang="en-US" sz="1100" b="0" i="0" u="none" strike="noStrike" cap="none">
                <a:solidFill>
                  <a:srgbClr val="1E293B"/>
                </a:solidFill>
                <a:latin typeface="Calibri"/>
                <a:ea typeface="Calibri"/>
                <a:cs typeface="Calibri"/>
                <a:sym typeface="Calibri"/>
              </a:rPr>
              <a:t>One key advantage is that it’d filter out the 46% fail rate.</a:t>
            </a:r>
            <a:endParaRPr sz="1100" b="0" i="0" u="none" strike="noStrike" cap="none">
              <a:solidFill>
                <a:srgbClr val="1E293B"/>
              </a:solidFill>
              <a:latin typeface="Calibri"/>
              <a:ea typeface="Calibri"/>
              <a:cs typeface="Calibri"/>
              <a:sym typeface="Calibri"/>
            </a:endParaRPr>
          </a:p>
        </p:txBody>
      </p:sp>
      <p:sp>
        <p:nvSpPr>
          <p:cNvPr id="734" name="Google Shape;734;p17"/>
          <p:cNvSpPr/>
          <p:nvPr/>
        </p:nvSpPr>
        <p:spPr>
          <a:xfrm>
            <a:off x="5463540" y="1340827"/>
            <a:ext cx="32004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80000"/>
              </a:lnSpc>
              <a:spcBef>
                <a:spcPts val="10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This effectively combines the multifactor and threshold models</a:t>
            </a:r>
            <a:endParaRPr sz="1100" b="0" i="0" u="none" strike="noStrike" cap="none" dirty="0">
              <a:solidFill>
                <a:srgbClr val="1E293B"/>
              </a:solidFill>
              <a:latin typeface="Calibri"/>
              <a:ea typeface="Calibri"/>
              <a:cs typeface="Calibri"/>
              <a:sym typeface="Calibri"/>
            </a:endParaRPr>
          </a:p>
          <a:p>
            <a:pPr marL="342900" marR="0" lvl="0" indent="-342900" algn="l" rtl="0">
              <a:lnSpc>
                <a:spcPct val="80000"/>
              </a:lnSpc>
              <a:spcBef>
                <a:spcPts val="10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It would recognize </a:t>
            </a:r>
            <a:r>
              <a:rPr lang="en-US" sz="1100" b="0" i="0" u="none" strike="noStrike" cap="none" dirty="0">
                <a:solidFill>
                  <a:srgbClr val="1E293B"/>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1"/>
                  </a:ext>
                </a:extLst>
              </a:rPr>
              <a:t>longer-term structural shocks </a:t>
            </a:r>
            <a:r>
              <a:rPr lang="en-US" sz="1100" b="0" i="0" u="none" strike="noStrike" cap="none" dirty="0">
                <a:solidFill>
                  <a:srgbClr val="1E293B"/>
                </a:solidFill>
                <a:latin typeface="Calibri"/>
                <a:ea typeface="Calibri"/>
                <a:cs typeface="Calibri"/>
                <a:sym typeface="Calibri"/>
              </a:rPr>
              <a:t>that would keep the price of EM bonds depressed. </a:t>
            </a:r>
            <a:endParaRPr sz="1100" b="0" i="0" u="none" strike="noStrike" cap="none" dirty="0">
              <a:solidFill>
                <a:srgbClr val="1E293B"/>
              </a:solidFill>
              <a:latin typeface="Calibri"/>
              <a:ea typeface="Calibri"/>
              <a:cs typeface="Calibri"/>
              <a:sym typeface="Calibri"/>
            </a:endParaRPr>
          </a:p>
          <a:p>
            <a:pPr marL="342900" marR="0" lvl="0" indent="-342900" algn="l" rtl="0">
              <a:lnSpc>
                <a:spcPct val="80000"/>
              </a:lnSpc>
              <a:spcBef>
                <a:spcPts val="100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From there we could isolate pure headline shocks (which would recover earlier). </a:t>
            </a:r>
            <a:endParaRPr sz="1100" b="0" i="0" u="none" strike="noStrike" cap="none" dirty="0">
              <a:solidFill>
                <a:srgbClr val="1E293B"/>
              </a:solidFill>
              <a:latin typeface="Calibri"/>
              <a:ea typeface="Calibri"/>
              <a:cs typeface="Calibri"/>
              <a:sym typeface="Calibri"/>
            </a:endParaRPr>
          </a:p>
        </p:txBody>
      </p:sp>
      <p:sp>
        <p:nvSpPr>
          <p:cNvPr id="735" name="Google Shape;735;p17"/>
          <p:cNvSpPr/>
          <p:nvPr/>
        </p:nvSpPr>
        <p:spPr>
          <a:xfrm>
            <a:off x="5463529" y="3352675"/>
            <a:ext cx="3200400" cy="1186500"/>
          </a:xfrm>
          <a:prstGeom prst="rect">
            <a:avLst/>
          </a:prstGeom>
          <a:noFill/>
          <a:ln>
            <a:noFill/>
          </a:ln>
        </p:spPr>
        <p:txBody>
          <a:bodyPr spcFirstLastPara="1" wrap="square" lIns="25400" tIns="50800" rIns="0" bIns="0" anchor="t" anchorCtr="0">
            <a:noAutofit/>
          </a:bodyPr>
          <a:lstStyle/>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One limitation in trading the EMB Index is that we lose out on returns due to diversification</a:t>
            </a:r>
            <a:endParaRPr sz="1100" b="0" i="0" u="none" strike="noStrike" cap="none" dirty="0">
              <a:solidFill>
                <a:srgbClr val="1E293B"/>
              </a:solidFill>
              <a:latin typeface="Calibri"/>
              <a:ea typeface="Calibri"/>
              <a:cs typeface="Calibri"/>
              <a:sym typeface="Calibri"/>
            </a:endParaRPr>
          </a:p>
          <a:p>
            <a:pPr marL="0" marR="0" lvl="0" indent="0" algn="l" rtl="0">
              <a:lnSpc>
                <a:spcPct val="90000"/>
              </a:lnSpc>
              <a:spcBef>
                <a:spcPts val="0"/>
              </a:spcBef>
              <a:spcAft>
                <a:spcPts val="0"/>
              </a:spcAft>
              <a:buClr>
                <a:srgbClr val="000000"/>
              </a:buClr>
              <a:buSzPts val="1100"/>
              <a:buFont typeface="Arial"/>
              <a:buNone/>
            </a:pPr>
            <a:endParaRPr sz="1100" b="0" i="0" u="none" strike="noStrike" cap="none" dirty="0">
              <a:solidFill>
                <a:srgbClr val="1E293B"/>
              </a:solidFill>
              <a:latin typeface="Calibri"/>
              <a:ea typeface="Calibri"/>
              <a:cs typeface="Calibri"/>
              <a:sym typeface="Calibri"/>
            </a:endParaRPr>
          </a:p>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Since the index combines bonds that have different sensitivities to news &amp; capital outflows, the patterns we talked about could be diluted</a:t>
            </a:r>
            <a:endParaRPr sz="1100" b="0" i="0" u="none" strike="noStrike" cap="none" dirty="0">
              <a:solidFill>
                <a:srgbClr val="1E293B"/>
              </a:solidFill>
              <a:latin typeface="Calibri"/>
              <a:ea typeface="Calibri"/>
              <a:cs typeface="Calibri"/>
              <a:sym typeface="Calibri"/>
            </a:endParaRPr>
          </a:p>
          <a:p>
            <a:pPr marL="0" marR="0" lvl="0" indent="0" algn="l" rtl="0">
              <a:lnSpc>
                <a:spcPct val="90000"/>
              </a:lnSpc>
              <a:spcBef>
                <a:spcPts val="0"/>
              </a:spcBef>
              <a:spcAft>
                <a:spcPts val="0"/>
              </a:spcAft>
              <a:buClr>
                <a:srgbClr val="000000"/>
              </a:buClr>
              <a:buSzPts val="1100"/>
              <a:buFont typeface="Arial"/>
              <a:buNone/>
            </a:pPr>
            <a:endParaRPr sz="1100" b="0" i="0" u="none" strike="noStrike" cap="none" dirty="0">
              <a:solidFill>
                <a:srgbClr val="1E293B"/>
              </a:solidFill>
              <a:latin typeface="Calibri"/>
              <a:ea typeface="Calibri"/>
              <a:cs typeface="Calibri"/>
              <a:sym typeface="Calibri"/>
            </a:endParaRPr>
          </a:p>
          <a:p>
            <a:pPr marL="342900" marR="0" lvl="0" indent="-342900" algn="l" rtl="0">
              <a:lnSpc>
                <a:spcPct val="90000"/>
              </a:lnSpc>
              <a:spcBef>
                <a:spcPts val="0"/>
              </a:spcBef>
              <a:spcAft>
                <a:spcPts val="0"/>
              </a:spcAft>
              <a:buClr>
                <a:srgbClr val="1E293B"/>
              </a:buClr>
              <a:buSzPts val="1100"/>
              <a:buFont typeface="Calibri"/>
              <a:buChar char="•"/>
            </a:pPr>
            <a:r>
              <a:rPr lang="en-US" sz="1100" b="0" i="0" u="none" strike="noStrike" cap="none" dirty="0">
                <a:solidFill>
                  <a:srgbClr val="1E293B"/>
                </a:solidFill>
                <a:latin typeface="Calibri"/>
                <a:ea typeface="Calibri"/>
                <a:cs typeface="Calibri"/>
                <a:sym typeface="Calibri"/>
              </a:rPr>
              <a:t>The next step is to construct a bond portfolio </a:t>
            </a:r>
            <a:r>
              <a:rPr lang="en-US" sz="1100" dirty="0">
                <a:solidFill>
                  <a:srgbClr val="1E293B"/>
                </a:solidFill>
                <a:latin typeface="Calibri"/>
                <a:ea typeface="Calibri"/>
                <a:cs typeface="Calibri"/>
                <a:sym typeface="Calibri"/>
              </a:rPr>
              <a:t>from geopolitically sensitive countries</a:t>
            </a:r>
            <a:r>
              <a:rPr lang="en-US" sz="1100" b="0" i="0" u="none" strike="noStrike" cap="none" dirty="0">
                <a:solidFill>
                  <a:srgbClr val="1E293B"/>
                </a:solidFill>
                <a:latin typeface="Calibri"/>
                <a:ea typeface="Calibri"/>
                <a:cs typeface="Calibri"/>
                <a:sym typeface="Calibri"/>
              </a:rPr>
              <a:t> like Turkey.</a:t>
            </a:r>
            <a:endParaRPr sz="1100" b="0" i="0" u="none" strike="noStrike" cap="none" dirty="0">
              <a:solidFill>
                <a:srgbClr val="1E293B"/>
              </a:solidFill>
              <a:latin typeface="Calibri"/>
              <a:ea typeface="Calibri"/>
              <a:cs typeface="Calibri"/>
              <a:sym typeface="Calibri"/>
            </a:endParaRPr>
          </a:p>
        </p:txBody>
      </p:sp>
      <p:sp>
        <p:nvSpPr>
          <p:cNvPr id="736" name="Google Shape;736;p17"/>
          <p:cNvSpPr/>
          <p:nvPr/>
        </p:nvSpPr>
        <p:spPr>
          <a:xfrm>
            <a:off x="304100" y="994250"/>
            <a:ext cx="91500" cy="18903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17"/>
          <p:cNvSpPr/>
          <p:nvPr/>
        </p:nvSpPr>
        <p:spPr>
          <a:xfrm>
            <a:off x="304100" y="3009175"/>
            <a:ext cx="91500" cy="18735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17"/>
          <p:cNvSpPr/>
          <p:nvPr/>
        </p:nvSpPr>
        <p:spPr>
          <a:xfrm>
            <a:off x="4662500" y="994250"/>
            <a:ext cx="91500" cy="18903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17"/>
          <p:cNvSpPr/>
          <p:nvPr/>
        </p:nvSpPr>
        <p:spPr>
          <a:xfrm>
            <a:off x="4662511" y="3012839"/>
            <a:ext cx="91500" cy="1873500"/>
          </a:xfrm>
          <a:prstGeom prst="rect">
            <a:avLst/>
          </a:prstGeom>
          <a:solidFill>
            <a:srgbClr val="2B6CB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8364E"/>
        </a:solidFill>
        <a:effectLst/>
      </p:bgPr>
    </p:bg>
    <p:spTree>
      <p:nvGrpSpPr>
        <p:cNvPr id="1" name="Shape 744"/>
        <p:cNvGrpSpPr/>
        <p:nvPr/>
      </p:nvGrpSpPr>
      <p:grpSpPr>
        <a:xfrm>
          <a:off x="0" y="0"/>
          <a:ext cx="0" cy="0"/>
          <a:chOff x="0" y="0"/>
          <a:chExt cx="0" cy="0"/>
        </a:xfrm>
      </p:grpSpPr>
      <p:sp>
        <p:nvSpPr>
          <p:cNvPr id="745" name="Google Shape;745;p18"/>
          <p:cNvSpPr/>
          <p:nvPr/>
        </p:nvSpPr>
        <p:spPr>
          <a:xfrm>
            <a:off x="0" y="0"/>
            <a:ext cx="146304" cy="5143500"/>
          </a:xfrm>
          <a:prstGeom prst="rect">
            <a:avLst/>
          </a:prstGeom>
          <a:solidFill>
            <a:srgbClr val="E8A020"/>
          </a:solidFill>
          <a:ln w="9525" cap="flat" cmpd="sng">
            <a:solidFill>
              <a:srgbClr val="E8A02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18"/>
          <p:cNvSpPr/>
          <p:nvPr/>
        </p:nvSpPr>
        <p:spPr>
          <a:xfrm>
            <a:off x="0" y="4586150"/>
            <a:ext cx="9144000" cy="557400"/>
          </a:xfrm>
          <a:prstGeom prst="rect">
            <a:avLst/>
          </a:prstGeom>
          <a:solidFill>
            <a:srgbClr val="1A3F7A"/>
          </a:solidFill>
          <a:ln w="9525" cap="flat" cmpd="sng">
            <a:solidFill>
              <a:srgbClr val="1A3F7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18"/>
          <p:cNvSpPr/>
          <p:nvPr/>
        </p:nvSpPr>
        <p:spPr>
          <a:xfrm>
            <a:off x="457200" y="640080"/>
            <a:ext cx="6400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5200"/>
              <a:buFont typeface="Georgia"/>
              <a:buNone/>
            </a:pPr>
            <a:r>
              <a:rPr lang="en-US" sz="5200" b="1" i="0" u="none" strike="noStrike" cap="none">
                <a:solidFill>
                  <a:schemeClr val="lt1"/>
                </a:solidFill>
                <a:latin typeface="Georgia"/>
                <a:ea typeface="Georgia"/>
                <a:cs typeface="Georgia"/>
                <a:sym typeface="Georgia"/>
              </a:rPr>
              <a:t>Thank You</a:t>
            </a:r>
            <a:endParaRPr sz="5200" b="0" i="0" u="none" strike="noStrike" cap="none">
              <a:solidFill>
                <a:schemeClr val="lt1"/>
              </a:solidFill>
              <a:latin typeface="Calibri"/>
              <a:ea typeface="Calibri"/>
              <a:cs typeface="Calibri"/>
              <a:sym typeface="Calibri"/>
            </a:endParaRPr>
          </a:p>
        </p:txBody>
      </p:sp>
      <p:sp>
        <p:nvSpPr>
          <p:cNvPr id="748" name="Google Shape;748;p18"/>
          <p:cNvSpPr/>
          <p:nvPr/>
        </p:nvSpPr>
        <p:spPr>
          <a:xfrm>
            <a:off x="457200" y="1417320"/>
            <a:ext cx="6400800" cy="6400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8A020"/>
              </a:buClr>
              <a:buSzPts val="3600"/>
              <a:buFont typeface="Georgia"/>
              <a:buNone/>
            </a:pPr>
            <a:r>
              <a:rPr lang="en-US" sz="3600" b="0" i="0" u="none" strike="noStrike" cap="none">
                <a:solidFill>
                  <a:srgbClr val="E8A020"/>
                </a:solidFill>
                <a:latin typeface="Georgia"/>
                <a:ea typeface="Georgia"/>
                <a:cs typeface="Georgia"/>
                <a:sym typeface="Georgia"/>
              </a:rPr>
              <a:t>Questions?</a:t>
            </a:r>
            <a:endParaRPr sz="3600" b="0" i="0" u="none" strike="noStrike" cap="none">
              <a:solidFill>
                <a:schemeClr val="dk1"/>
              </a:solidFill>
              <a:latin typeface="Calibri"/>
              <a:ea typeface="Calibri"/>
              <a:cs typeface="Calibri"/>
              <a:sym typeface="Calibri"/>
            </a:endParaRPr>
          </a:p>
        </p:txBody>
      </p:sp>
      <p:sp>
        <p:nvSpPr>
          <p:cNvPr id="749" name="Google Shape;749;p18"/>
          <p:cNvSpPr/>
          <p:nvPr/>
        </p:nvSpPr>
        <p:spPr>
          <a:xfrm>
            <a:off x="365760" y="2487168"/>
            <a:ext cx="1938600" cy="1170300"/>
          </a:xfrm>
          <a:prstGeom prst="rect">
            <a:avLst/>
          </a:prstGeom>
          <a:solidFill>
            <a:srgbClr val="1A3F7A"/>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18"/>
          <p:cNvSpPr/>
          <p:nvPr/>
        </p:nvSpPr>
        <p:spPr>
          <a:xfrm>
            <a:off x="365760" y="2542032"/>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r>
              <a:rPr lang="en-US" sz="3500" b="1" i="0" u="none" strike="noStrike" cap="none">
                <a:solidFill>
                  <a:srgbClr val="E8A020"/>
                </a:solidFill>
                <a:latin typeface="Georgia"/>
                <a:ea typeface="Georgia"/>
                <a:cs typeface="Georgia"/>
                <a:sym typeface="Georgia"/>
              </a:rPr>
              <a:t>78</a:t>
            </a:r>
            <a:endParaRPr sz="3500" b="0" i="0" u="none" strike="noStrike" cap="none">
              <a:solidFill>
                <a:schemeClr val="dk1"/>
              </a:solidFill>
              <a:latin typeface="Calibri"/>
              <a:ea typeface="Calibri"/>
              <a:cs typeface="Calibri"/>
              <a:sym typeface="Calibri"/>
            </a:endParaRPr>
          </a:p>
        </p:txBody>
      </p:sp>
      <p:sp>
        <p:nvSpPr>
          <p:cNvPr id="751" name="Google Shape;751;p18"/>
          <p:cNvSpPr/>
          <p:nvPr/>
        </p:nvSpPr>
        <p:spPr>
          <a:xfrm>
            <a:off x="365760" y="3200400"/>
            <a:ext cx="1938600" cy="384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CBD5E1"/>
              </a:buClr>
              <a:buSzPts val="1000"/>
              <a:buFont typeface="Calibri"/>
              <a:buNone/>
            </a:pPr>
            <a:r>
              <a:rPr lang="en-US" sz="1600" b="0" i="0" u="none" strike="noStrike" cap="none">
                <a:solidFill>
                  <a:srgbClr val="F1F5F9"/>
                </a:solidFill>
                <a:latin typeface="Calibri"/>
                <a:ea typeface="Calibri"/>
                <a:cs typeface="Calibri"/>
                <a:sym typeface="Calibri"/>
              </a:rPr>
              <a:t>VIX Spike Events</a:t>
            </a:r>
            <a:endParaRPr sz="1600" b="0" i="0" u="none" strike="noStrike" cap="none">
              <a:solidFill>
                <a:srgbClr val="F1F5F9"/>
              </a:solidFill>
              <a:latin typeface="Calibri"/>
              <a:ea typeface="Calibri"/>
              <a:cs typeface="Calibri"/>
              <a:sym typeface="Calibri"/>
            </a:endParaRPr>
          </a:p>
        </p:txBody>
      </p:sp>
      <p:sp>
        <p:nvSpPr>
          <p:cNvPr id="752" name="Google Shape;752;p18"/>
          <p:cNvSpPr/>
          <p:nvPr/>
        </p:nvSpPr>
        <p:spPr>
          <a:xfrm>
            <a:off x="2514600" y="2487168"/>
            <a:ext cx="1938600" cy="1170300"/>
          </a:xfrm>
          <a:prstGeom prst="rect">
            <a:avLst/>
          </a:prstGeom>
          <a:solidFill>
            <a:srgbClr val="1A3F7A"/>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18"/>
          <p:cNvSpPr/>
          <p:nvPr/>
        </p:nvSpPr>
        <p:spPr>
          <a:xfrm>
            <a:off x="2514600" y="2542032"/>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r>
              <a:rPr lang="en-US" sz="3500" b="1" i="0" u="none" strike="noStrike" cap="none">
                <a:solidFill>
                  <a:srgbClr val="E8A020"/>
                </a:solidFill>
                <a:latin typeface="Georgia"/>
                <a:ea typeface="Georgia"/>
                <a:cs typeface="Georgia"/>
                <a:sym typeface="Georgia"/>
              </a:rPr>
              <a:t>54%</a:t>
            </a:r>
            <a:endParaRPr sz="3500" b="0" i="0" u="none" strike="noStrike" cap="none">
              <a:solidFill>
                <a:schemeClr val="dk1"/>
              </a:solidFill>
              <a:latin typeface="Calibri"/>
              <a:ea typeface="Calibri"/>
              <a:cs typeface="Calibri"/>
              <a:sym typeface="Calibri"/>
            </a:endParaRPr>
          </a:p>
        </p:txBody>
      </p:sp>
      <p:sp>
        <p:nvSpPr>
          <p:cNvPr id="754" name="Google Shape;754;p18"/>
          <p:cNvSpPr/>
          <p:nvPr/>
        </p:nvSpPr>
        <p:spPr>
          <a:xfrm>
            <a:off x="2514600" y="3200400"/>
            <a:ext cx="1938600" cy="384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CBD5E1"/>
              </a:buClr>
              <a:buSzPts val="1000"/>
              <a:buFont typeface="Calibri"/>
              <a:buNone/>
            </a:pPr>
            <a:r>
              <a:rPr lang="en-US" sz="1600" b="0" i="0" u="none" strike="noStrike" cap="none">
                <a:solidFill>
                  <a:srgbClr val="F1F5F9"/>
                </a:solidFill>
                <a:latin typeface="Calibri"/>
                <a:ea typeface="Calibri"/>
                <a:cs typeface="Calibri"/>
                <a:sym typeface="Calibri"/>
              </a:rPr>
              <a:t>Recovery Rate</a:t>
            </a:r>
            <a:endParaRPr sz="1600" b="0" i="0" u="none" strike="noStrike" cap="none">
              <a:solidFill>
                <a:srgbClr val="F1F5F9"/>
              </a:solidFill>
              <a:latin typeface="Calibri"/>
              <a:ea typeface="Calibri"/>
              <a:cs typeface="Calibri"/>
              <a:sym typeface="Calibri"/>
            </a:endParaRPr>
          </a:p>
        </p:txBody>
      </p:sp>
      <p:sp>
        <p:nvSpPr>
          <p:cNvPr id="755" name="Google Shape;755;p18"/>
          <p:cNvSpPr/>
          <p:nvPr/>
        </p:nvSpPr>
        <p:spPr>
          <a:xfrm>
            <a:off x="4663440" y="2487168"/>
            <a:ext cx="1938600" cy="1170300"/>
          </a:xfrm>
          <a:prstGeom prst="rect">
            <a:avLst/>
          </a:prstGeom>
          <a:solidFill>
            <a:srgbClr val="1A3F7A"/>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18"/>
          <p:cNvSpPr/>
          <p:nvPr/>
        </p:nvSpPr>
        <p:spPr>
          <a:xfrm>
            <a:off x="4663440" y="2542032"/>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r>
              <a:rPr lang="en-US" sz="3500" b="1" i="0" u="none" strike="noStrike" cap="none">
                <a:solidFill>
                  <a:srgbClr val="E8A020"/>
                </a:solidFill>
                <a:latin typeface="Georgia"/>
                <a:ea typeface="Georgia"/>
                <a:cs typeface="Georgia"/>
                <a:sym typeface="Georgia"/>
              </a:rPr>
              <a:t>5.15%</a:t>
            </a:r>
            <a:endParaRPr sz="3500" b="0" i="0" u="none" strike="noStrike" cap="none">
              <a:solidFill>
                <a:schemeClr val="dk1"/>
              </a:solidFill>
              <a:latin typeface="Calibri"/>
              <a:ea typeface="Calibri"/>
              <a:cs typeface="Calibri"/>
              <a:sym typeface="Calibri"/>
            </a:endParaRPr>
          </a:p>
        </p:txBody>
      </p:sp>
      <p:sp>
        <p:nvSpPr>
          <p:cNvPr id="757" name="Google Shape;757;p18"/>
          <p:cNvSpPr/>
          <p:nvPr/>
        </p:nvSpPr>
        <p:spPr>
          <a:xfrm>
            <a:off x="4663440" y="3200400"/>
            <a:ext cx="1938600" cy="384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CBD5E1"/>
              </a:buClr>
              <a:buSzPts val="1000"/>
              <a:buFont typeface="Calibri"/>
              <a:buNone/>
            </a:pPr>
            <a:r>
              <a:rPr lang="en-US" sz="1600" b="0" i="0" u="none" strike="noStrike" cap="none">
                <a:solidFill>
                  <a:srgbClr val="F1F5F9"/>
                </a:solidFill>
                <a:latin typeface="Calibri"/>
                <a:ea typeface="Calibri"/>
                <a:cs typeface="Calibri"/>
                <a:sym typeface="Calibri"/>
              </a:rPr>
              <a:t>Median Return</a:t>
            </a:r>
            <a:endParaRPr sz="1600" b="0" i="0" u="none" strike="noStrike" cap="none">
              <a:solidFill>
                <a:srgbClr val="F1F5F9"/>
              </a:solidFill>
              <a:latin typeface="Calibri"/>
              <a:ea typeface="Calibri"/>
              <a:cs typeface="Calibri"/>
              <a:sym typeface="Calibri"/>
            </a:endParaRPr>
          </a:p>
        </p:txBody>
      </p:sp>
      <p:sp>
        <p:nvSpPr>
          <p:cNvPr id="758" name="Google Shape;758;p18"/>
          <p:cNvSpPr/>
          <p:nvPr/>
        </p:nvSpPr>
        <p:spPr>
          <a:xfrm>
            <a:off x="6812280" y="2487168"/>
            <a:ext cx="1938600" cy="1170300"/>
          </a:xfrm>
          <a:prstGeom prst="rect">
            <a:avLst/>
          </a:prstGeom>
          <a:solidFill>
            <a:srgbClr val="1A3F7A"/>
          </a:solidFill>
          <a:ln w="9525"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18"/>
          <p:cNvSpPr/>
          <p:nvPr/>
        </p:nvSpPr>
        <p:spPr>
          <a:xfrm>
            <a:off x="6812280" y="2453838"/>
            <a:ext cx="1938600" cy="621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E8A020"/>
              </a:buClr>
              <a:buSzPts val="2200"/>
              <a:buFont typeface="Georgia"/>
              <a:buNone/>
            </a:pPr>
            <a:r>
              <a:rPr lang="en-US" sz="2500" b="1" i="0" u="none" strike="noStrike" cap="none">
                <a:solidFill>
                  <a:srgbClr val="E8A020"/>
                </a:solidFill>
                <a:latin typeface="Georgia"/>
                <a:ea typeface="Georgia"/>
                <a:cs typeface="Georgia"/>
                <a:sym typeface="Georgia"/>
              </a:rPr>
              <a:t>0.40–0.75</a:t>
            </a:r>
            <a:endParaRPr sz="2500" b="0" i="0" u="none" strike="noStrike" cap="none">
              <a:solidFill>
                <a:schemeClr val="dk1"/>
              </a:solidFill>
              <a:latin typeface="Calibri"/>
              <a:ea typeface="Calibri"/>
              <a:cs typeface="Calibri"/>
              <a:sym typeface="Calibri"/>
            </a:endParaRPr>
          </a:p>
        </p:txBody>
      </p:sp>
      <p:sp>
        <p:nvSpPr>
          <p:cNvPr id="760" name="Google Shape;760;p18"/>
          <p:cNvSpPr/>
          <p:nvPr/>
        </p:nvSpPr>
        <p:spPr>
          <a:xfrm>
            <a:off x="6812280" y="3200400"/>
            <a:ext cx="1938600" cy="384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CBD5E1"/>
              </a:buClr>
              <a:buSzPts val="1000"/>
              <a:buFont typeface="Calibri"/>
              <a:buNone/>
            </a:pPr>
            <a:r>
              <a:rPr lang="en-US" sz="1600" b="0" i="0" u="none" strike="noStrike" cap="none">
                <a:solidFill>
                  <a:srgbClr val="F1F5F9"/>
                </a:solidFill>
                <a:latin typeface="Calibri"/>
                <a:ea typeface="Calibri"/>
                <a:cs typeface="Calibri"/>
                <a:sym typeface="Calibri"/>
              </a:rPr>
              <a:t>Sharpe Ratio</a:t>
            </a:r>
            <a:endParaRPr sz="1600" b="0" i="0" u="none" strike="noStrike" cap="none">
              <a:solidFill>
                <a:srgbClr val="F1F5F9"/>
              </a:solidFill>
              <a:latin typeface="Calibri"/>
              <a:ea typeface="Calibri"/>
              <a:cs typeface="Calibri"/>
              <a:sym typeface="Calibri"/>
            </a:endParaRPr>
          </a:p>
        </p:txBody>
      </p:sp>
      <p:pic>
        <p:nvPicPr>
          <p:cNvPr id="761" name="Google Shape;761;p18" descr="preencoded.png"/>
          <p:cNvPicPr preferRelativeResize="0"/>
          <p:nvPr/>
        </p:nvPicPr>
        <p:blipFill rotWithShape="1">
          <a:blip r:embed="rId3">
            <a:alphaModFix/>
          </a:blip>
          <a:srcRect/>
          <a:stretch/>
        </p:blipFill>
        <p:spPr>
          <a:xfrm>
            <a:off x="7589520" y="640080"/>
            <a:ext cx="1051560" cy="105156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3108</Words>
  <Application>Microsoft Office PowerPoint</Application>
  <PresentationFormat>On-screen Show (16:9)</PresentationFormat>
  <Paragraphs>415</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Georgia</vt:lpstr>
      <vt:lpstr>Courier New</vt:lpstr>
      <vt:lpstr>Josefin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Saami Ali</cp:lastModifiedBy>
  <cp:revision>1</cp:revision>
  <dcterms:created xsi:type="dcterms:W3CDTF">2026-04-21T18:39:03Z</dcterms:created>
  <dcterms:modified xsi:type="dcterms:W3CDTF">2026-06-08T16:48:17Z</dcterms:modified>
</cp:coreProperties>
</file>